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2.5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</p:sldIdLst>
  <p:sldSz cx="9144000" cy="5143500" type="screen16x9"/>
  <p:notesSz cx="9144000" cy="5143500"/>
  <p:custDataLst>
    <p:tags r:id="rId265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DA990-1964-440D-A091-930CA7DCB10F}" v="1" dt="2025-02-10T05:53:38.239"/>
  </p1510:revLst>
</p1510:revInfo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" Type="http://schemas.openxmlformats.org/officeDocument/2006/relationships/slide" Target="slides/slide10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" Type="http://schemas.openxmlformats.org/officeDocument/2006/relationships/slide" Target="slides/slide11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" Type="http://schemas.openxmlformats.org/officeDocument/2006/relationships/slide" Target="slides/slide12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" Type="http://schemas.openxmlformats.org/officeDocument/2006/relationships/slide" Target="slides/slide13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" Type="http://schemas.openxmlformats.org/officeDocument/2006/relationships/slide" Target="slides/slide14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" Type="http://schemas.openxmlformats.org/officeDocument/2006/relationships/slide" Target="slides/slide15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" Type="http://schemas.openxmlformats.org/officeDocument/2006/relationships/slide" Target="slides/slide16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" Type="http://schemas.openxmlformats.org/officeDocument/2006/relationships/slide" Target="slides/slide17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7" Type="http://schemas.openxmlformats.org/officeDocument/2006/relationships/slide" Target="slides/slide186.xml" /><Relationship Id="rId188" Type="http://schemas.openxmlformats.org/officeDocument/2006/relationships/slide" Target="slides/slide187.xml" /><Relationship Id="rId189" Type="http://schemas.openxmlformats.org/officeDocument/2006/relationships/slide" Target="slides/slide188.xml" /><Relationship Id="rId19" Type="http://schemas.openxmlformats.org/officeDocument/2006/relationships/slide" Target="slides/slide18.xml" /><Relationship Id="rId190" Type="http://schemas.openxmlformats.org/officeDocument/2006/relationships/slide" Target="slides/slide189.xml" /><Relationship Id="rId191" Type="http://schemas.openxmlformats.org/officeDocument/2006/relationships/slide" Target="slides/slide190.xml" /><Relationship Id="rId192" Type="http://schemas.openxmlformats.org/officeDocument/2006/relationships/slide" Target="slides/slide191.xml" /><Relationship Id="rId193" Type="http://schemas.openxmlformats.org/officeDocument/2006/relationships/slide" Target="slides/slide192.xml" /><Relationship Id="rId194" Type="http://schemas.openxmlformats.org/officeDocument/2006/relationships/slide" Target="slides/slide193.xml" /><Relationship Id="rId195" Type="http://schemas.openxmlformats.org/officeDocument/2006/relationships/slide" Target="slides/slide194.xml" /><Relationship Id="rId196" Type="http://schemas.openxmlformats.org/officeDocument/2006/relationships/slide" Target="slides/slide195.xml" /><Relationship Id="rId197" Type="http://schemas.openxmlformats.org/officeDocument/2006/relationships/slide" Target="slides/slide196.xml" /><Relationship Id="rId198" Type="http://schemas.openxmlformats.org/officeDocument/2006/relationships/slide" Target="slides/slide197.xml" /><Relationship Id="rId199" Type="http://schemas.openxmlformats.org/officeDocument/2006/relationships/slide" Target="slides/slide198.xml" /><Relationship Id="rId2" Type="http://schemas.openxmlformats.org/officeDocument/2006/relationships/slide" Target="slides/slide1.xml" /><Relationship Id="rId20" Type="http://schemas.openxmlformats.org/officeDocument/2006/relationships/slide" Target="slides/slide19.xml" /><Relationship Id="rId200" Type="http://schemas.openxmlformats.org/officeDocument/2006/relationships/slide" Target="slides/slide199.xml" /><Relationship Id="rId201" Type="http://schemas.openxmlformats.org/officeDocument/2006/relationships/slide" Target="slides/slide200.xml" /><Relationship Id="rId202" Type="http://schemas.openxmlformats.org/officeDocument/2006/relationships/slide" Target="slides/slide201.xml" /><Relationship Id="rId203" Type="http://schemas.openxmlformats.org/officeDocument/2006/relationships/slide" Target="slides/slide202.xml" /><Relationship Id="rId204" Type="http://schemas.openxmlformats.org/officeDocument/2006/relationships/slide" Target="slides/slide203.xml" /><Relationship Id="rId205" Type="http://schemas.openxmlformats.org/officeDocument/2006/relationships/slide" Target="slides/slide204.xml" /><Relationship Id="rId206" Type="http://schemas.openxmlformats.org/officeDocument/2006/relationships/slide" Target="slides/slide205.xml" /><Relationship Id="rId207" Type="http://schemas.openxmlformats.org/officeDocument/2006/relationships/slide" Target="slides/slide206.xml" /><Relationship Id="rId208" Type="http://schemas.openxmlformats.org/officeDocument/2006/relationships/slide" Target="slides/slide207.xml" /><Relationship Id="rId209" Type="http://schemas.openxmlformats.org/officeDocument/2006/relationships/slide" Target="slides/slide208.xml" /><Relationship Id="rId21" Type="http://schemas.openxmlformats.org/officeDocument/2006/relationships/slide" Target="slides/slide20.xml" /><Relationship Id="rId210" Type="http://schemas.openxmlformats.org/officeDocument/2006/relationships/slide" Target="slides/slide209.xml" /><Relationship Id="rId211" Type="http://schemas.openxmlformats.org/officeDocument/2006/relationships/slide" Target="slides/slide210.xml" /><Relationship Id="rId212" Type="http://schemas.openxmlformats.org/officeDocument/2006/relationships/slide" Target="slides/slide211.xml" /><Relationship Id="rId213" Type="http://schemas.openxmlformats.org/officeDocument/2006/relationships/slide" Target="slides/slide212.xml" /><Relationship Id="rId214" Type="http://schemas.openxmlformats.org/officeDocument/2006/relationships/slide" Target="slides/slide213.xml" /><Relationship Id="rId215" Type="http://schemas.openxmlformats.org/officeDocument/2006/relationships/slide" Target="slides/slide214.xml" /><Relationship Id="rId216" Type="http://schemas.openxmlformats.org/officeDocument/2006/relationships/slide" Target="slides/slide215.xml" /><Relationship Id="rId217" Type="http://schemas.openxmlformats.org/officeDocument/2006/relationships/slide" Target="slides/slide216.xml" /><Relationship Id="rId218" Type="http://schemas.openxmlformats.org/officeDocument/2006/relationships/slide" Target="slides/slide217.xml" /><Relationship Id="rId219" Type="http://schemas.openxmlformats.org/officeDocument/2006/relationships/slide" Target="slides/slide218.xml" /><Relationship Id="rId22" Type="http://schemas.openxmlformats.org/officeDocument/2006/relationships/slide" Target="slides/slide21.xml" /><Relationship Id="rId220" Type="http://schemas.openxmlformats.org/officeDocument/2006/relationships/slide" Target="slides/slide219.xml" /><Relationship Id="rId221" Type="http://schemas.openxmlformats.org/officeDocument/2006/relationships/slide" Target="slides/slide220.xml" /><Relationship Id="rId222" Type="http://schemas.openxmlformats.org/officeDocument/2006/relationships/slide" Target="slides/slide221.xml" /><Relationship Id="rId223" Type="http://schemas.openxmlformats.org/officeDocument/2006/relationships/slide" Target="slides/slide222.xml" /><Relationship Id="rId224" Type="http://schemas.openxmlformats.org/officeDocument/2006/relationships/slide" Target="slides/slide223.xml" /><Relationship Id="rId225" Type="http://schemas.openxmlformats.org/officeDocument/2006/relationships/slide" Target="slides/slide224.xml" /><Relationship Id="rId226" Type="http://schemas.openxmlformats.org/officeDocument/2006/relationships/slide" Target="slides/slide225.xml" /><Relationship Id="rId227" Type="http://schemas.openxmlformats.org/officeDocument/2006/relationships/slide" Target="slides/slide226.xml" /><Relationship Id="rId228" Type="http://schemas.openxmlformats.org/officeDocument/2006/relationships/slide" Target="slides/slide227.xml" /><Relationship Id="rId229" Type="http://schemas.openxmlformats.org/officeDocument/2006/relationships/slide" Target="slides/slide228.xml" /><Relationship Id="rId23" Type="http://schemas.openxmlformats.org/officeDocument/2006/relationships/slide" Target="slides/slide22.xml" /><Relationship Id="rId230" Type="http://schemas.openxmlformats.org/officeDocument/2006/relationships/slide" Target="slides/slide229.xml" /><Relationship Id="rId231" Type="http://schemas.openxmlformats.org/officeDocument/2006/relationships/slide" Target="slides/slide230.xml" /><Relationship Id="rId232" Type="http://schemas.openxmlformats.org/officeDocument/2006/relationships/slide" Target="slides/slide231.xml" /><Relationship Id="rId233" Type="http://schemas.openxmlformats.org/officeDocument/2006/relationships/slide" Target="slides/slide232.xml" /><Relationship Id="rId234" Type="http://schemas.openxmlformats.org/officeDocument/2006/relationships/slide" Target="slides/slide233.xml" /><Relationship Id="rId235" Type="http://schemas.openxmlformats.org/officeDocument/2006/relationships/slide" Target="slides/slide234.xml" /><Relationship Id="rId236" Type="http://schemas.openxmlformats.org/officeDocument/2006/relationships/slide" Target="slides/slide235.xml" /><Relationship Id="rId237" Type="http://schemas.openxmlformats.org/officeDocument/2006/relationships/slide" Target="slides/slide236.xml" /><Relationship Id="rId238" Type="http://schemas.openxmlformats.org/officeDocument/2006/relationships/slide" Target="slides/slide237.xml" /><Relationship Id="rId239" Type="http://schemas.openxmlformats.org/officeDocument/2006/relationships/slide" Target="slides/slide238.xml" /><Relationship Id="rId24" Type="http://schemas.openxmlformats.org/officeDocument/2006/relationships/slide" Target="slides/slide23.xml" /><Relationship Id="rId240" Type="http://schemas.openxmlformats.org/officeDocument/2006/relationships/slide" Target="slides/slide239.xml" /><Relationship Id="rId241" Type="http://schemas.openxmlformats.org/officeDocument/2006/relationships/slide" Target="slides/slide240.xml" /><Relationship Id="rId242" Type="http://schemas.openxmlformats.org/officeDocument/2006/relationships/slide" Target="slides/slide241.xml" /><Relationship Id="rId243" Type="http://schemas.openxmlformats.org/officeDocument/2006/relationships/slide" Target="slides/slide242.xml" /><Relationship Id="rId244" Type="http://schemas.openxmlformats.org/officeDocument/2006/relationships/slide" Target="slides/slide243.xml" /><Relationship Id="rId245" Type="http://schemas.openxmlformats.org/officeDocument/2006/relationships/slide" Target="slides/slide244.xml" /><Relationship Id="rId246" Type="http://schemas.openxmlformats.org/officeDocument/2006/relationships/slide" Target="slides/slide245.xml" /><Relationship Id="rId247" Type="http://schemas.openxmlformats.org/officeDocument/2006/relationships/slide" Target="slides/slide246.xml" /><Relationship Id="rId248" Type="http://schemas.openxmlformats.org/officeDocument/2006/relationships/slide" Target="slides/slide247.xml" /><Relationship Id="rId249" Type="http://schemas.openxmlformats.org/officeDocument/2006/relationships/slide" Target="slides/slide248.xml" /><Relationship Id="rId25" Type="http://schemas.openxmlformats.org/officeDocument/2006/relationships/slide" Target="slides/slide24.xml" /><Relationship Id="rId250" Type="http://schemas.openxmlformats.org/officeDocument/2006/relationships/slide" Target="slides/slide249.xml" /><Relationship Id="rId251" Type="http://schemas.openxmlformats.org/officeDocument/2006/relationships/slide" Target="slides/slide250.xml" /><Relationship Id="rId252" Type="http://schemas.openxmlformats.org/officeDocument/2006/relationships/slide" Target="slides/slide251.xml" /><Relationship Id="rId253" Type="http://schemas.openxmlformats.org/officeDocument/2006/relationships/slide" Target="slides/slide252.xml" /><Relationship Id="rId254" Type="http://schemas.openxmlformats.org/officeDocument/2006/relationships/slide" Target="slides/slide253.xml" /><Relationship Id="rId255" Type="http://schemas.openxmlformats.org/officeDocument/2006/relationships/slide" Target="slides/slide254.xml" /><Relationship Id="rId256" Type="http://schemas.openxmlformats.org/officeDocument/2006/relationships/slide" Target="slides/slide255.xml" /><Relationship Id="rId257" Type="http://schemas.openxmlformats.org/officeDocument/2006/relationships/slide" Target="slides/slide256.xml" /><Relationship Id="rId258" Type="http://schemas.openxmlformats.org/officeDocument/2006/relationships/slide" Target="slides/slide257.xml" /><Relationship Id="rId259" Type="http://schemas.openxmlformats.org/officeDocument/2006/relationships/slide" Target="slides/slide258.xml" /><Relationship Id="rId26" Type="http://schemas.openxmlformats.org/officeDocument/2006/relationships/slide" Target="slides/slide25.xml" /><Relationship Id="rId260" Type="http://schemas.openxmlformats.org/officeDocument/2006/relationships/slide" Target="slides/slide259.xml" /><Relationship Id="rId261" Type="http://schemas.openxmlformats.org/officeDocument/2006/relationships/slide" Target="slides/slide260.xml" /><Relationship Id="rId262" Type="http://schemas.openxmlformats.org/officeDocument/2006/relationships/slide" Target="slides/slide261.xml" /><Relationship Id="rId263" Type="http://schemas.openxmlformats.org/officeDocument/2006/relationships/slide" Target="slides/slide262.xml" /><Relationship Id="rId264" Type="http://schemas.openxmlformats.org/officeDocument/2006/relationships/slide" Target="slides/slide263.xml" /><Relationship Id="rId265" Type="http://schemas.openxmlformats.org/officeDocument/2006/relationships/tags" Target="tags/tag1.xml" /><Relationship Id="rId266" Type="http://schemas.openxmlformats.org/officeDocument/2006/relationships/presProps" Target="presProps.xml" /><Relationship Id="rId267" Type="http://schemas.openxmlformats.org/officeDocument/2006/relationships/viewProps" Target="viewProps.xml" /><Relationship Id="rId268" Type="http://schemas.openxmlformats.org/officeDocument/2006/relationships/theme" Target="theme/theme1.xml" /><Relationship Id="rId269" Type="http://schemas.microsoft.com/office/2016/11/relationships/changesInfo" Target="changesInfos/changesInfo1.xml" /><Relationship Id="rId27" Type="http://schemas.openxmlformats.org/officeDocument/2006/relationships/slide" Target="slides/slide26.xml" /><Relationship Id="rId270" Type="http://schemas.microsoft.com/office/2015/10/relationships/revisionInfo" Target="revisionInfo.xml" /><Relationship Id="rId271" Type="http://schemas.openxmlformats.org/officeDocument/2006/relationships/tableStyles" Target="tableStyles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" Type="http://schemas.openxmlformats.org/officeDocument/2006/relationships/slide" Target="slides/slide2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" Type="http://schemas.openxmlformats.org/officeDocument/2006/relationships/slide" Target="slides/slide3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" Type="http://schemas.openxmlformats.org/officeDocument/2006/relationships/slide" Target="slides/slide4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" Type="http://schemas.openxmlformats.org/officeDocument/2006/relationships/slide" Target="slides/slide5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" Type="http://schemas.openxmlformats.org/officeDocument/2006/relationships/slide" Target="slides/slide6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" Type="http://schemas.openxmlformats.org/officeDocument/2006/relationships/slide" Target="slides/slide7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" Type="http://schemas.openxmlformats.org/officeDocument/2006/relationships/slide" Target="slides/slide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ethamuki Thangaraj" userId="cf20146c2bc29d20" providerId="LiveId" clId="{AF4DA990-1964-440D-A091-930CA7DCB10F}"/>
    <pc:docChg chg="modSld">
      <pc:chgData name="suvethamuki Thangaraj" userId="cf20146c2bc29d20" providerId="LiveId" clId="{AF4DA990-1964-440D-A091-930CA7DCB10F}" dt="2025-02-10T05:53:57.054" v="3" actId="14100"/>
      <pc:docMkLst>
        <pc:docMk/>
      </pc:docMkLst>
      <pc:sldChg chg="addSp modSp mod">
        <pc:chgData name="suvethamuki Thangaraj" userId="cf20146c2bc29d20" providerId="LiveId" clId="{AF4DA990-1964-440D-A091-930CA7DCB10F}" dt="2025-02-10T05:53:57.054" v="3" actId="14100"/>
        <pc:sldMkLst>
          <pc:docMk/>
          <pc:sldMk cId="0" sldId="256"/>
        </pc:sldMkLst>
        <pc:spChg chg="add mod">
          <ac:chgData name="suvethamuki Thangaraj" userId="cf20146c2bc29d20" providerId="LiveId" clId="{AF4DA990-1964-440D-A091-930CA7DCB10F}" dt="2025-02-10T05:53:57.054" v="3" actId="14100"/>
          <ac:spMkLst>
            <pc:docMk/>
            <pc:sldMk cId="0" sldId="256"/>
            <ac:spMk id="11" creationId="{0251CA68-1EA2-41B6-A951-B7546D02F130}"/>
          </ac:spMkLst>
        </pc:spChg>
      </pc:sldChg>
    </pc:docChg>
  </pc:docChgLst>
</pc:chgInfo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67785"/>
            <a:ext cx="83745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2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2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94713"/>
            <a:ext cx="8374549" cy="600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333634"/>
            <a:ext cx="8366125" cy="3514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tutorial" TargetMode="External" /><Relationship Id="rId3" Type="http://schemas.openxmlformats.org/officeDocument/2006/relationships/hyperlink" Target="https://www.javatpoint.com/object-and-class-in-java" TargetMode="Externa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method-overloading-in-java" TargetMode="Externa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jpe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oops-concepts" TargetMode="External" /><Relationship Id="rId3" Type="http://schemas.openxmlformats.org/officeDocument/2006/relationships/hyperlink" Target="https://www.javatpoint.com/object-and-class-in-java" TargetMode="Externa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jpe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object-and-class-in-java" TargetMode="External" /><Relationship Id="rId3" Type="http://schemas.openxmlformats.org/officeDocument/2006/relationships/hyperlink" Target="https://www.javatpoint.com/java-programs" TargetMode="Externa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e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jpe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jpeg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inheritance-in-java" TargetMode="External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8.jpeg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tutorial" TargetMode="External" /></Relationships>
</file>

<file path=ppt/slides/_rels/slide7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constructor" TargetMode="External" /></Relationships>
</file>

<file path=ppt/slides/_rels/slide7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jpeg" /></Relationships>
</file>

<file path=ppt/slides/_rels/slide7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boolean" TargetMode="External" /><Relationship Id="rId3" Type="http://schemas.openxmlformats.org/officeDocument/2006/relationships/hyperlink" Target="https://www.javatpoint.com/post/java-character" TargetMode="External" /><Relationship Id="rId4" Type="http://schemas.openxmlformats.org/officeDocument/2006/relationships/hyperlink" Target="https://www.javatpoint.com/java-byte" TargetMode="External" /><Relationship Id="rId5" Type="http://schemas.openxmlformats.org/officeDocument/2006/relationships/hyperlink" Target="https://www.javatpoint.com/java-short" TargetMode="External" /><Relationship Id="rId6" Type="http://schemas.openxmlformats.org/officeDocument/2006/relationships/hyperlink" Target="https://www.javatpoint.com/java-integer" TargetMode="External" /><Relationship Id="rId7" Type="http://schemas.openxmlformats.org/officeDocument/2006/relationships/hyperlink" Target="https://www.javatpoint.com/java-long" TargetMode="External" /><Relationship Id="rId8" Type="http://schemas.openxmlformats.org/officeDocument/2006/relationships/hyperlink" Target="https://www.javatpoint.com/java-float" TargetMode="External" /><Relationship Id="rId9" Type="http://schemas.openxmlformats.org/officeDocument/2006/relationships/hyperlink" Target="https://www.javatpoint.com/java-double" TargetMode="External" /></Relationships>
</file>

<file path=ppt/slides/_rels/slide7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jpeg" /></Relationships>
</file>

<file path=ppt/slides/_rels/slide8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tutorial" TargetMode="External" /></Relationships>
</file>

<file path=ppt/slides/_rels/slide9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register-memory" TargetMode="External" /></Relationships>
</file>

<file path=ppt/slides/_rels/slide10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10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constructor" TargetMode="External" /><Relationship Id="rId3" Type="http://schemas.openxmlformats.org/officeDocument/2006/relationships/hyperlink" Target="https://www.javatpoint.com/object-class" TargetMode="External" /></Relationships>
</file>

<file path=ppt/slides/_rels/slide10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10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tutorial" TargetMode="External" /><Relationship Id="rId3" Type="http://schemas.openxmlformats.org/officeDocument/2006/relationships/hyperlink" Target="https://www.javatpoint.com/array-in-java" TargetMode="External" /></Relationships>
</file>

<file path=ppt/slides/_rels/slide1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vm-java-virtual-machine" TargetMode="External" /></Relationships>
</file>

<file path=ppt/slides/_rels/slide1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string-charat" TargetMode="External" /><Relationship Id="rId3" Type="http://schemas.openxmlformats.org/officeDocument/2006/relationships/hyperlink" Target="https://www.javatpoint.com/java-string-length" TargetMode="External" /><Relationship Id="rId4" Type="http://schemas.openxmlformats.org/officeDocument/2006/relationships/hyperlink" Target="https://www.javatpoint.com/java-string-format" TargetMode="External" /><Relationship Id="rId5" Type="http://schemas.openxmlformats.org/officeDocument/2006/relationships/hyperlink" Target="https://www.javatpoint.com/java-string-substring" TargetMode="External" /></Relationships>
</file>

<file path=ppt/slides/_rels/slide1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string-substring" TargetMode="External" /><Relationship Id="rId3" Type="http://schemas.openxmlformats.org/officeDocument/2006/relationships/hyperlink" Target="https://www.javatpoint.com/java-string-contains" TargetMode="External" /><Relationship Id="rId4" Type="http://schemas.openxmlformats.org/officeDocument/2006/relationships/hyperlink" Target="https://www.javatpoint.com/java-string-join" TargetMode="External" /><Relationship Id="rId5" Type="http://schemas.openxmlformats.org/officeDocument/2006/relationships/hyperlink" Target="https://www.javatpoint.com/java-string-equals" TargetMode="External" /><Relationship Id="rId6" Type="http://schemas.openxmlformats.org/officeDocument/2006/relationships/hyperlink" Target="https://www.javatpoint.com/java-string-isempty" TargetMode="External" /><Relationship Id="rId7" Type="http://schemas.openxmlformats.org/officeDocument/2006/relationships/hyperlink" Target="https://www.javatpoint.com/java-string-concat" TargetMode="External" /><Relationship Id="rId8" Type="http://schemas.openxmlformats.org/officeDocument/2006/relationships/hyperlink" Target="https://www.javatpoint.com/java-string-replace" TargetMode="External" /></Relationships>
</file>

<file path=ppt/slides/_rels/slide1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string-replace" TargetMode="External" /><Relationship Id="rId3" Type="http://schemas.openxmlformats.org/officeDocument/2006/relationships/hyperlink" Target="https://www.javatpoint.com/java-string-equalsignorecase" TargetMode="External" /><Relationship Id="rId4" Type="http://schemas.openxmlformats.org/officeDocument/2006/relationships/hyperlink" Target="https://www.javatpoint.com/java-string-split" TargetMode="External" /><Relationship Id="rId5" Type="http://schemas.openxmlformats.org/officeDocument/2006/relationships/hyperlink" Target="https://www.javatpoint.com/java-string-intern" TargetMode="External" /><Relationship Id="rId6" Type="http://schemas.openxmlformats.org/officeDocument/2006/relationships/hyperlink" Target="https://www.javatpoint.com/java-string-indexof" TargetMode="External" /></Relationships>
</file>

<file path=ppt/slides/_rels/slide1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www.javatpoint.com/java-string-indexof" TargetMode="External" /><Relationship Id="rId3" Type="http://schemas.openxmlformats.org/officeDocument/2006/relationships/hyperlink" Target="https://www.javatpoint.com/java-string-tolowercase" TargetMode="External" /><Relationship Id="rId4" Type="http://schemas.openxmlformats.org/officeDocument/2006/relationships/hyperlink" Target="https://www.javatpoint.com/java-string-touppercase" TargetMode="External" /><Relationship Id="rId5" Type="http://schemas.openxmlformats.org/officeDocument/2006/relationships/hyperlink" Target="https://www.javatpoint.com/java-string-trim" TargetMode="External" /><Relationship Id="rId6" Type="http://schemas.openxmlformats.org/officeDocument/2006/relationships/hyperlink" Target="https://www.javatpoint.com/java-string-valueof" TargetMode="External" /></Relationships>
</file>

<file path=ppt/slides/_rels/slide1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jpeg" /></Relationships>
</file>

<file path=ppt/slides/_rels/slide17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jpeg" /></Relationships>
</file>

<file path=ppt/slides/_rels/slide17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variables" TargetMode="External" /></Relationships>
</file>

<file path=ppt/slides/_rels/slide18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javatpoint.com/java-string" TargetMode="External" /></Relationships>
</file>

<file path=ppt/slides/_rels/slide18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6.jpeg" /></Relationships>
</file>

<file path=ppt/slides/_rels/slide19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0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7.jpeg" /></Relationships>
</file>

<file path=ppt/slides/_rels/slide20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8.jpeg" /></Relationships>
</file>

<file path=ppt/slides/_rels/slide2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9.jpeg" /></Relationships>
</file>

<file path=ppt/slides/_rels/slide2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0.jpeg" /></Relationships>
</file>

<file path=ppt/slides/_rels/slide2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1.jpeg" /></Relationships>
</file>

<file path=ppt/slides/_rels/slide2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2.jpeg" /></Relationships>
</file>

<file path=ppt/slides/_rels/slide2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3.png" /></Relationships>
</file>

<file path=ppt/slides/_rels/slide2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4.jpeg" /></Relationships>
</file>

<file path=ppt/slides/_rels/slide2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5.jpeg" /></Relationships>
</file>

<file path=ppt/slides/_rels/slide2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6.jpeg" /></Relationships>
</file>

<file path=ppt/slides/_rels/slide2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7.jpeg" /></Relationships>
</file>

<file path=ppt/slides/_rels/slide2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avatpoint.com/java-jmenuitem-and-jmenu" TargetMode="External" /><Relationship Id="rId3" Type="http://schemas.openxmlformats.org/officeDocument/2006/relationships/hyperlink" Target="https://www.javatpoint.com/java-jcomponent" TargetMode="External" /></Relationships>
</file>

<file path=ppt/slides/_rels/slide2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8.jpeg" /></Relationships>
</file>

<file path=ppt/slides/_rels/slide2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9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98378" y="4"/>
            <a:ext cx="3046095" cy="203073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09724" y="2689799"/>
            <a:ext cx="3458845" cy="487680"/>
          </a:xfrm>
          <a:custGeom>
            <a:rect l="l" t="t" r="r" b="b"/>
            <a:pathLst>
              <a:path w="3458845" h="487680">
                <a:moveTo>
                  <a:pt x="3458710" y="487679"/>
                </a:moveTo>
                <a:lnTo>
                  <a:pt x="0" y="487679"/>
                </a:lnTo>
                <a:lnTo>
                  <a:pt x="0" y="0"/>
                </a:lnTo>
                <a:lnTo>
                  <a:pt x="3458710" y="0"/>
                </a:lnTo>
                <a:lnTo>
                  <a:pt x="3458710" y="487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7024" y="2660844"/>
            <a:ext cx="34823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>
                <a:latin typeface="Roboto"/>
                <a:cs typeface="Roboto"/>
              </a:rPr>
              <a:t>Java</a:t>
            </a:r>
            <a:r>
              <a:rPr sz="3200" b="1" spc="-110">
                <a:latin typeface="Roboto"/>
                <a:cs typeface="Roboto"/>
              </a:rPr>
              <a:t> </a:t>
            </a:r>
            <a:r>
              <a:rPr sz="3200" b="1" spc="-10">
                <a:latin typeface="Roboto"/>
                <a:cs typeface="Roboto"/>
              </a:rPr>
              <a:t>Programming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1CA68-1EA2-41B6-A951-B7546D02F130}"/>
              </a:ext>
            </a:extLst>
          </p:cNvPr>
          <p:cNvSpPr txBox="1"/>
          <p:nvPr/>
        </p:nvSpPr>
        <p:spPr>
          <a:xfrm>
            <a:off x="152400" y="4019550"/>
            <a:ext cx="88392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2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542443" y="3927399"/>
            <a:ext cx="8117205" cy="228600"/>
          </a:xfrm>
          <a:custGeom>
            <a:rect l="l" t="t" r="r" b="b"/>
            <a:pathLst>
              <a:path w="8117205" h="228600">
                <a:moveTo>
                  <a:pt x="8116769" y="228600"/>
                </a:moveTo>
                <a:lnTo>
                  <a:pt x="0" y="228600"/>
                </a:lnTo>
                <a:lnTo>
                  <a:pt x="0" y="0"/>
                </a:lnTo>
                <a:lnTo>
                  <a:pt x="8116769" y="0"/>
                </a:lnTo>
                <a:lnTo>
                  <a:pt x="8116769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8250" y="213560"/>
            <a:ext cx="469709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>
                <a:latin typeface="Times New Roman"/>
                <a:cs typeface="Times New Roman"/>
              </a:rPr>
              <a:t>JVM</a:t>
            </a:r>
            <a:r>
              <a:rPr sz="2050" b="1" spc="-40">
                <a:latin typeface="Times New Roman"/>
                <a:cs typeface="Times New Roman"/>
              </a:rPr>
              <a:t> </a:t>
            </a:r>
            <a:r>
              <a:rPr sz="2050" b="1">
                <a:latin typeface="Times New Roman"/>
                <a:cs typeface="Times New Roman"/>
              </a:rPr>
              <a:t>(Java</a:t>
            </a:r>
            <a:r>
              <a:rPr sz="2050" b="1" spc="-55">
                <a:latin typeface="Times New Roman"/>
                <a:cs typeface="Times New Roman"/>
              </a:rPr>
              <a:t> </a:t>
            </a:r>
            <a:r>
              <a:rPr sz="2050" b="1" spc="-10">
                <a:latin typeface="Times New Roman"/>
                <a:cs typeface="Times New Roman"/>
              </a:rPr>
              <a:t>Virtual</a:t>
            </a:r>
            <a:r>
              <a:rPr sz="2050" b="1" spc="-25">
                <a:latin typeface="Times New Roman"/>
                <a:cs typeface="Times New Roman"/>
              </a:rPr>
              <a:t> </a:t>
            </a:r>
            <a:r>
              <a:rPr sz="2050" b="1" spc="-20">
                <a:latin typeface="Times New Roman"/>
                <a:cs typeface="Times New Roman"/>
              </a:rPr>
              <a:t>Machine)</a:t>
            </a:r>
            <a:r>
              <a:rPr sz="2050" b="1" spc="-114">
                <a:latin typeface="Times New Roman"/>
                <a:cs typeface="Times New Roman"/>
              </a:rPr>
              <a:t> </a:t>
            </a:r>
            <a:r>
              <a:rPr sz="2050" b="1" spc="-10">
                <a:latin typeface="Times New Roman"/>
                <a:cs typeface="Times New Roman"/>
              </a:rPr>
              <a:t>Architecture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250" y="773355"/>
            <a:ext cx="8209915" cy="374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JVM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(Java</a:t>
            </a:r>
            <a:r>
              <a:rPr sz="15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Virtual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Machine)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an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abstract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machine.</a:t>
            </a:r>
            <a:endParaRPr sz="1500">
              <a:latin typeface="Times New Roman"/>
              <a:cs typeface="Times New Roman"/>
            </a:endParaRPr>
          </a:p>
          <a:p>
            <a:pPr marL="12700" marR="942975">
              <a:lnSpc>
                <a:spcPct val="179200"/>
              </a:lnSpc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specification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that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provides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runtime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environment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which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bytecode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can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executed.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What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JVM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is:</a:t>
            </a:r>
            <a:endParaRPr sz="1500">
              <a:latin typeface="Times New Roman"/>
              <a:cs typeface="Times New Roman"/>
            </a:endParaRPr>
          </a:p>
          <a:p>
            <a:pPr marL="469900" marR="79375" indent="-386080">
              <a:lnSpc>
                <a:spcPct val="154200"/>
              </a:lnSpc>
              <a:spcBef>
                <a:spcPts val="770"/>
              </a:spcBef>
              <a:buFont typeface="Roboto"/>
              <a:buAutoNum type="arabicPeriod"/>
              <a:tabLst>
                <a:tab pos="469900"/>
              </a:tabLst>
            </a:pPr>
            <a:r>
              <a:rPr sz="1500" b="1" spc="-2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500" b="1" spc="-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specification</a:t>
            </a:r>
            <a:r>
              <a:rPr sz="1500" b="1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where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working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5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Virtual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Machine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specified.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But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implementation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provider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is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independent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choose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algorithm.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Its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implementation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has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been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provided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by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Oracle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other companies.</a:t>
            </a:r>
            <a:endParaRPr sz="1500">
              <a:latin typeface="Times New Roman"/>
              <a:cs typeface="Times New Roman"/>
            </a:endParaRPr>
          </a:p>
          <a:p>
            <a:pPr marL="469265" indent="-385445">
              <a:lnSpc>
                <a:spcPct val="100000"/>
              </a:lnSpc>
              <a:spcBef>
                <a:spcPts val="975"/>
              </a:spcBef>
              <a:buFont typeface="Roboto"/>
              <a:buAutoNum type="arabicPeriod"/>
              <a:tabLst>
                <a:tab pos="469265"/>
              </a:tabLst>
            </a:pP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An</a:t>
            </a:r>
            <a:r>
              <a:rPr sz="1500" b="1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implementation</a:t>
            </a:r>
            <a:r>
              <a:rPr sz="1500" b="1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Its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implementation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known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as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JRE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(Java</a:t>
            </a:r>
            <a:r>
              <a:rPr sz="15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Runtime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Environment).</a:t>
            </a:r>
            <a:endParaRPr sz="1500">
              <a:latin typeface="Times New Roman"/>
              <a:cs typeface="Times New Roman"/>
            </a:endParaRPr>
          </a:p>
          <a:p>
            <a:pPr marL="469900" marR="5080" indent="-386080">
              <a:lnSpc>
                <a:spcPct val="154200"/>
              </a:lnSpc>
              <a:buFont typeface="Roboto"/>
              <a:buAutoNum type="arabicPeriod"/>
              <a:tabLst>
                <a:tab pos="469900"/>
              </a:tabLst>
            </a:pP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Runtime</a:t>
            </a:r>
            <a:r>
              <a:rPr sz="1500" b="1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Instance</a:t>
            </a:r>
            <a:r>
              <a:rPr sz="1500" b="1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Whenever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you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write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command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command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prompt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run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class,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an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instance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JVM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created.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41172"/>
            <a:ext cx="13652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What</a:t>
            </a:r>
            <a:r>
              <a:rPr sz="1900" spc="-40"/>
              <a:t> </a:t>
            </a:r>
            <a:r>
              <a:rPr sz="1900"/>
              <a:t>it</a:t>
            </a:r>
            <a:r>
              <a:rPr sz="1900" spc="-35"/>
              <a:t> </a:t>
            </a:r>
            <a:r>
              <a:rPr sz="1900" spc="-20"/>
              <a:t>does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671681"/>
            <a:ext cx="3260090" cy="360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It</a:t>
            </a:r>
            <a:r>
              <a:rPr sz="1800" spc="-2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434343"/>
                </a:solidFill>
                <a:latin typeface="Times New Roman"/>
                <a:cs typeface="Times New Roman"/>
              </a:rPr>
              <a:t>does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90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Loads</a:t>
            </a:r>
            <a:r>
              <a:rPr sz="1800" spc="-70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 spc="-30">
                <a:latin typeface="Times New Roman"/>
                <a:cs typeface="Times New Roman"/>
              </a:rPr>
              <a:t>Verifies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Executes</a:t>
            </a:r>
            <a:r>
              <a:rPr sz="1800" spc="-114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Provides</a:t>
            </a:r>
            <a:r>
              <a:rPr sz="1800" spc="-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runtime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environment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JVM</a:t>
            </a:r>
            <a:r>
              <a:rPr sz="1800" spc="-5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provides</a:t>
            </a:r>
            <a:r>
              <a:rPr sz="18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definitions</a:t>
            </a:r>
            <a:r>
              <a:rPr sz="18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8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33333"/>
                </a:solidFill>
                <a:latin typeface="Times New Roman"/>
                <a:cs typeface="Times New Roman"/>
              </a:rPr>
              <a:t>the: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Memory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area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Class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file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format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Register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 spc="-10">
                <a:latin typeface="Times New Roman"/>
                <a:cs typeface="Times New Roman"/>
              </a:rPr>
              <a:t>Garbage-</a:t>
            </a:r>
            <a:r>
              <a:rPr sz="1800">
                <a:latin typeface="Times New Roman"/>
                <a:cs typeface="Times New Roman"/>
              </a:rPr>
              <a:t>collected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heap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69265"/>
              </a:tabLst>
            </a:pPr>
            <a:r>
              <a:rPr sz="1800">
                <a:latin typeface="Times New Roman"/>
                <a:cs typeface="Times New Roman"/>
              </a:rPr>
              <a:t>Fatal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error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reporting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429749" y="0"/>
            <a:ext cx="8425375" cy="5143500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397421" y="4443577"/>
            <a:ext cx="8349615" cy="523240"/>
          </a:xfrm>
          <a:custGeom>
            <a:rect l="l" t="t" r="r" b="b"/>
            <a:pathLst>
              <a:path w="8349615" h="523239">
                <a:moveTo>
                  <a:pt x="1788274" y="279400"/>
                </a:moveTo>
                <a:lnTo>
                  <a:pt x="0" y="279400"/>
                </a:lnTo>
                <a:lnTo>
                  <a:pt x="0" y="523240"/>
                </a:lnTo>
                <a:lnTo>
                  <a:pt x="1788274" y="523240"/>
                </a:lnTo>
                <a:lnTo>
                  <a:pt x="1788274" y="279400"/>
                </a:lnTo>
                <a:close/>
              </a:path>
              <a:path w="8349615" h="523239">
                <a:moveTo>
                  <a:pt x="8349145" y="0"/>
                </a:moveTo>
                <a:lnTo>
                  <a:pt x="0" y="0"/>
                </a:lnTo>
                <a:lnTo>
                  <a:pt x="0" y="243840"/>
                </a:lnTo>
                <a:lnTo>
                  <a:pt x="8349145" y="243840"/>
                </a:lnTo>
                <a:lnTo>
                  <a:pt x="83491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440280"/>
            <a:ext cx="127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610B4B"/>
                </a:solidFill>
              </a:rPr>
              <a:t>1)</a:t>
            </a:r>
            <a:r>
              <a:rPr sz="1800" spc="-5">
                <a:solidFill>
                  <a:srgbClr val="610B4B"/>
                </a:solidFill>
              </a:rPr>
              <a:t> </a:t>
            </a:r>
            <a:r>
              <a:rPr sz="1800" spc="-10">
                <a:solidFill>
                  <a:srgbClr val="610B4B"/>
                </a:solidFill>
              </a:rPr>
              <a:t>C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lassloader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946122"/>
            <a:ext cx="8369934" cy="4025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Classloader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subsystem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JVM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which</a:t>
            </a:r>
            <a:r>
              <a:rPr sz="16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6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load</a:t>
            </a:r>
            <a:r>
              <a:rPr sz="16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class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files.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Whenever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we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run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program,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6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loaded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first</a:t>
            </a:r>
            <a:r>
              <a:rPr sz="16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by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classloader.</a:t>
            </a:r>
            <a:endParaRPr sz="1600">
              <a:latin typeface="Times New Roman"/>
              <a:cs typeface="Times New Roman"/>
            </a:endParaRPr>
          </a:p>
          <a:p>
            <a:pPr marL="232410" indent="-219710">
              <a:lnSpc>
                <a:spcPct val="100000"/>
              </a:lnSpc>
              <a:spcBef>
                <a:spcPts val="1655"/>
              </a:spcBef>
              <a:buAutoNum type="arabicParenR" startAt="2"/>
              <a:tabLst>
                <a:tab pos="232410"/>
              </a:tabLst>
            </a:pP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Class(Method)</a:t>
            </a:r>
            <a:r>
              <a:rPr sz="160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20">
                <a:solidFill>
                  <a:srgbClr val="222222"/>
                </a:solidFill>
                <a:latin typeface="Times New Roman"/>
                <a:cs typeface="Times New Roman"/>
              </a:rPr>
              <a:t>Area</a:t>
            </a:r>
            <a:endParaRPr sz="1600">
              <a:latin typeface="Times New Roman"/>
              <a:cs typeface="Times New Roman"/>
            </a:endParaRPr>
          </a:p>
          <a:p>
            <a:pPr marL="12700" marR="18415">
              <a:lnSpc>
                <a:spcPct val="114599"/>
              </a:lnSpc>
              <a:spcBef>
                <a:spcPts val="1475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Class(Method)</a:t>
            </a:r>
            <a:r>
              <a:rPr sz="1600" spc="5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Area</a:t>
            </a:r>
            <a:r>
              <a:rPr sz="16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stores</a:t>
            </a:r>
            <a:r>
              <a:rPr sz="16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25">
                <a:solidFill>
                  <a:srgbClr val="222222"/>
                </a:solidFill>
                <a:latin typeface="Times New Roman"/>
                <a:cs typeface="Times New Roman"/>
              </a:rPr>
              <a:t>per-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class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structures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such</a:t>
            </a:r>
            <a:r>
              <a:rPr sz="16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as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runtime</a:t>
            </a:r>
            <a:r>
              <a:rPr sz="16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constant</a:t>
            </a:r>
            <a:r>
              <a:rPr sz="1600" spc="1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pool,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field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600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method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data,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code</a:t>
            </a:r>
            <a:r>
              <a:rPr sz="16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for</a:t>
            </a:r>
            <a:r>
              <a:rPr sz="16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methods.</a:t>
            </a:r>
            <a:endParaRPr sz="1600">
              <a:latin typeface="Times New Roman"/>
              <a:cs typeface="Times New Roman"/>
            </a:endParaRPr>
          </a:p>
          <a:p>
            <a:pPr marL="232410" indent="-219710">
              <a:lnSpc>
                <a:spcPct val="100000"/>
              </a:lnSpc>
              <a:spcBef>
                <a:spcPts val="1655"/>
              </a:spcBef>
              <a:buAutoNum type="arabicParenR" startAt="3"/>
              <a:tabLst>
                <a:tab pos="232410"/>
              </a:tabLst>
            </a:pPr>
            <a:r>
              <a:rPr sz="1600" spc="-20">
                <a:solidFill>
                  <a:srgbClr val="222222"/>
                </a:solidFill>
                <a:latin typeface="Times New Roman"/>
                <a:cs typeface="Times New Roman"/>
              </a:rPr>
              <a:t>Heap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runtime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data</a:t>
            </a:r>
            <a:r>
              <a:rPr sz="16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area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6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which</a:t>
            </a:r>
            <a:r>
              <a:rPr sz="16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objects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are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allocated.</a:t>
            </a:r>
            <a:endParaRPr sz="1600">
              <a:latin typeface="Times New Roman"/>
              <a:cs typeface="Times New Roman"/>
            </a:endParaRPr>
          </a:p>
          <a:p>
            <a:pPr marL="232410" indent="-219710">
              <a:lnSpc>
                <a:spcPct val="100000"/>
              </a:lnSpc>
              <a:spcBef>
                <a:spcPts val="1680"/>
              </a:spcBef>
              <a:buAutoNum type="arabicParenR" startAt="4"/>
              <a:tabLst>
                <a:tab pos="232410"/>
              </a:tabLst>
            </a:pP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Stack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Stack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stores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frames.</a:t>
            </a:r>
            <a:r>
              <a:rPr sz="16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holds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local</a:t>
            </a:r>
            <a:r>
              <a:rPr sz="16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variables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partial</a:t>
            </a:r>
            <a:r>
              <a:rPr sz="16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results,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plays</a:t>
            </a:r>
            <a:r>
              <a:rPr sz="16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part</a:t>
            </a:r>
            <a:r>
              <a:rPr sz="16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6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method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invocation</a:t>
            </a:r>
            <a:r>
              <a:rPr sz="16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return.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17575" y="425579"/>
            <a:ext cx="8367395" cy="389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indent="-205740">
              <a:lnSpc>
                <a:spcPct val="100000"/>
              </a:lnSpc>
              <a:spcBef>
                <a:spcPts val="100"/>
              </a:spcBef>
              <a:buAutoNum type="arabicParenR" startAt="5"/>
              <a:tabLst>
                <a:tab pos="218440"/>
              </a:tabLst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Program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Counter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Register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13900"/>
              </a:lnSpc>
              <a:spcBef>
                <a:spcPts val="1475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PC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(program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counter)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register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contains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address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virtual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machine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instruction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currently</a:t>
            </a:r>
            <a:r>
              <a:rPr sz="1500" spc="1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being executed.</a:t>
            </a:r>
            <a:endParaRPr sz="1500">
              <a:latin typeface="Times New Roman"/>
              <a:cs typeface="Times New Roman"/>
            </a:endParaRPr>
          </a:p>
          <a:p>
            <a:pPr marL="218440" indent="-205740">
              <a:lnSpc>
                <a:spcPct val="100000"/>
              </a:lnSpc>
              <a:spcBef>
                <a:spcPts val="1700"/>
              </a:spcBef>
              <a:buAutoNum type="arabicParenR" startAt="6"/>
              <a:tabLst>
                <a:tab pos="218440"/>
              </a:tabLst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Native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Method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Stack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contains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all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native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methods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application.</a:t>
            </a:r>
            <a:endParaRPr sz="1500">
              <a:latin typeface="Times New Roman"/>
              <a:cs typeface="Times New Roman"/>
            </a:endParaRPr>
          </a:p>
          <a:p>
            <a:pPr marL="12700" marR="6781165" indent="205740">
              <a:lnSpc>
                <a:spcPts val="3529"/>
              </a:lnSpc>
              <a:spcBef>
                <a:spcPts val="325"/>
              </a:spcBef>
              <a:buAutoNum type="arabicParenR" startAt="7"/>
              <a:tabLst>
                <a:tab pos="218440"/>
              </a:tabLst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Execution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Engine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contains:</a:t>
            </a:r>
            <a:endParaRPr sz="1500">
              <a:latin typeface="Times New Roman"/>
              <a:cs typeface="Times New Roman"/>
            </a:endParaRPr>
          </a:p>
          <a:p>
            <a:pPr marL="469265" lvl="1" indent="-370840">
              <a:lnSpc>
                <a:spcPct val="100000"/>
              </a:lnSpc>
              <a:spcBef>
                <a:spcPts val="1340"/>
              </a:spcBef>
              <a:buFont typeface="Times New Roman"/>
              <a:buAutoNum type="arabicPeriod"/>
              <a:tabLst>
                <a:tab pos="469265"/>
              </a:tabLst>
            </a:pPr>
            <a:r>
              <a:rPr sz="1500" b="1" spc="-2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500" b="1" spc="-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virtual</a:t>
            </a:r>
            <a:r>
              <a:rPr sz="1500" b="1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processor</a:t>
            </a:r>
            <a:endParaRPr sz="1500">
              <a:latin typeface="Times New Roman"/>
              <a:cs typeface="Times New Roman"/>
            </a:endParaRPr>
          </a:p>
          <a:p>
            <a:pPr marL="469265" lvl="1" indent="-385445">
              <a:lnSpc>
                <a:spcPct val="100000"/>
              </a:lnSpc>
              <a:spcBef>
                <a:spcPts val="975"/>
              </a:spcBef>
              <a:buFont typeface="Roboto"/>
              <a:buAutoNum type="arabicPeriod"/>
              <a:tabLst>
                <a:tab pos="469265"/>
              </a:tabLst>
            </a:pP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Interpreter: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Read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bytecode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stream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then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execute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instructions.</a:t>
            </a:r>
            <a:endParaRPr sz="1500">
              <a:latin typeface="Times New Roman"/>
              <a:cs typeface="Times New Roman"/>
            </a:endParaRPr>
          </a:p>
          <a:p>
            <a:pPr marL="469265" lvl="1" indent="-385445">
              <a:lnSpc>
                <a:spcPct val="100000"/>
              </a:lnSpc>
              <a:spcBef>
                <a:spcPts val="975"/>
              </a:spcBef>
              <a:buFont typeface="Roboto"/>
              <a:buAutoNum type="arabicPeriod"/>
              <a:tabLst>
                <a:tab pos="469265"/>
              </a:tabLst>
            </a:pPr>
            <a:r>
              <a:rPr sz="1500" b="1" spc="-20">
                <a:solidFill>
                  <a:srgbClr val="222222"/>
                </a:solidFill>
                <a:latin typeface="Times New Roman"/>
                <a:cs typeface="Times New Roman"/>
              </a:rPr>
              <a:t>Just-In-</a:t>
            </a: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Time(JIT)</a:t>
            </a:r>
            <a:r>
              <a:rPr sz="1500" b="1" spc="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compiler: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473587"/>
            <a:ext cx="8370570" cy="13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8)</a:t>
            </a:r>
            <a:r>
              <a:rPr sz="14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Native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Interface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3100"/>
              </a:lnSpc>
              <a:spcBef>
                <a:spcPts val="1475"/>
              </a:spcBef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Native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Interface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(JNI)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framework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which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provides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interface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communicate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with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another</a:t>
            </a:r>
            <a:r>
              <a:rPr sz="1400" spc="1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application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written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another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like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C,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C++,</a:t>
            </a:r>
            <a:r>
              <a:rPr sz="1400" spc="-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Assembly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etc.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470"/>
              </a:spcBef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uses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JNI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framework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send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output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Console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or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interact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with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OS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libraries.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Constructors</a:t>
            </a:r>
            <a:r>
              <a:rPr b="1" spc="-5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55">
                <a:latin typeface="Arial"/>
                <a:cs typeface="Arial"/>
              </a:rPr>
              <a:t> </a:t>
            </a:r>
            <a:r>
              <a:rPr b="1" spc="-20">
                <a:latin typeface="Arial"/>
                <a:cs typeface="Arial"/>
              </a:rPr>
              <a:t>Java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4" rIns="0" bIns="0" rtlCol="0">
            <a:spAutoFit/>
          </a:bodyPr>
          <a:lstStyle/>
          <a:p>
            <a:pPr marL="469265" marR="5080" indent="-359410">
              <a:lnSpc>
                <a:spcPct val="113999"/>
              </a:lnSpc>
              <a:spcBef>
                <a:spcPts val="100"/>
              </a:spcBef>
              <a:buClr>
                <a:srgbClr val="434343"/>
              </a:buClr>
              <a:buFont typeface="Arial MT"/>
              <a:buChar char="●"/>
              <a:tabLst>
                <a:tab pos="469900"/>
              </a:tabLst>
            </a:pP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8000"/>
                </a:solidFill>
                <a:latin typeface="Times New Roman"/>
                <a:cs typeface="Times New Roman"/>
                <a:hlinkClick r:id="rId2"/>
              </a:rPr>
              <a:t>Java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,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constructor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block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codes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similar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method.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3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called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when</a:t>
            </a:r>
            <a:r>
              <a:rPr sz="1700" spc="3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25">
                <a:solidFill>
                  <a:srgbClr val="333333"/>
                </a:solidFill>
                <a:latin typeface="Times New Roman"/>
                <a:cs typeface="Times New Roman"/>
              </a:rPr>
              <a:t>an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instance</a:t>
            </a:r>
            <a:r>
              <a:rPr sz="17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8000"/>
                </a:solidFill>
                <a:latin typeface="Times New Roman"/>
                <a:cs typeface="Times New Roman"/>
                <a:hlinkClick r:id="rId3"/>
              </a:rPr>
              <a:t>class</a:t>
            </a:r>
            <a:r>
              <a:rPr sz="1700" spc="-25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created.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284"/>
              </a:spcBef>
              <a:buFont typeface="Arial MT"/>
              <a:buChar char="●"/>
              <a:tabLst>
                <a:tab pos="469900"/>
              </a:tabLst>
            </a:pP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At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calling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constructor,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memory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object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allocated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memory.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284"/>
              </a:spcBef>
              <a:buFont typeface="Arial MT"/>
              <a:buChar char="●"/>
              <a:tabLst>
                <a:tab pos="469900"/>
              </a:tabLst>
            </a:pP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special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type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which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used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initialize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object.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284"/>
              </a:spcBef>
              <a:buFont typeface="Arial MT"/>
              <a:buChar char="●"/>
              <a:tabLst>
                <a:tab pos="469900"/>
              </a:tabLst>
            </a:pP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Every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an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object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created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new()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keyword,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at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least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one</a:t>
            </a:r>
            <a:r>
              <a:rPr sz="17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constructor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7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700" spc="-10">
                <a:solidFill>
                  <a:srgbClr val="333333"/>
                </a:solidFill>
                <a:latin typeface="Times New Roman"/>
                <a:cs typeface="Times New Roman"/>
              </a:rPr>
              <a:t>called.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Rules</a:t>
            </a:r>
            <a:r>
              <a:rPr sz="18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for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creating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610B4B"/>
                </a:solidFill>
                <a:latin typeface="Arial"/>
                <a:cs typeface="Arial"/>
              </a:rPr>
              <a:t>constructor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47172"/>
            <a:ext cx="604456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16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16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16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rules</a:t>
            </a:r>
            <a:r>
              <a:rPr sz="16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defined</a:t>
            </a:r>
            <a:r>
              <a:rPr sz="16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6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6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333333"/>
                </a:solidFill>
                <a:latin typeface="Times New Roman"/>
                <a:cs typeface="Times New Roman"/>
              </a:rPr>
              <a:t>constructor.</a:t>
            </a:r>
            <a:endParaRPr sz="1600">
              <a:latin typeface="Times New Roman"/>
              <a:cs typeface="Times New Roman"/>
            </a:endParaRPr>
          </a:p>
          <a:p>
            <a:pPr marL="469265" indent="-380365">
              <a:lnSpc>
                <a:spcPct val="100000"/>
              </a:lnSpc>
              <a:spcBef>
                <a:spcPts val="1755"/>
              </a:spcBef>
              <a:buAutoNum type="arabicPeriod"/>
              <a:tabLst>
                <a:tab pos="469265"/>
              </a:tabLst>
            </a:pPr>
            <a:r>
              <a:rPr sz="1600">
                <a:latin typeface="Times New Roman"/>
                <a:cs typeface="Times New Roman"/>
              </a:rPr>
              <a:t>Constructor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name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must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be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the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same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as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its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class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 spc="-20">
                <a:latin typeface="Times New Roman"/>
                <a:cs typeface="Times New Roman"/>
              </a:rPr>
              <a:t>name</a:t>
            </a:r>
            <a:endParaRPr sz="1600">
              <a:latin typeface="Times New Roman"/>
              <a:cs typeface="Times New Roman"/>
            </a:endParaRPr>
          </a:p>
          <a:p>
            <a:pPr marL="469265" indent="-3803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/>
              </a:tabLst>
            </a:pPr>
            <a:r>
              <a:rPr sz="1600">
                <a:latin typeface="Times New Roman"/>
                <a:cs typeface="Times New Roman"/>
              </a:rPr>
              <a:t>A</a:t>
            </a:r>
            <a:r>
              <a:rPr sz="1600" spc="-10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Constructor</a:t>
            </a:r>
            <a:r>
              <a:rPr sz="1600" spc="-7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must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have</a:t>
            </a:r>
            <a:r>
              <a:rPr sz="1600" spc="-5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no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explicit</a:t>
            </a:r>
            <a:r>
              <a:rPr sz="1600" spc="-5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return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 spc="-20">
                <a:latin typeface="Times New Roman"/>
                <a:cs typeface="Times New Roman"/>
              </a:rPr>
              <a:t>type</a:t>
            </a:r>
            <a:endParaRPr sz="1600">
              <a:latin typeface="Times New Roman"/>
              <a:cs typeface="Times New Roman"/>
            </a:endParaRPr>
          </a:p>
          <a:p>
            <a:pPr marL="469265" indent="-3803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265"/>
              </a:tabLst>
            </a:pPr>
            <a:r>
              <a:rPr sz="1600">
                <a:latin typeface="Times New Roman"/>
                <a:cs typeface="Times New Roman"/>
              </a:rPr>
              <a:t>A</a:t>
            </a:r>
            <a:r>
              <a:rPr sz="1600" spc="-10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Java</a:t>
            </a:r>
            <a:r>
              <a:rPr sz="1600" spc="-7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constructor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cannot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be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abstract,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static,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final,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and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synchronized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0650" y="349174"/>
            <a:ext cx="6970724" cy="453094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7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Default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Constructor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47679"/>
            <a:ext cx="622109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500" spc="-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constructor</a:t>
            </a:r>
            <a:r>
              <a:rPr sz="15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called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"Default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Constructor"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when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doesn't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have</a:t>
            </a:r>
            <a:r>
              <a:rPr sz="15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any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parameter.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Syntax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6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default</a:t>
            </a:r>
            <a:r>
              <a:rPr sz="16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constructor:</a:t>
            </a:r>
            <a:endParaRPr sz="16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1460"/>
              </a:spcBef>
            </a:pP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&lt;class_name&gt;()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{</a:t>
            </a:r>
            <a:r>
              <a:rPr sz="1500" spc="3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50">
                <a:solidFill>
                  <a:srgbClr val="222222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76079"/>
            <a:ext cx="14649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500" b="1" spc="-3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500" b="1" spc="-1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000000"/>
                </a:solidFill>
                <a:latin typeface="Times New Roman"/>
                <a:cs typeface="Times New Roman"/>
              </a:rPr>
              <a:t>Bike1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704679"/>
            <a:ext cx="2921635" cy="35496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spc="-5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10">
                <a:latin typeface="Times New Roman"/>
                <a:cs typeface="Times New Roman"/>
              </a:rPr>
              <a:t>Bike1()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5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>
                <a:latin typeface="Times New Roman"/>
                <a:cs typeface="Times New Roman"/>
              </a:rPr>
              <a:t>System.out.println(</a:t>
            </a:r>
            <a:r>
              <a:rPr sz="1500">
                <a:solidFill>
                  <a:srgbClr val="0000FF"/>
                </a:solidFill>
                <a:latin typeface="Times New Roman"/>
                <a:cs typeface="Times New Roman"/>
              </a:rPr>
              <a:t>"Bike</a:t>
            </a:r>
            <a:r>
              <a:rPr sz="1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1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0000FF"/>
                </a:solidFill>
                <a:latin typeface="Times New Roman"/>
                <a:cs typeface="Times New Roman"/>
              </a:rPr>
              <a:t>created"</a:t>
            </a:r>
            <a:r>
              <a:rPr sz="1500" spc="-10">
                <a:latin typeface="Times New Roman"/>
                <a:cs typeface="Times New Roman"/>
              </a:rPr>
              <a:t>);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5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500" b="1" spc="-1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500" b="1" spc="-1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500" b="1" spc="-1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main(String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 spc="-10">
                <a:latin typeface="Times New Roman"/>
                <a:cs typeface="Times New Roman"/>
              </a:rPr>
              <a:t>args[])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5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>
                <a:latin typeface="Times New Roman"/>
                <a:cs typeface="Times New Roman"/>
              </a:rPr>
              <a:t>Bike1</a:t>
            </a:r>
            <a:r>
              <a:rPr sz="1500" spc="-3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b=</a:t>
            </a:r>
            <a:r>
              <a:rPr sz="15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500" b="1" spc="-3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latin typeface="Times New Roman"/>
                <a:cs typeface="Times New Roman"/>
              </a:rPr>
              <a:t>Bike1();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5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500" spc="-5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3025" y="1097956"/>
            <a:ext cx="152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Arial MT"/>
                <a:cs typeface="Arial MT"/>
              </a:rPr>
              <a:t>Bike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is</a:t>
            </a:r>
            <a:r>
              <a:rPr sz="1800" spc="-10">
                <a:latin typeface="Arial MT"/>
                <a:cs typeface="Arial MT"/>
              </a:rPr>
              <a:t> created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>
                <a:latin typeface="Times New Roman"/>
                <a:cs typeface="Times New Roman"/>
              </a:rPr>
              <a:t>Java</a:t>
            </a:r>
            <a:r>
              <a:rPr sz="2300" b="1" spc="-40">
                <a:latin typeface="Times New Roman"/>
                <a:cs typeface="Times New Roman"/>
              </a:rPr>
              <a:t> </a:t>
            </a:r>
            <a:r>
              <a:rPr sz="2300" b="1" spc="-10">
                <a:latin typeface="Times New Roman"/>
                <a:cs typeface="Times New Roman"/>
              </a:rPr>
              <a:t>Parameterized</a:t>
            </a:r>
            <a:r>
              <a:rPr sz="2300" b="1" spc="-40">
                <a:latin typeface="Times New Roman"/>
                <a:cs typeface="Times New Roman"/>
              </a:rPr>
              <a:t> </a:t>
            </a:r>
            <a:r>
              <a:rPr sz="2300" b="1" spc="-10">
                <a:latin typeface="Times New Roman"/>
                <a:cs typeface="Times New Roman"/>
              </a:rPr>
              <a:t>Constructor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406150"/>
            <a:ext cx="8267065" cy="262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/>
                <a:tab pos="675640"/>
                <a:tab pos="1994535"/>
                <a:tab pos="2740025"/>
                <a:tab pos="3255645"/>
                <a:tab pos="3528060"/>
                <a:tab pos="4463415"/>
                <a:tab pos="5390515"/>
                <a:tab pos="5748020"/>
                <a:tab pos="7056755"/>
                <a:tab pos="7378065"/>
                <a:tab pos="8129270"/>
              </a:tabLst>
            </a:pPr>
            <a:r>
              <a:rPr sz="1800" spc="-5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which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25">
                <a:solidFill>
                  <a:srgbClr val="333333"/>
                </a:solidFill>
                <a:latin typeface="Roboto"/>
                <a:cs typeface="Roboto"/>
              </a:rPr>
              <a:t>has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5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specific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number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2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parameters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25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called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800" spc="-50">
                <a:solidFill>
                  <a:srgbClr val="333333"/>
                </a:solidFill>
                <a:latin typeface="Roboto"/>
                <a:cs typeface="Roboto"/>
              </a:rPr>
              <a:t>a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parameterized</a:t>
            </a:r>
            <a:r>
              <a:rPr sz="1800" spc="-1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constructor.</a:t>
            </a:r>
            <a:endParaRPr sz="1800">
              <a:latin typeface="Roboto"/>
              <a:cs typeface="Roboto"/>
            </a:endParaRPr>
          </a:p>
          <a:p>
            <a:pPr marL="379095">
              <a:lnSpc>
                <a:spcPct val="100000"/>
              </a:lnSpc>
              <a:spcBef>
                <a:spcPts val="1710"/>
              </a:spcBef>
            </a:pPr>
            <a:r>
              <a:rPr sz="1900" b="1">
                <a:solidFill>
                  <a:srgbClr val="610B4B"/>
                </a:solidFill>
                <a:latin typeface="Arial"/>
                <a:cs typeface="Arial"/>
              </a:rPr>
              <a:t>Why</a:t>
            </a:r>
            <a:r>
              <a:rPr sz="19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4B"/>
                </a:solidFill>
                <a:latin typeface="Arial"/>
                <a:cs typeface="Arial"/>
              </a:rPr>
              <a:t>use</a:t>
            </a:r>
            <a:r>
              <a:rPr sz="19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4B"/>
                </a:solidFill>
                <a:latin typeface="Arial"/>
                <a:cs typeface="Arial"/>
              </a:rPr>
              <a:t>the</a:t>
            </a:r>
            <a:r>
              <a:rPr sz="19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900" b="1" spc="-10">
                <a:solidFill>
                  <a:srgbClr val="610B4B"/>
                </a:solidFill>
                <a:latin typeface="Arial"/>
                <a:cs typeface="Arial"/>
              </a:rPr>
              <a:t>parameterized</a:t>
            </a:r>
            <a:r>
              <a:rPr sz="19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900" b="1" spc="-10">
                <a:solidFill>
                  <a:srgbClr val="610B4B"/>
                </a:solidFill>
                <a:latin typeface="Arial"/>
                <a:cs typeface="Arial"/>
              </a:rPr>
              <a:t>constructor?</a:t>
            </a:r>
            <a:endParaRPr sz="1900">
              <a:latin typeface="Arial"/>
              <a:cs typeface="Arial"/>
            </a:endParaRPr>
          </a:p>
          <a:p>
            <a:pPr marL="379095" marR="20320" indent="-367030">
              <a:lnSpc>
                <a:spcPct val="115700"/>
              </a:lnSpc>
              <a:spcBef>
                <a:spcPts val="1585"/>
              </a:spcBef>
              <a:buFont typeface="Arial MT"/>
              <a:buChar char="●"/>
              <a:tabLst>
                <a:tab pos="379095"/>
              </a:tabLst>
            </a:pP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800" spc="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parameterized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800" spc="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provide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different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values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800" spc="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distinct objects.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/>
              </a:tabLst>
            </a:pPr>
            <a:r>
              <a:rPr sz="1800" spc="-20">
                <a:solidFill>
                  <a:srgbClr val="333333"/>
                </a:solidFill>
                <a:latin typeface="Roboto"/>
                <a:cs typeface="Roboto"/>
              </a:rPr>
              <a:t>However,</a:t>
            </a:r>
            <a:r>
              <a:rPr sz="18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8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8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provide</a:t>
            </a:r>
            <a:r>
              <a:rPr sz="18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8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333333"/>
                </a:solidFill>
                <a:latin typeface="Roboto"/>
                <a:cs typeface="Roboto"/>
              </a:rPr>
              <a:t>same</a:t>
            </a:r>
            <a:r>
              <a:rPr sz="18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20">
                <a:solidFill>
                  <a:srgbClr val="333333"/>
                </a:solidFill>
                <a:latin typeface="Roboto"/>
                <a:cs typeface="Roboto"/>
              </a:rPr>
              <a:t>values</a:t>
            </a:r>
            <a:r>
              <a:rPr sz="18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333333"/>
                </a:solidFill>
                <a:latin typeface="Roboto"/>
                <a:cs typeface="Roboto"/>
              </a:rPr>
              <a:t>also.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770">
                <a:solidFill>
                  <a:srgbClr val="333333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50818"/>
            <a:ext cx="4572635" cy="445452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700">
                <a:latin typeface="Times New Roman"/>
                <a:cs typeface="Times New Roman"/>
              </a:rPr>
              <a:t>class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Rectangle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700" spc="-50">
                <a:latin typeface="Times New Roman"/>
                <a:cs typeface="Times New Roman"/>
              </a:rPr>
              <a:t>{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4"/>
              </a:spcBef>
            </a:pPr>
            <a:r>
              <a:rPr sz="1700">
                <a:latin typeface="Times New Roman"/>
                <a:cs typeface="Times New Roman"/>
              </a:rPr>
              <a:t>int</a:t>
            </a:r>
            <a:r>
              <a:rPr sz="1700" spc="-3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area,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length,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breadth;</a:t>
            </a:r>
            <a:endParaRPr sz="1700">
              <a:latin typeface="Times New Roman"/>
              <a:cs typeface="Times New Roman"/>
            </a:endParaRPr>
          </a:p>
          <a:p>
            <a:pPr marL="174625" marR="1956435">
              <a:lnSpc>
                <a:spcPct val="113999"/>
              </a:lnSpc>
            </a:pPr>
            <a:r>
              <a:rPr sz="1700">
                <a:latin typeface="Times New Roman"/>
                <a:cs typeface="Times New Roman"/>
              </a:rPr>
              <a:t>//</a:t>
            </a:r>
            <a:r>
              <a:rPr sz="1700" spc="-15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Parameterized</a:t>
            </a:r>
            <a:r>
              <a:rPr sz="1700" spc="-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constructor </a:t>
            </a:r>
            <a:r>
              <a:rPr sz="1700">
                <a:latin typeface="Times New Roman"/>
                <a:cs typeface="Times New Roman"/>
              </a:rPr>
              <a:t>Rectangle(int</a:t>
            </a:r>
            <a:r>
              <a:rPr sz="1700" spc="-4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l,</a:t>
            </a:r>
            <a:r>
              <a:rPr sz="1700" spc="-3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int</a:t>
            </a:r>
            <a:r>
              <a:rPr sz="1700" spc="-40">
                <a:latin typeface="Times New Roman"/>
                <a:cs typeface="Times New Roman"/>
              </a:rPr>
              <a:t> </a:t>
            </a:r>
            <a:r>
              <a:rPr sz="1700" spc="-25">
                <a:latin typeface="Times New Roman"/>
                <a:cs typeface="Times New Roman"/>
              </a:rPr>
              <a:t>b)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4"/>
              </a:spcBef>
            </a:pPr>
            <a:r>
              <a:rPr sz="1700" spc="-50">
                <a:latin typeface="Times New Roman"/>
                <a:cs typeface="Times New Roman"/>
              </a:rPr>
              <a:t>{</a:t>
            </a:r>
            <a:endParaRPr sz="1700">
              <a:latin typeface="Times New Roman"/>
              <a:cs typeface="Times New Roman"/>
            </a:endParaRPr>
          </a:p>
          <a:p>
            <a:pPr marL="336550" marR="3183255">
              <a:lnSpc>
                <a:spcPct val="113999"/>
              </a:lnSpc>
            </a:pPr>
            <a:r>
              <a:rPr sz="1700">
                <a:latin typeface="Times New Roman"/>
                <a:cs typeface="Times New Roman"/>
              </a:rPr>
              <a:t>length</a:t>
            </a:r>
            <a:r>
              <a:rPr sz="1700" spc="-3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=</a:t>
            </a:r>
            <a:r>
              <a:rPr sz="1700" spc="-30">
                <a:latin typeface="Times New Roman"/>
                <a:cs typeface="Times New Roman"/>
              </a:rPr>
              <a:t> </a:t>
            </a:r>
            <a:r>
              <a:rPr sz="1700" spc="-25">
                <a:latin typeface="Times New Roman"/>
                <a:cs typeface="Times New Roman"/>
              </a:rPr>
              <a:t>l; </a:t>
            </a:r>
            <a:r>
              <a:rPr sz="1700">
                <a:latin typeface="Times New Roman"/>
                <a:cs typeface="Times New Roman"/>
              </a:rPr>
              <a:t>breadth</a:t>
            </a:r>
            <a:r>
              <a:rPr sz="1700" spc="-5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=</a:t>
            </a:r>
            <a:r>
              <a:rPr sz="1700" spc="-10">
                <a:latin typeface="Times New Roman"/>
                <a:cs typeface="Times New Roman"/>
              </a:rPr>
              <a:t> </a:t>
            </a:r>
            <a:r>
              <a:rPr sz="1700" spc="-25">
                <a:latin typeface="Times New Roman"/>
                <a:cs typeface="Times New Roman"/>
              </a:rPr>
              <a:t>b;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0"/>
              </a:spcBef>
            </a:pPr>
            <a:r>
              <a:rPr sz="1700" spc="-50">
                <a:latin typeface="Times New Roman"/>
                <a:cs typeface="Times New Roman"/>
              </a:rPr>
              <a:t>}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5"/>
              </a:spcBef>
            </a:pPr>
            <a:r>
              <a:rPr sz="1700">
                <a:latin typeface="Times New Roman"/>
                <a:cs typeface="Times New Roman"/>
              </a:rPr>
              <a:t>void</a:t>
            </a:r>
            <a:r>
              <a:rPr sz="1700" spc="-3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getArea()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5"/>
              </a:spcBef>
            </a:pPr>
            <a:r>
              <a:rPr sz="1700" spc="-50">
                <a:latin typeface="Times New Roman"/>
                <a:cs typeface="Times New Roman"/>
              </a:rPr>
              <a:t>{</a:t>
            </a:r>
            <a:endParaRPr sz="1700">
              <a:latin typeface="Times New Roman"/>
              <a:cs typeface="Times New Roman"/>
            </a:endParaRPr>
          </a:p>
          <a:p>
            <a:pPr marL="336550" marR="5080">
              <a:lnSpc>
                <a:spcPct val="113999"/>
              </a:lnSpc>
            </a:pPr>
            <a:r>
              <a:rPr sz="1700">
                <a:latin typeface="Times New Roman"/>
                <a:cs typeface="Times New Roman"/>
              </a:rPr>
              <a:t>area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=</a:t>
            </a:r>
            <a:r>
              <a:rPr sz="1700" spc="-2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length</a:t>
            </a:r>
            <a:r>
              <a:rPr sz="1700" spc="-2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*</a:t>
            </a:r>
            <a:r>
              <a:rPr sz="1700" spc="-1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breadth;</a:t>
            </a:r>
            <a:r>
              <a:rPr sz="1700" spc="500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System.out.println("Area</a:t>
            </a:r>
            <a:r>
              <a:rPr sz="1700" spc="-3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of</a:t>
            </a:r>
            <a:r>
              <a:rPr sz="1700" spc="-2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rectangle</a:t>
            </a:r>
            <a:r>
              <a:rPr sz="1700" spc="-2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: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"</a:t>
            </a:r>
            <a:r>
              <a:rPr sz="1700" spc="-2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+</a:t>
            </a:r>
            <a:r>
              <a:rPr sz="1700" spc="-25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area);</a:t>
            </a:r>
            <a:endParaRPr sz="17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285"/>
              </a:spcBef>
            </a:pPr>
            <a:r>
              <a:rPr sz="1700" spc="-50">
                <a:latin typeface="Times New Roman"/>
                <a:cs typeface="Times New Roman"/>
              </a:rPr>
              <a:t>}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700" spc="-50">
                <a:latin typeface="Times New Roman"/>
                <a:cs typeface="Times New Roman"/>
              </a:rPr>
              <a:t>}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253750"/>
            <a:ext cx="3884295" cy="28543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>
                <a:latin typeface="Times New Roman"/>
                <a:cs typeface="Times New Roman"/>
              </a:rPr>
              <a:t>public</a:t>
            </a:r>
            <a:r>
              <a:rPr sz="1800" spc="-8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class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FindArea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315"/>
              </a:spcBef>
            </a:pPr>
            <a:r>
              <a:rPr sz="1800">
                <a:latin typeface="Times New Roman"/>
                <a:cs typeface="Times New Roman"/>
              </a:rPr>
              <a:t>public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static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void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main(String[]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args)</a:t>
            </a:r>
            <a:endParaRPr sz="18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Times New Roman"/>
              <a:cs typeface="Times New Roman"/>
            </a:endParaRPr>
          </a:p>
          <a:p>
            <a:pPr marL="355600" marR="5080">
              <a:lnSpc>
                <a:spcPct val="114599"/>
              </a:lnSpc>
              <a:spcBef>
                <a:spcPts val="5"/>
              </a:spcBef>
            </a:pPr>
            <a:r>
              <a:rPr sz="1800" spc="-10">
                <a:latin typeface="Times New Roman"/>
                <a:cs typeface="Times New Roman"/>
              </a:rPr>
              <a:t>Rectangle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rs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=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new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Rectangle(10,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20); </a:t>
            </a:r>
            <a:r>
              <a:rPr sz="1800" spc="-10">
                <a:latin typeface="Times New Roman"/>
                <a:cs typeface="Times New Roman"/>
              </a:rPr>
              <a:t>rs.getArea();</a:t>
            </a:r>
            <a:endParaRPr sz="18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Constructor</a:t>
            </a:r>
            <a:r>
              <a:rPr sz="1900" b="1" spc="-5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Overloading</a:t>
            </a:r>
            <a:r>
              <a:rPr sz="1900" b="1" spc="-4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in</a:t>
            </a:r>
            <a:r>
              <a:rPr sz="1900" b="1" spc="-40">
                <a:latin typeface="Arial"/>
                <a:cs typeface="Arial"/>
              </a:rPr>
              <a:t> </a:t>
            </a:r>
            <a:r>
              <a:rPr sz="1900" b="1" spc="-20">
                <a:latin typeface="Arial"/>
                <a:cs typeface="Arial"/>
              </a:rPr>
              <a:t>Java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406150"/>
            <a:ext cx="8266430" cy="22256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5"/>
              </a:spcBef>
              <a:buFont typeface="Arial MT"/>
              <a:buChar char="●"/>
              <a:tabLst>
                <a:tab pos="379095"/>
              </a:tabLst>
            </a:pPr>
            <a:r>
              <a:rPr sz="1800">
                <a:latin typeface="Roboto"/>
                <a:cs typeface="Roboto"/>
              </a:rPr>
              <a:t>In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Java,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20">
                <a:latin typeface="Roboto"/>
                <a:cs typeface="Roboto"/>
              </a:rPr>
              <a:t>constructor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is</a:t>
            </a:r>
            <a:r>
              <a:rPr sz="1800" spc="-55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just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like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method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but</a:t>
            </a:r>
            <a:r>
              <a:rPr sz="1800" spc="-55">
                <a:latin typeface="Roboto"/>
                <a:cs typeface="Roboto"/>
              </a:rPr>
              <a:t> </a:t>
            </a:r>
            <a:r>
              <a:rPr sz="1800" spc="-25">
                <a:latin typeface="Roboto"/>
                <a:cs typeface="Roboto"/>
              </a:rPr>
              <a:t>without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20">
                <a:latin typeface="Roboto"/>
                <a:cs typeface="Roboto"/>
              </a:rPr>
              <a:t>return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20">
                <a:latin typeface="Roboto"/>
                <a:cs typeface="Roboto"/>
              </a:rPr>
              <a:t>type.</a:t>
            </a:r>
            <a:endParaRPr sz="1800">
              <a:latin typeface="Roboto"/>
              <a:cs typeface="Roboto"/>
            </a:endParaRPr>
          </a:p>
          <a:p>
            <a:pPr marL="435609" indent="-422909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35609"/>
              </a:tabLst>
            </a:pPr>
            <a:r>
              <a:rPr sz="1800">
                <a:latin typeface="Roboto"/>
                <a:cs typeface="Roboto"/>
              </a:rPr>
              <a:t>It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can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also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be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overloaded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like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Java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methods.</a:t>
            </a:r>
            <a:endParaRPr sz="1800">
              <a:latin typeface="Roboto"/>
              <a:cs typeface="Roboto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/>
              </a:tabLst>
            </a:pPr>
            <a:r>
              <a:rPr sz="1800">
                <a:latin typeface="Roboto"/>
                <a:cs typeface="Roboto"/>
              </a:rPr>
              <a:t>Constructor</a:t>
            </a:r>
            <a:r>
              <a:rPr sz="1800" spc="3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  <a:hlinkClick r:id="rId2"/>
              </a:rPr>
              <a:t>overloading</a:t>
            </a:r>
            <a:r>
              <a:rPr sz="1800" spc="365">
                <a:latin typeface="Roboto"/>
                <a:cs typeface="Roboto"/>
                <a:hlinkClick r:id="rId2"/>
              </a:rPr>
              <a:t> </a:t>
            </a:r>
            <a:r>
              <a:rPr sz="1800">
                <a:latin typeface="Roboto"/>
                <a:cs typeface="Roboto"/>
                <a:hlinkClick r:id="rId2"/>
              </a:rPr>
              <a:t>in</a:t>
            </a:r>
            <a:r>
              <a:rPr sz="1800" spc="365">
                <a:latin typeface="Roboto"/>
                <a:cs typeface="Roboto"/>
                <a:hlinkClick r:id="rId2"/>
              </a:rPr>
              <a:t> </a:t>
            </a:r>
            <a:r>
              <a:rPr sz="1800">
                <a:latin typeface="Roboto"/>
                <a:cs typeface="Roboto"/>
                <a:hlinkClick r:id="rId2"/>
              </a:rPr>
              <a:t>Java</a:t>
            </a:r>
            <a:r>
              <a:rPr sz="1800" spc="3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is</a:t>
            </a:r>
            <a:r>
              <a:rPr sz="1800" spc="3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</a:t>
            </a:r>
            <a:r>
              <a:rPr sz="1800" spc="3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technique</a:t>
            </a:r>
            <a:r>
              <a:rPr sz="1800" spc="3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of</a:t>
            </a:r>
            <a:r>
              <a:rPr sz="1800" spc="3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having</a:t>
            </a:r>
            <a:r>
              <a:rPr sz="1800" spc="3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more</a:t>
            </a:r>
            <a:r>
              <a:rPr sz="1800" spc="3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than</a:t>
            </a:r>
            <a:r>
              <a:rPr sz="1800" spc="365">
                <a:latin typeface="Roboto"/>
                <a:cs typeface="Roboto"/>
              </a:rPr>
              <a:t> </a:t>
            </a:r>
            <a:r>
              <a:rPr sz="1800" spc="-25">
                <a:latin typeface="Roboto"/>
                <a:cs typeface="Roboto"/>
              </a:rPr>
              <a:t>one </a:t>
            </a:r>
            <a:r>
              <a:rPr sz="1800" spc="-20">
                <a:latin typeface="Roboto"/>
                <a:cs typeface="Roboto"/>
              </a:rPr>
              <a:t>constructor</a:t>
            </a:r>
            <a:r>
              <a:rPr sz="1800" spc="-8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with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different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parameter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lists.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/>
              </a:tabLst>
            </a:pPr>
            <a:r>
              <a:rPr sz="1800" spc="-10">
                <a:latin typeface="Roboto"/>
                <a:cs typeface="Roboto"/>
              </a:rPr>
              <a:t>They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are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arranged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in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way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that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each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20">
                <a:latin typeface="Roboto"/>
                <a:cs typeface="Roboto"/>
              </a:rPr>
              <a:t>constructor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performs</a:t>
            </a:r>
            <a:r>
              <a:rPr sz="1800" spc="-6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different</a:t>
            </a:r>
            <a:r>
              <a:rPr sz="1800" spc="-6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task.</a:t>
            </a:r>
            <a:endParaRPr sz="1800">
              <a:latin typeface="Roboto"/>
              <a:cs typeface="Roboto"/>
            </a:endParaRPr>
          </a:p>
          <a:p>
            <a:pPr marL="379095" marR="12065" indent="-367030">
              <a:lnSpc>
                <a:spcPct val="114599"/>
              </a:lnSpc>
              <a:buFont typeface="Arial MT"/>
              <a:buChar char="●"/>
              <a:tabLst>
                <a:tab pos="379095"/>
              </a:tabLst>
            </a:pPr>
            <a:r>
              <a:rPr sz="1800">
                <a:latin typeface="Roboto"/>
                <a:cs typeface="Roboto"/>
              </a:rPr>
              <a:t>They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are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differentiated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by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the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compiler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by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the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number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of</a:t>
            </a:r>
            <a:r>
              <a:rPr sz="1800" spc="-70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parameters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in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the</a:t>
            </a:r>
            <a:r>
              <a:rPr sz="1800" spc="-75">
                <a:latin typeface="Roboto"/>
                <a:cs typeface="Roboto"/>
              </a:rPr>
              <a:t> </a:t>
            </a:r>
            <a:r>
              <a:rPr sz="1800" spc="-20">
                <a:latin typeface="Roboto"/>
                <a:cs typeface="Roboto"/>
              </a:rPr>
              <a:t>list </a:t>
            </a:r>
            <a:r>
              <a:rPr sz="1800">
                <a:latin typeface="Roboto"/>
                <a:cs typeface="Roboto"/>
              </a:rPr>
              <a:t>and</a:t>
            </a:r>
            <a:r>
              <a:rPr sz="1800" spc="-90">
                <a:latin typeface="Roboto"/>
                <a:cs typeface="Roboto"/>
              </a:rPr>
              <a:t> </a:t>
            </a:r>
            <a:r>
              <a:rPr sz="1800">
                <a:latin typeface="Roboto"/>
                <a:cs typeface="Roboto"/>
              </a:rPr>
              <a:t>their</a:t>
            </a:r>
            <a:r>
              <a:rPr sz="1800" spc="-85">
                <a:latin typeface="Roboto"/>
                <a:cs typeface="Roboto"/>
              </a:rPr>
              <a:t> </a:t>
            </a:r>
            <a:r>
              <a:rPr sz="1800" spc="-10">
                <a:latin typeface="Roboto"/>
                <a:cs typeface="Roboto"/>
              </a:rPr>
              <a:t>types.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492924" y="0"/>
            <a:ext cx="8520600" cy="5143500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Inheritance</a:t>
            </a:r>
            <a:r>
              <a:rPr b="1" spc="-5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45">
                <a:latin typeface="Arial"/>
                <a:cs typeface="Arial"/>
              </a:rPr>
              <a:t> </a:t>
            </a:r>
            <a:r>
              <a:rPr b="1" spc="-20">
                <a:latin typeface="Arial"/>
                <a:cs typeface="Arial"/>
              </a:rPr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262" y="1409579"/>
            <a:ext cx="825309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6350" indent="-344170">
              <a:lnSpc>
                <a:spcPct val="116700"/>
              </a:lnSpc>
              <a:spcBef>
                <a:spcPts val="100"/>
              </a:spcBef>
              <a:buFont typeface="Arial MT"/>
              <a:buChar char="●"/>
              <a:tabLst>
                <a:tab pos="356235"/>
              </a:tabLst>
            </a:pPr>
            <a:r>
              <a:rPr sz="1500" b="1">
                <a:solidFill>
                  <a:srgbClr val="333333"/>
                </a:solidFill>
                <a:latin typeface="Roboto"/>
                <a:cs typeface="Roboto"/>
              </a:rPr>
              <a:t>Inheritance</a:t>
            </a:r>
            <a:r>
              <a:rPr sz="1500" b="1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500" b="1" spc="2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333333"/>
                </a:solidFill>
                <a:latin typeface="Roboto"/>
                <a:cs typeface="Roboto"/>
              </a:rPr>
              <a:t>Java</a:t>
            </a:r>
            <a:r>
              <a:rPr sz="1500" b="1" spc="28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500" spc="2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mechanism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which</a:t>
            </a:r>
            <a:r>
              <a:rPr sz="1500" spc="2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one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object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acquires</a:t>
            </a:r>
            <a:r>
              <a:rPr sz="1500" spc="2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all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500" spc="2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properties</a:t>
            </a:r>
            <a:r>
              <a:rPr sz="1500" spc="2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and 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behaviors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parent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object.</a:t>
            </a:r>
            <a:endParaRPr sz="1500">
              <a:latin typeface="Roboto"/>
              <a:cs typeface="Roboto"/>
            </a:endParaRPr>
          </a:p>
          <a:p>
            <a:pPr marL="403225" indent="-390525">
              <a:lnSpc>
                <a:spcPct val="100000"/>
              </a:lnSpc>
              <a:spcBef>
                <a:spcPts val="300"/>
              </a:spcBef>
              <a:buClr>
                <a:srgbClr val="434343"/>
              </a:buClr>
              <a:buFont typeface="Arial MT"/>
              <a:buChar char="●"/>
              <a:tabLst>
                <a:tab pos="403225"/>
              </a:tabLst>
            </a:pP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an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important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part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008000"/>
                </a:solidFill>
                <a:latin typeface="Roboto"/>
                <a:cs typeface="Roboto"/>
                <a:hlinkClick r:id="rId2"/>
              </a:rPr>
              <a:t>OOPs</a:t>
            </a:r>
            <a:r>
              <a:rPr sz="1500" spc="-25">
                <a:solidFill>
                  <a:srgbClr val="008000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(Object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Oriented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programming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system).</a:t>
            </a:r>
            <a:endParaRPr sz="1500">
              <a:latin typeface="Roboto"/>
              <a:cs typeface="Roboto"/>
            </a:endParaRPr>
          </a:p>
          <a:p>
            <a:pPr marL="356235" marR="6985" indent="-344170">
              <a:lnSpc>
                <a:spcPct val="116700"/>
              </a:lnSpc>
              <a:buClr>
                <a:srgbClr val="434343"/>
              </a:buClr>
              <a:buFont typeface="Arial MT"/>
              <a:buChar char="●"/>
              <a:tabLst>
                <a:tab pos="356235"/>
              </a:tabLst>
            </a:pP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idea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behind</a:t>
            </a:r>
            <a:r>
              <a:rPr sz="1500" spc="1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inheritance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500" spc="1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Java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 spc="1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500" spc="1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create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sz="1500" spc="18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008000"/>
                </a:solidFill>
                <a:latin typeface="Roboto"/>
                <a:cs typeface="Roboto"/>
                <a:hlinkClick r:id="rId3"/>
              </a:rPr>
              <a:t>classes</a:t>
            </a:r>
            <a:r>
              <a:rPr sz="1500" spc="114">
                <a:solidFill>
                  <a:srgbClr val="008000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are</a:t>
            </a:r>
            <a:r>
              <a:rPr sz="1500" spc="1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built</a:t>
            </a:r>
            <a:r>
              <a:rPr sz="1500" spc="10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upon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existing</a:t>
            </a:r>
            <a:r>
              <a:rPr sz="1500" spc="-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classes.</a:t>
            </a:r>
            <a:endParaRPr sz="1500">
              <a:latin typeface="Roboto"/>
              <a:cs typeface="Roboto"/>
            </a:endParaRPr>
          </a:p>
          <a:p>
            <a:pPr marL="356235" marR="13335" indent="-344170">
              <a:lnSpc>
                <a:spcPct val="116700"/>
              </a:lnSpc>
              <a:buFont typeface="Arial MT"/>
              <a:buChar char="●"/>
              <a:tabLst>
                <a:tab pos="356235"/>
              </a:tabLst>
            </a:pP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When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inherit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from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an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existing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class,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reuse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methods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fields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500" spc="19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500" spc="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parent class.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356235"/>
              </a:tabLst>
            </a:pP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Moreover,</a:t>
            </a:r>
            <a:r>
              <a:rPr sz="15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add</a:t>
            </a:r>
            <a:r>
              <a:rPr sz="15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methods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fields</a:t>
            </a:r>
            <a:r>
              <a:rPr sz="15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your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current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class</a:t>
            </a:r>
            <a:r>
              <a:rPr sz="15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also.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56235"/>
                <a:tab pos="1438910"/>
                <a:tab pos="2476500"/>
                <a:tab pos="2887980"/>
                <a:tab pos="3401695"/>
                <a:tab pos="4557395"/>
                <a:tab pos="5194935"/>
                <a:tab pos="5478780"/>
                <a:tab pos="5974715"/>
                <a:tab pos="6672580"/>
                <a:tab pos="7013575"/>
                <a:tab pos="7261225"/>
              </a:tabLst>
            </a:pP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Inheritance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represents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b="1" spc="-20">
                <a:solidFill>
                  <a:srgbClr val="333333"/>
                </a:solidFill>
                <a:latin typeface="Roboto"/>
                <a:cs typeface="Roboto"/>
              </a:rPr>
              <a:t>IS-</a:t>
            </a:r>
            <a:r>
              <a:rPr sz="1500" b="1" spc="-5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500" b="1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b="1" spc="-10">
                <a:solidFill>
                  <a:srgbClr val="333333"/>
                </a:solidFill>
                <a:latin typeface="Roboto"/>
                <a:cs typeface="Roboto"/>
              </a:rPr>
              <a:t>relationship</a:t>
            </a:r>
            <a:r>
              <a:rPr sz="1500" b="1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which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also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known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25">
                <a:solidFill>
                  <a:srgbClr val="333333"/>
                </a:solidFill>
                <a:latin typeface="Roboto"/>
                <a:cs typeface="Roboto"/>
              </a:rPr>
              <a:t>as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spc="-5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sz="1500" i="1" spc="-55">
                <a:solidFill>
                  <a:srgbClr val="333333"/>
                </a:solidFill>
                <a:latin typeface="Roboto"/>
                <a:cs typeface="Roboto"/>
              </a:rPr>
              <a:t>parent-</a:t>
            </a:r>
            <a:r>
              <a:rPr sz="1500" i="1" spc="-35">
                <a:solidFill>
                  <a:srgbClr val="333333"/>
                </a:solidFill>
                <a:latin typeface="Roboto"/>
                <a:cs typeface="Roboto"/>
              </a:rPr>
              <a:t>child</a:t>
            </a:r>
            <a:endParaRPr sz="1500">
              <a:latin typeface="Roboto"/>
              <a:cs typeface="Roboto"/>
            </a:endParaRPr>
          </a:p>
          <a:p>
            <a:pPr marL="356235">
              <a:lnSpc>
                <a:spcPct val="100000"/>
              </a:lnSpc>
              <a:spcBef>
                <a:spcPts val="300"/>
              </a:spcBef>
            </a:pP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relationship.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175" y="390897"/>
            <a:ext cx="27152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25">
                <a:solidFill>
                  <a:srgbClr val="610B4B"/>
                </a:solidFill>
                <a:latin typeface="Times New Roman"/>
                <a:cs typeface="Times New Roman"/>
              </a:rPr>
              <a:t>Terms</a:t>
            </a:r>
            <a:r>
              <a:rPr sz="1900" b="1" spc="-55">
                <a:solidFill>
                  <a:srgbClr val="610B4B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610B4B"/>
                </a:solidFill>
                <a:latin typeface="Times New Roman"/>
                <a:cs typeface="Times New Roman"/>
              </a:rPr>
              <a:t>used</a:t>
            </a:r>
            <a:r>
              <a:rPr sz="1900" b="1" spc="-50">
                <a:solidFill>
                  <a:srgbClr val="610B4B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610B4B"/>
                </a:solidFill>
                <a:latin typeface="Times New Roman"/>
                <a:cs typeface="Times New Roman"/>
              </a:rPr>
              <a:t>in</a:t>
            </a:r>
            <a:r>
              <a:rPr sz="1900" b="1" spc="-50">
                <a:solidFill>
                  <a:srgbClr val="610B4B"/>
                </a:solidFill>
                <a:latin typeface="Times New Roman"/>
                <a:cs typeface="Times New Roman"/>
              </a:rPr>
              <a:t> </a:t>
            </a:r>
            <a:r>
              <a:rPr sz="1900" b="1" spc="-10">
                <a:solidFill>
                  <a:srgbClr val="610B4B"/>
                </a:solidFill>
                <a:latin typeface="Times New Roman"/>
                <a:cs typeface="Times New Roman"/>
              </a:rPr>
              <a:t>Inheritance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8262" y="1361954"/>
            <a:ext cx="822833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8255" indent="-344170">
              <a:lnSpc>
                <a:spcPct val="154200"/>
              </a:lnSpc>
              <a:spcBef>
                <a:spcPts val="100"/>
              </a:spcBef>
              <a:buFont typeface="Arial MT"/>
              <a:buChar char="●"/>
              <a:tabLst>
                <a:tab pos="356235"/>
              </a:tabLst>
            </a:pPr>
            <a:r>
              <a:rPr sz="1500" b="1">
                <a:latin typeface="Roboto"/>
                <a:cs typeface="Roboto"/>
              </a:rPr>
              <a:t>Class:</a:t>
            </a:r>
            <a:r>
              <a:rPr sz="1500" b="1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class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group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of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objects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which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have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common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properties.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It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template</a:t>
            </a:r>
            <a:r>
              <a:rPr sz="1500" spc="245">
                <a:latin typeface="Roboto"/>
                <a:cs typeface="Roboto"/>
              </a:rPr>
              <a:t> </a:t>
            </a:r>
            <a:r>
              <a:rPr sz="1500" spc="-25">
                <a:latin typeface="Roboto"/>
                <a:cs typeface="Roboto"/>
              </a:rPr>
              <a:t>or </a:t>
            </a:r>
            <a:r>
              <a:rPr sz="1500" spc="-10">
                <a:latin typeface="Roboto"/>
                <a:cs typeface="Roboto"/>
              </a:rPr>
              <a:t>blueprint</a:t>
            </a:r>
            <a:r>
              <a:rPr sz="1500" spc="-5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from</a:t>
            </a:r>
            <a:r>
              <a:rPr sz="1500" spc="-5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which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objects</a:t>
            </a:r>
            <a:r>
              <a:rPr sz="1500" spc="-5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are</a:t>
            </a:r>
            <a:r>
              <a:rPr sz="1500" spc="-5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created.</a:t>
            </a:r>
            <a:endParaRPr sz="1500">
              <a:latin typeface="Roboto"/>
              <a:cs typeface="Roboto"/>
            </a:endParaRPr>
          </a:p>
          <a:p>
            <a:pPr marL="356235" marR="5080" indent="-344170">
              <a:lnSpc>
                <a:spcPct val="154200"/>
              </a:lnSpc>
              <a:buFont typeface="Arial MT"/>
              <a:buChar char="●"/>
              <a:tabLst>
                <a:tab pos="356235"/>
              </a:tabLst>
            </a:pPr>
            <a:r>
              <a:rPr sz="1500" b="1">
                <a:latin typeface="Roboto"/>
                <a:cs typeface="Roboto"/>
              </a:rPr>
              <a:t>Sub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Class/Child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/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Derived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</a:t>
            </a:r>
            <a:r>
              <a:rPr sz="1500" b="1" spc="1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:</a:t>
            </a:r>
            <a:r>
              <a:rPr sz="1500" b="1" spc="3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Subclass</a:t>
            </a:r>
            <a:r>
              <a:rPr sz="1500" spc="1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1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1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class</a:t>
            </a:r>
            <a:r>
              <a:rPr sz="1500" spc="1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which</a:t>
            </a:r>
            <a:r>
              <a:rPr sz="1500" spc="1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inherits</a:t>
            </a:r>
            <a:r>
              <a:rPr sz="1500" spc="1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the</a:t>
            </a:r>
            <a:r>
              <a:rPr sz="1500" spc="1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other</a:t>
            </a:r>
            <a:r>
              <a:rPr sz="1500" spc="1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class.</a:t>
            </a:r>
            <a:r>
              <a:rPr sz="1500" spc="15">
                <a:latin typeface="Roboto"/>
                <a:cs typeface="Roboto"/>
              </a:rPr>
              <a:t> </a:t>
            </a:r>
            <a:r>
              <a:rPr sz="1500" spc="-25">
                <a:latin typeface="Roboto"/>
                <a:cs typeface="Roboto"/>
              </a:rPr>
              <a:t>It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also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called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derived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class,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extended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class,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or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child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class.</a:t>
            </a:r>
            <a:endParaRPr sz="1500">
              <a:latin typeface="Roboto"/>
              <a:cs typeface="Roboto"/>
            </a:endParaRPr>
          </a:p>
          <a:p>
            <a:pPr marL="356235" marR="10160" indent="-344170">
              <a:lnSpc>
                <a:spcPct val="154200"/>
              </a:lnSpc>
              <a:buFont typeface="Arial MT"/>
              <a:buChar char="●"/>
              <a:tabLst>
                <a:tab pos="356235"/>
              </a:tabLst>
            </a:pPr>
            <a:r>
              <a:rPr sz="1500" b="1">
                <a:latin typeface="Roboto"/>
                <a:cs typeface="Roboto"/>
              </a:rPr>
              <a:t>Super</a:t>
            </a:r>
            <a:r>
              <a:rPr sz="1500" b="1" spc="28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Class/Parent</a:t>
            </a:r>
            <a:r>
              <a:rPr sz="1500" b="1" spc="28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Class/</a:t>
            </a:r>
            <a:r>
              <a:rPr sz="1500" b="1" spc="290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Base</a:t>
            </a:r>
            <a:r>
              <a:rPr sz="1500" b="1" spc="28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Class</a:t>
            </a:r>
            <a:r>
              <a:rPr sz="1500" b="1" spc="285">
                <a:latin typeface="Roboto"/>
                <a:cs typeface="Roboto"/>
              </a:rPr>
              <a:t> </a:t>
            </a:r>
            <a:r>
              <a:rPr sz="1500" b="1">
                <a:latin typeface="Roboto"/>
                <a:cs typeface="Roboto"/>
              </a:rPr>
              <a:t>:</a:t>
            </a:r>
            <a:r>
              <a:rPr sz="1500" b="1" spc="31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Superclass</a:t>
            </a:r>
            <a:r>
              <a:rPr sz="1500" spc="28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28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the</a:t>
            </a:r>
            <a:r>
              <a:rPr sz="1500" spc="29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class</a:t>
            </a:r>
            <a:r>
              <a:rPr sz="1500" spc="28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from</a:t>
            </a:r>
            <a:r>
              <a:rPr sz="1500" spc="28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where</a:t>
            </a:r>
            <a:r>
              <a:rPr sz="1500" spc="29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28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subclass </a:t>
            </a:r>
            <a:r>
              <a:rPr sz="1500" spc="-20">
                <a:latin typeface="Roboto"/>
                <a:cs typeface="Roboto"/>
              </a:rPr>
              <a:t>inherits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the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features.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It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is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also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called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base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class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or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a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parent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class.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>
                <a:solidFill>
                  <a:srgbClr val="273138"/>
                </a:solidFill>
                <a:latin typeface="Arial"/>
                <a:cs typeface="Arial"/>
              </a:rPr>
              <a:t>Syntax</a:t>
            </a:r>
            <a:r>
              <a:rPr sz="2100" b="1" spc="-30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sz="2100" b="1" spc="-50">
                <a:solidFill>
                  <a:srgbClr val="273138"/>
                </a:solidFill>
                <a:latin typeface="Arial"/>
                <a:cs typeface="Arial"/>
              </a:rPr>
              <a:t>: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4772"/>
            <a:ext cx="6726555" cy="204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273138"/>
                </a:solidFill>
                <a:latin typeface="Times New Roman"/>
                <a:cs typeface="Times New Roman"/>
              </a:rPr>
              <a:t>class</a:t>
            </a:r>
            <a:r>
              <a:rPr sz="1600" b="1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b="1" spc="-20">
                <a:solidFill>
                  <a:srgbClr val="FF00FF"/>
                </a:solidFill>
                <a:latin typeface="Times New Roman"/>
                <a:cs typeface="Times New Roman"/>
              </a:rPr>
              <a:t>derived-</a:t>
            </a:r>
            <a:r>
              <a:rPr sz="1600" b="1">
                <a:solidFill>
                  <a:srgbClr val="FF00FF"/>
                </a:solidFill>
                <a:latin typeface="Times New Roman"/>
                <a:cs typeface="Times New Roman"/>
              </a:rPr>
              <a:t>class</a:t>
            </a:r>
            <a:r>
              <a:rPr sz="1600" b="1" spc="-3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008000"/>
                </a:solidFill>
                <a:latin typeface="Times New Roman"/>
                <a:cs typeface="Times New Roman"/>
              </a:rPr>
              <a:t>extends</a:t>
            </a:r>
            <a:r>
              <a:rPr sz="1600" b="1" spc="-25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1600" b="1" spc="-20">
                <a:solidFill>
                  <a:srgbClr val="FF00FF"/>
                </a:solidFill>
                <a:latin typeface="Times New Roman"/>
                <a:cs typeface="Times New Roman"/>
              </a:rPr>
              <a:t>base-</a:t>
            </a:r>
            <a:r>
              <a:rPr sz="1600" b="1" spc="-10">
                <a:solidFill>
                  <a:srgbClr val="FF00FF"/>
                </a:solidFill>
                <a:latin typeface="Times New Roman"/>
                <a:cs typeface="Times New Roman"/>
              </a:rPr>
              <a:t>class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600" b="1" spc="-10">
                <a:solidFill>
                  <a:srgbClr val="273138"/>
                </a:solidFill>
                <a:latin typeface="Times New Roman"/>
                <a:cs typeface="Times New Roman"/>
              </a:rPr>
              <a:t>//methods</a:t>
            </a:r>
            <a:r>
              <a:rPr sz="1600" b="1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73138"/>
                </a:solidFill>
                <a:latin typeface="Times New Roman"/>
                <a:cs typeface="Times New Roman"/>
              </a:rPr>
              <a:t>and</a:t>
            </a:r>
            <a:r>
              <a:rPr sz="1600" b="1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b="1" spc="-10">
                <a:solidFill>
                  <a:srgbClr val="273138"/>
                </a:solidFill>
                <a:latin typeface="Times New Roman"/>
                <a:cs typeface="Times New Roman"/>
              </a:rPr>
              <a:t>fields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extends</a:t>
            </a:r>
            <a:r>
              <a:rPr sz="1200" b="1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200" b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indicates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you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are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making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class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derives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from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existing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class.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700449"/>
            <a:ext cx="36671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>
                <a:latin typeface="Arial"/>
                <a:cs typeface="Arial"/>
              </a:rPr>
              <a:t>Types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of</a:t>
            </a:r>
            <a:r>
              <a:rPr b="1" spc="-6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inheritance</a:t>
            </a:r>
            <a:r>
              <a:rPr b="1" spc="-6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60">
                <a:latin typeface="Arial"/>
                <a:cs typeface="Arial"/>
              </a:rPr>
              <a:t> </a:t>
            </a:r>
            <a:r>
              <a:rPr b="1" spc="-20">
                <a:latin typeface="Arial"/>
                <a:cs typeface="Arial"/>
              </a:rPr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46155"/>
            <a:ext cx="8238490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18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8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basis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class,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can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be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two</a:t>
            </a:r>
            <a:r>
              <a:rPr sz="1800" spc="4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types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8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inheritance</a:t>
            </a:r>
            <a:r>
              <a:rPr sz="18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8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java: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15"/>
              </a:spcBef>
              <a:buFont typeface="Arial MT"/>
              <a:buChar char="●"/>
              <a:tabLst>
                <a:tab pos="469265"/>
              </a:tabLst>
            </a:pP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Single,</a:t>
            </a:r>
            <a:endParaRPr sz="18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/>
              </a:tabLst>
            </a:pP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multilevel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8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java</a:t>
            </a:r>
            <a:r>
              <a:rPr sz="180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programming,</a:t>
            </a:r>
            <a:r>
              <a:rPr sz="18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multiple</a:t>
            </a:r>
            <a:r>
              <a:rPr sz="180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8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hybrid</a:t>
            </a:r>
            <a:r>
              <a:rPr sz="18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inheritance</a:t>
            </a:r>
            <a:r>
              <a:rPr sz="18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80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supported</a:t>
            </a:r>
            <a:r>
              <a:rPr sz="18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through</a:t>
            </a:r>
            <a:r>
              <a:rPr sz="18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sz="18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33333"/>
                </a:solidFill>
                <a:latin typeface="Times New Roman"/>
                <a:cs typeface="Times New Roman"/>
              </a:rPr>
              <a:t>only.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90434"/>
            <a:ext cx="9143999" cy="4162631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75" y="141216"/>
            <a:ext cx="254063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>
                <a:latin typeface="Arial"/>
                <a:cs typeface="Arial"/>
              </a:rPr>
              <a:t>Single</a:t>
            </a:r>
            <a:r>
              <a:rPr sz="2300" b="1" spc="-30">
                <a:latin typeface="Arial"/>
                <a:cs typeface="Arial"/>
              </a:rPr>
              <a:t> </a:t>
            </a:r>
            <a:r>
              <a:rPr sz="2300" b="1" spc="-10">
                <a:latin typeface="Arial"/>
                <a:cs typeface="Arial"/>
              </a:rPr>
              <a:t>Inheritance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682580"/>
            <a:ext cx="59651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When</a:t>
            </a:r>
            <a:r>
              <a:rPr sz="1500" spc="-45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a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222222"/>
                </a:solidFill>
                <a:latin typeface="Roboto"/>
                <a:cs typeface="Roboto"/>
              </a:rPr>
              <a:t>class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spc="-20">
                <a:solidFill>
                  <a:srgbClr val="222222"/>
                </a:solidFill>
                <a:latin typeface="Roboto"/>
                <a:cs typeface="Roboto"/>
              </a:rPr>
              <a:t>inherits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222222"/>
                </a:solidFill>
                <a:latin typeface="Roboto"/>
                <a:cs typeface="Roboto"/>
              </a:rPr>
              <a:t>another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222222"/>
                </a:solidFill>
                <a:latin typeface="Roboto"/>
                <a:cs typeface="Roboto"/>
              </a:rPr>
              <a:t>class,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it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is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222222"/>
                </a:solidFill>
                <a:latin typeface="Roboto"/>
                <a:cs typeface="Roboto"/>
              </a:rPr>
              <a:t>known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as</a:t>
            </a:r>
            <a:r>
              <a:rPr sz="1500" spc="-4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222222"/>
                </a:solidFill>
                <a:latin typeface="Roboto"/>
                <a:cs typeface="Roboto"/>
              </a:rPr>
              <a:t>a </a:t>
            </a:r>
            <a:r>
              <a:rPr sz="1500" i="1" spc="-25">
                <a:solidFill>
                  <a:srgbClr val="222222"/>
                </a:solidFill>
                <a:latin typeface="Roboto"/>
                <a:cs typeface="Roboto"/>
              </a:rPr>
              <a:t>single</a:t>
            </a:r>
            <a:r>
              <a:rPr sz="1500" i="1" spc="-45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500" i="1" spc="-10">
                <a:solidFill>
                  <a:srgbClr val="222222"/>
                </a:solidFill>
                <a:latin typeface="Roboto"/>
                <a:cs typeface="Roboto"/>
              </a:rPr>
              <a:t>inheritance</a:t>
            </a:r>
            <a:r>
              <a:rPr sz="1500" spc="-10">
                <a:solidFill>
                  <a:srgbClr val="222222"/>
                </a:solidFill>
                <a:latin typeface="Roboto"/>
                <a:cs typeface="Roboto"/>
              </a:rPr>
              <a:t>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11205"/>
            <a:ext cx="2863215" cy="37592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5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Animal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107314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eat()</a:t>
            </a:r>
            <a:endParaRPr sz="1500">
              <a:latin typeface="Roboto"/>
              <a:cs typeface="Roboto"/>
            </a:endParaRPr>
          </a:p>
          <a:p>
            <a:pPr marL="15367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200660">
              <a:lnSpc>
                <a:spcPct val="100000"/>
              </a:lnSpc>
              <a:spcBef>
                <a:spcPts val="300"/>
              </a:spcBef>
            </a:pPr>
            <a:r>
              <a:rPr sz="1500" spc="-10">
                <a:latin typeface="Roboto"/>
                <a:cs typeface="Roboto"/>
              </a:rPr>
              <a:t>System.out.println(</a:t>
            </a:r>
            <a:r>
              <a:rPr sz="1500" spc="-10">
                <a:solidFill>
                  <a:srgbClr val="0000FF"/>
                </a:solidFill>
                <a:latin typeface="Roboto"/>
                <a:cs typeface="Roboto"/>
              </a:rPr>
              <a:t>"eating..."</a:t>
            </a:r>
            <a:r>
              <a:rPr sz="1500" spc="-10">
                <a:latin typeface="Roboto"/>
                <a:cs typeface="Roboto"/>
              </a:rPr>
              <a:t>);</a:t>
            </a:r>
            <a:endParaRPr sz="1500">
              <a:latin typeface="Roboto"/>
              <a:cs typeface="Roboto"/>
            </a:endParaRPr>
          </a:p>
          <a:p>
            <a:pPr marL="15367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Dog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extends</a:t>
            </a:r>
            <a:r>
              <a:rPr sz="15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Animal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107314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bark()</a:t>
            </a:r>
            <a:endParaRPr sz="1500">
              <a:latin typeface="Roboto"/>
              <a:cs typeface="Roboto"/>
            </a:endParaRPr>
          </a:p>
          <a:p>
            <a:pPr marL="15367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247650">
              <a:lnSpc>
                <a:spcPct val="100000"/>
              </a:lnSpc>
              <a:spcBef>
                <a:spcPts val="300"/>
              </a:spcBef>
            </a:pPr>
            <a:r>
              <a:rPr sz="1500" spc="-25">
                <a:latin typeface="Roboto"/>
                <a:cs typeface="Roboto"/>
              </a:rPr>
              <a:t>System.out.println(</a:t>
            </a:r>
            <a:r>
              <a:rPr sz="1500" spc="-25">
                <a:solidFill>
                  <a:srgbClr val="0000FF"/>
                </a:solidFill>
                <a:latin typeface="Roboto"/>
                <a:cs typeface="Roboto"/>
              </a:rPr>
              <a:t>"barking..."</a:t>
            </a:r>
            <a:r>
              <a:rPr sz="1500" spc="-25">
                <a:latin typeface="Roboto"/>
                <a:cs typeface="Roboto"/>
              </a:rPr>
              <a:t>);</a:t>
            </a:r>
            <a:endParaRPr sz="1500">
              <a:latin typeface="Roboto"/>
              <a:cs typeface="Roboto"/>
            </a:endParaRPr>
          </a:p>
          <a:p>
            <a:pPr marL="20066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3150" y="1337342"/>
            <a:ext cx="3097530" cy="252603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5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TestInheritance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0">
                <a:latin typeface="Roboto"/>
                <a:cs typeface="Roboto"/>
              </a:rPr>
              <a:t>main(String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args[])</a:t>
            </a:r>
            <a:endParaRPr sz="1500">
              <a:latin typeface="Roboto"/>
              <a:cs typeface="Roboto"/>
            </a:endParaRPr>
          </a:p>
          <a:p>
            <a:pPr marL="153670">
              <a:lnSpc>
                <a:spcPct val="100000"/>
              </a:lnSpc>
              <a:spcBef>
                <a:spcPts val="1015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469900" marR="1111250">
              <a:lnSpc>
                <a:spcPct val="156300"/>
              </a:lnSpc>
            </a:pPr>
            <a:r>
              <a:rPr sz="1500">
                <a:latin typeface="Roboto"/>
                <a:cs typeface="Roboto"/>
              </a:rPr>
              <a:t>Dog</a:t>
            </a:r>
            <a:r>
              <a:rPr sz="1500" spc="-6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d=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5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Dog(); d.bark();</a:t>
            </a:r>
            <a:endParaRPr sz="15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500" spc="-10">
                <a:latin typeface="Roboto"/>
                <a:cs typeface="Roboto"/>
              </a:rPr>
              <a:t>d.eat();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7257" y="3966242"/>
            <a:ext cx="90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3150" y="4323429"/>
            <a:ext cx="90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91972"/>
            <a:ext cx="24771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Multilevel</a:t>
            </a:r>
            <a:r>
              <a:rPr sz="1900" b="1" spc="-4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Inheritance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025" y="989105"/>
            <a:ext cx="6142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When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there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chain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20">
                <a:solidFill>
                  <a:srgbClr val="333333"/>
                </a:solidFill>
                <a:latin typeface="Roboto"/>
                <a:cs typeface="Roboto"/>
              </a:rPr>
              <a:t>inheritance,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5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known</a:t>
            </a:r>
            <a:r>
              <a:rPr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333333"/>
                </a:solidFill>
                <a:latin typeface="Roboto"/>
                <a:cs typeface="Roboto"/>
              </a:rPr>
              <a:t>as </a:t>
            </a:r>
            <a:r>
              <a:rPr sz="1500" i="1" spc="-30">
                <a:solidFill>
                  <a:srgbClr val="333333"/>
                </a:solidFill>
                <a:latin typeface="Roboto"/>
                <a:cs typeface="Roboto"/>
              </a:rPr>
              <a:t>multilevel</a:t>
            </a:r>
            <a:r>
              <a:rPr sz="1500" i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500" i="1" spc="-10">
                <a:solidFill>
                  <a:srgbClr val="333333"/>
                </a:solidFill>
                <a:latin typeface="Roboto"/>
                <a:cs typeface="Roboto"/>
              </a:rPr>
              <a:t>inheritance</a:t>
            </a:r>
            <a:r>
              <a:rPr sz="1500" spc="-10">
                <a:solidFill>
                  <a:srgbClr val="333333"/>
                </a:solidFill>
                <a:latin typeface="Roboto"/>
                <a:cs typeface="Roboto"/>
              </a:rPr>
              <a:t>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025" y="1374423"/>
            <a:ext cx="2806700" cy="34925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4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Animal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4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eat()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25">
                <a:latin typeface="Roboto"/>
                <a:cs typeface="Roboto"/>
              </a:rPr>
              <a:t>System.out.println(</a:t>
            </a:r>
            <a:r>
              <a:rPr sz="1400" spc="-25">
                <a:solidFill>
                  <a:srgbClr val="0000FF"/>
                </a:solidFill>
                <a:latin typeface="Roboto"/>
                <a:cs typeface="Roboto"/>
              </a:rPr>
              <a:t>"eating..."</a:t>
            </a:r>
            <a:r>
              <a:rPr sz="1400" spc="-25">
                <a:latin typeface="Roboto"/>
                <a:cs typeface="Roboto"/>
              </a:rPr>
              <a:t>);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400" b="1" spc="-5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>
                <a:latin typeface="Roboto"/>
                <a:cs typeface="Roboto"/>
              </a:rPr>
              <a:t>Dog</a:t>
            </a:r>
            <a:r>
              <a:rPr sz="1400" spc="-50">
                <a:latin typeface="Roboto"/>
                <a:cs typeface="Roboto"/>
              </a:rPr>
              <a:t> 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extends</a:t>
            </a:r>
            <a:r>
              <a:rPr sz="1400" b="1" spc="-5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Animal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18923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4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bark()</a:t>
            </a:r>
            <a:endParaRPr sz="1400">
              <a:latin typeface="Roboto"/>
              <a:cs typeface="Roboto"/>
            </a:endParaRPr>
          </a:p>
          <a:p>
            <a:pPr marL="18796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275590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Roboto"/>
                <a:cs typeface="Roboto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Roboto"/>
                <a:cs typeface="Roboto"/>
              </a:rPr>
              <a:t>"barking..."</a:t>
            </a:r>
            <a:r>
              <a:rPr sz="1400" spc="-10">
                <a:latin typeface="Roboto"/>
                <a:cs typeface="Roboto"/>
              </a:rPr>
              <a:t>);</a:t>
            </a:r>
            <a:endParaRPr sz="1400">
              <a:latin typeface="Roboto"/>
              <a:cs typeface="Roboto"/>
            </a:endParaRPr>
          </a:p>
          <a:p>
            <a:pPr marL="231775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5550" y="1514071"/>
            <a:ext cx="3343910" cy="19989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6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5">
                <a:latin typeface="Roboto"/>
                <a:cs typeface="Roboto"/>
              </a:rPr>
              <a:t>BabyDog</a:t>
            </a:r>
            <a:r>
              <a:rPr sz="1600" spc="-45"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extends</a:t>
            </a:r>
            <a:r>
              <a:rPr sz="16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5">
                <a:latin typeface="Roboto"/>
                <a:cs typeface="Roboto"/>
              </a:rPr>
              <a:t>Dog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6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weep()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spc="-25">
                <a:latin typeface="Roboto"/>
                <a:cs typeface="Roboto"/>
              </a:rPr>
              <a:t>System.out.println(</a:t>
            </a:r>
            <a:r>
              <a:rPr sz="1600" spc="-25">
                <a:solidFill>
                  <a:srgbClr val="0000FF"/>
                </a:solidFill>
                <a:latin typeface="Roboto"/>
                <a:cs typeface="Roboto"/>
              </a:rPr>
              <a:t>"weeping..."</a:t>
            </a:r>
            <a:r>
              <a:rPr sz="1600" spc="-25">
                <a:latin typeface="Roboto"/>
                <a:cs typeface="Roboto"/>
              </a:rPr>
              <a:t>);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96944"/>
            <a:ext cx="3506470" cy="402590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7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7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700" spc="-10">
                <a:latin typeface="Roboto"/>
                <a:cs typeface="Roboto"/>
              </a:rPr>
              <a:t>TestInheritance2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700" spc="-50">
                <a:latin typeface="Roboto"/>
                <a:cs typeface="Roboto"/>
              </a:rPr>
              <a:t>{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7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7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7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7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7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7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700" spc="-20">
                <a:latin typeface="Roboto"/>
                <a:cs typeface="Roboto"/>
              </a:rPr>
              <a:t>main(String</a:t>
            </a:r>
            <a:r>
              <a:rPr sz="1700" spc="-60">
                <a:latin typeface="Roboto"/>
                <a:cs typeface="Roboto"/>
              </a:rPr>
              <a:t> </a:t>
            </a:r>
            <a:r>
              <a:rPr sz="1700" spc="-10">
                <a:latin typeface="Roboto"/>
                <a:cs typeface="Roboto"/>
              </a:rPr>
              <a:t>args[])</a:t>
            </a:r>
            <a:endParaRPr sz="17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700" spc="-50">
                <a:latin typeface="Roboto"/>
                <a:cs typeface="Roboto"/>
              </a:rPr>
              <a:t>{</a:t>
            </a:r>
            <a:endParaRPr sz="1700">
              <a:latin typeface="Roboto"/>
              <a:cs typeface="Roboto"/>
            </a:endParaRPr>
          </a:p>
          <a:p>
            <a:pPr marL="469900" marR="372110">
              <a:lnSpc>
                <a:spcPct val="154400"/>
              </a:lnSpc>
            </a:pPr>
            <a:r>
              <a:rPr sz="1700" spc="-25">
                <a:latin typeface="Roboto"/>
                <a:cs typeface="Roboto"/>
              </a:rPr>
              <a:t>BabyDog</a:t>
            </a:r>
            <a:r>
              <a:rPr sz="1700" spc="-55">
                <a:latin typeface="Roboto"/>
                <a:cs typeface="Roboto"/>
              </a:rPr>
              <a:t> </a:t>
            </a:r>
            <a:r>
              <a:rPr sz="1700">
                <a:latin typeface="Roboto"/>
                <a:cs typeface="Roboto"/>
              </a:rPr>
              <a:t>d=</a:t>
            </a:r>
            <a:r>
              <a:rPr sz="17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7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700" spc="-10">
                <a:latin typeface="Roboto"/>
                <a:cs typeface="Roboto"/>
              </a:rPr>
              <a:t>BabyDog(); d.weep();</a:t>
            </a:r>
            <a:endParaRPr sz="17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700" spc="-10">
                <a:latin typeface="Roboto"/>
                <a:cs typeface="Roboto"/>
              </a:rPr>
              <a:t>d.bark();</a:t>
            </a:r>
            <a:endParaRPr sz="17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700" spc="-10">
                <a:latin typeface="Roboto"/>
                <a:cs typeface="Roboto"/>
              </a:rPr>
              <a:t>d.eat();</a:t>
            </a:r>
            <a:endParaRPr sz="17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700" spc="-50">
                <a:latin typeface="Roboto"/>
                <a:cs typeface="Roboto"/>
              </a:rPr>
              <a:t>}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700" spc="-50">
                <a:latin typeface="Roboto"/>
                <a:cs typeface="Roboto"/>
              </a:rPr>
              <a:t>}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575" y="174099"/>
            <a:ext cx="42538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>
                <a:latin typeface="Arial"/>
                <a:cs typeface="Arial"/>
              </a:rPr>
              <a:t>Method</a:t>
            </a:r>
            <a:r>
              <a:rPr sz="2500" b="1" spc="-90">
                <a:latin typeface="Arial"/>
                <a:cs typeface="Arial"/>
              </a:rPr>
              <a:t> </a:t>
            </a:r>
            <a:r>
              <a:rPr sz="2500" b="1" spc="-10">
                <a:latin typeface="Arial"/>
                <a:cs typeface="Arial"/>
              </a:rPr>
              <a:t>Overloading</a:t>
            </a:r>
            <a:r>
              <a:rPr sz="2500" b="1" spc="-90">
                <a:latin typeface="Arial"/>
                <a:cs typeface="Arial"/>
              </a:rPr>
              <a:t> </a:t>
            </a:r>
            <a:r>
              <a:rPr sz="2500" b="1">
                <a:latin typeface="Arial"/>
                <a:cs typeface="Arial"/>
              </a:rPr>
              <a:t>in</a:t>
            </a:r>
            <a:r>
              <a:rPr sz="2500" b="1" spc="-80">
                <a:latin typeface="Arial"/>
                <a:cs typeface="Arial"/>
              </a:rPr>
              <a:t> </a:t>
            </a:r>
            <a:r>
              <a:rPr sz="2500" b="1" spc="-20">
                <a:latin typeface="Arial"/>
                <a:cs typeface="Arial"/>
              </a:rPr>
              <a:t>Java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900" y="1086273"/>
            <a:ext cx="8371840" cy="368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336550">
              <a:lnSpc>
                <a:spcPct val="116100"/>
              </a:lnSpc>
              <a:spcBef>
                <a:spcPts val="100"/>
              </a:spcBef>
              <a:buFont typeface="Arial MT"/>
              <a:buChar char="●"/>
              <a:tabLst>
                <a:tab pos="469900"/>
              </a:tabLst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If</a:t>
            </a:r>
            <a:r>
              <a:rPr sz="14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  <a:hlinkClick r:id="rId2"/>
              </a:rPr>
              <a:t>class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has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multiple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methods</a:t>
            </a:r>
            <a:r>
              <a:rPr sz="14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having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same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name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but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different</a:t>
            </a:r>
            <a:r>
              <a:rPr sz="1400" spc="2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parameters,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known</a:t>
            </a:r>
            <a:r>
              <a:rPr sz="1400" spc="2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as</a:t>
            </a:r>
            <a:r>
              <a:rPr sz="1400" spc="29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222222"/>
                </a:solidFill>
                <a:latin typeface="Times New Roman"/>
                <a:cs typeface="Times New Roman"/>
              </a:rPr>
              <a:t>Method Overloading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69900" marR="5080" indent="-336550">
              <a:lnSpc>
                <a:spcPct val="116100"/>
              </a:lnSpc>
              <a:buFont typeface="Arial MT"/>
              <a:buChar char="●"/>
              <a:tabLst>
                <a:tab pos="469900"/>
              </a:tabLst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If</a:t>
            </a:r>
            <a:r>
              <a:rPr sz="1400" spc="5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we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have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perform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only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one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operation,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having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same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name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methods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increases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readability</a:t>
            </a:r>
            <a:r>
              <a:rPr sz="1400" spc="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400" spc="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the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  <a:hlinkClick r:id="rId3"/>
              </a:rPr>
              <a:t>program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Advantage</a:t>
            </a:r>
            <a:r>
              <a:rPr sz="1600" b="1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600" b="1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method</a:t>
            </a:r>
            <a:r>
              <a:rPr sz="1600" b="1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 spc="-10">
                <a:solidFill>
                  <a:srgbClr val="222222"/>
                </a:solidFill>
                <a:latin typeface="Times New Roman"/>
                <a:cs typeface="Times New Roman"/>
              </a:rPr>
              <a:t>overloading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Method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overloading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increases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readability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program.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600" b="1" spc="-10">
                <a:solidFill>
                  <a:srgbClr val="222222"/>
                </a:solidFill>
                <a:latin typeface="Times New Roman"/>
                <a:cs typeface="Times New Roman"/>
              </a:rPr>
              <a:t>Different</a:t>
            </a:r>
            <a:r>
              <a:rPr sz="1600" b="1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ways</a:t>
            </a:r>
            <a:r>
              <a:rPr sz="1600" b="1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600" b="1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overload</a:t>
            </a:r>
            <a:r>
              <a:rPr sz="1600" b="1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600" b="1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 spc="-10">
                <a:solidFill>
                  <a:srgbClr val="222222"/>
                </a:solidFill>
                <a:latin typeface="Times New Roman"/>
                <a:cs typeface="Times New Roman"/>
              </a:rPr>
              <a:t>method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There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are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two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ways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overload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method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java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buAutoNum type="arabicPeriod"/>
              <a:tabLst>
                <a:tab pos="469265"/>
              </a:tabLst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By</a:t>
            </a:r>
            <a:r>
              <a:rPr sz="15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changing</a:t>
            </a:r>
            <a:r>
              <a:rPr sz="15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number of</a:t>
            </a:r>
            <a:r>
              <a:rPr sz="15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arguments</a:t>
            </a:r>
            <a:endParaRPr sz="15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469265"/>
              </a:tabLst>
            </a:pP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By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changing</a:t>
            </a:r>
            <a:r>
              <a:rPr sz="15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22222"/>
                </a:solidFill>
                <a:latin typeface="Times New Roman"/>
                <a:cs typeface="Times New Roman"/>
              </a:rPr>
              <a:t>data</a:t>
            </a:r>
            <a:r>
              <a:rPr sz="15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22222"/>
                </a:solidFill>
                <a:latin typeface="Times New Roman"/>
                <a:cs typeface="Times New Roman"/>
              </a:rPr>
              <a:t>type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696425" y="358536"/>
            <a:ext cx="2622550" cy="31686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6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Adder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6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add(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a,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5">
                <a:latin typeface="Roboto"/>
                <a:cs typeface="Roboto"/>
              </a:rPr>
              <a:t>b)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6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0">
                <a:latin typeface="Roboto"/>
                <a:cs typeface="Roboto"/>
              </a:rPr>
              <a:t>a+b;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add(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a,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b,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7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5">
                <a:latin typeface="Roboto"/>
                <a:cs typeface="Roboto"/>
              </a:rPr>
              <a:t>c)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6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a+b+c;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61500" y="362346"/>
            <a:ext cx="2131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600" b="1" spc="-9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000000"/>
                </a:solidFill>
                <a:latin typeface="Roboto"/>
                <a:cs typeface="Roboto"/>
              </a:rPr>
              <a:t>TestOverloading1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1500" y="606187"/>
            <a:ext cx="4135120" cy="19989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6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6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6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0">
                <a:latin typeface="Roboto"/>
                <a:cs typeface="Roboto"/>
              </a:rPr>
              <a:t>main(String[]</a:t>
            </a:r>
            <a:r>
              <a:rPr sz="1600" spc="-30"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args)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 marR="5080">
              <a:lnSpc>
                <a:spcPct val="115599"/>
              </a:lnSpc>
            </a:pPr>
            <a:r>
              <a:rPr sz="1600" spc="-10">
                <a:latin typeface="Roboto"/>
                <a:cs typeface="Roboto"/>
              </a:rPr>
              <a:t>System.out.println(Adder.add(</a:t>
            </a:r>
            <a:r>
              <a:rPr sz="1600" spc="-1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600" spc="-10">
                <a:latin typeface="Roboto"/>
                <a:cs typeface="Roboto"/>
              </a:rPr>
              <a:t>,</a:t>
            </a:r>
            <a:r>
              <a:rPr sz="1600" spc="-1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600" spc="-10">
                <a:latin typeface="Roboto"/>
                <a:cs typeface="Roboto"/>
              </a:rPr>
              <a:t>)); </a:t>
            </a:r>
            <a:r>
              <a:rPr sz="1600" spc="-20">
                <a:latin typeface="Roboto"/>
                <a:cs typeface="Roboto"/>
              </a:rPr>
              <a:t>System.out.println(Adder.add(</a:t>
            </a:r>
            <a:r>
              <a:rPr sz="1600" spc="-2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600" spc="-20">
                <a:latin typeface="Roboto"/>
                <a:cs typeface="Roboto"/>
              </a:rPr>
              <a:t>,</a:t>
            </a:r>
            <a:r>
              <a:rPr sz="1600" spc="-2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600" spc="-20">
                <a:latin typeface="Roboto"/>
                <a:cs typeface="Roboto"/>
              </a:rPr>
              <a:t>,</a:t>
            </a:r>
            <a:r>
              <a:rPr sz="1600" spc="-2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600" spc="-20">
                <a:latin typeface="Roboto"/>
                <a:cs typeface="Roboto"/>
              </a:rPr>
              <a:t>));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9400" y="3957130"/>
            <a:ext cx="861694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sz="1500" b="1">
                <a:latin typeface="Roboto"/>
                <a:cs typeface="Roboto"/>
              </a:rPr>
              <a:t>OUTPUT</a:t>
            </a:r>
            <a:r>
              <a:rPr sz="1500" b="1" spc="-15">
                <a:latin typeface="Roboto"/>
                <a:cs typeface="Roboto"/>
              </a:rPr>
              <a:t> </a:t>
            </a:r>
            <a:r>
              <a:rPr sz="1500" b="1" spc="-50">
                <a:latin typeface="Roboto"/>
                <a:cs typeface="Roboto"/>
              </a:rPr>
              <a:t>: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ts val="2390"/>
              </a:lnSpc>
            </a:pPr>
            <a:r>
              <a:rPr sz="2000" b="1" spc="-25">
                <a:solidFill>
                  <a:srgbClr val="222222"/>
                </a:solidFill>
                <a:latin typeface="Times New Roman"/>
                <a:cs typeface="Times New Roman"/>
              </a:rPr>
              <a:t>22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5">
                <a:solidFill>
                  <a:srgbClr val="222222"/>
                </a:solidFill>
                <a:latin typeface="Times New Roman"/>
                <a:cs typeface="Times New Roman"/>
              </a:rPr>
              <a:t>33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66936"/>
            <a:ext cx="3394710" cy="4216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6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Adder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6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add(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a,</a:t>
            </a:r>
            <a:r>
              <a:rPr sz="1600" spc="-55"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6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5">
                <a:latin typeface="Roboto"/>
                <a:cs typeface="Roboto"/>
              </a:rPr>
              <a:t>b)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6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0">
                <a:latin typeface="Roboto"/>
                <a:cs typeface="Roboto"/>
              </a:rPr>
              <a:t>a+b;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6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double</a:t>
            </a:r>
            <a:r>
              <a:rPr sz="16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add(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double</a:t>
            </a:r>
            <a:r>
              <a:rPr sz="16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>
                <a:latin typeface="Roboto"/>
                <a:cs typeface="Roboto"/>
              </a:rPr>
              <a:t>a,</a:t>
            </a:r>
            <a:r>
              <a:rPr sz="1600" spc="-40">
                <a:latin typeface="Roboto"/>
                <a:cs typeface="Roboto"/>
              </a:rPr>
              <a:t> </a:t>
            </a: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double</a:t>
            </a:r>
            <a:r>
              <a:rPr sz="16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35">
                <a:latin typeface="Roboto"/>
                <a:cs typeface="Roboto"/>
              </a:rPr>
              <a:t>b)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6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20">
                <a:latin typeface="Roboto"/>
                <a:cs typeface="Roboto"/>
              </a:rPr>
              <a:t>a+b;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33150" y="350454"/>
            <a:ext cx="3691254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5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TestOverloading2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5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5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0">
                <a:latin typeface="Roboto"/>
                <a:cs typeface="Roboto"/>
              </a:rPr>
              <a:t>main(String[]</a:t>
            </a:r>
            <a:r>
              <a:rPr sz="1500" spc="-45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args)</a:t>
            </a:r>
            <a:endParaRPr sz="15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31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469900" marR="5080" algn="just">
              <a:lnSpc>
                <a:spcPct val="164600"/>
              </a:lnSpc>
              <a:spcBef>
                <a:spcPts val="150"/>
              </a:spcBef>
            </a:pPr>
            <a:r>
              <a:rPr sz="1500" spc="-10">
                <a:latin typeface="Roboto"/>
                <a:cs typeface="Roboto"/>
              </a:rPr>
              <a:t>System.out.println(Adder.add(</a:t>
            </a:r>
            <a:r>
              <a:rPr sz="1500" spc="-1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500" spc="-10">
                <a:latin typeface="Roboto"/>
                <a:cs typeface="Roboto"/>
              </a:rPr>
              <a:t>,</a:t>
            </a:r>
            <a:r>
              <a:rPr sz="1500" spc="-10">
                <a:solidFill>
                  <a:srgbClr val="C00000"/>
                </a:solidFill>
                <a:latin typeface="Roboto"/>
                <a:cs typeface="Roboto"/>
              </a:rPr>
              <a:t>11</a:t>
            </a:r>
            <a:r>
              <a:rPr sz="1500" spc="-10">
                <a:latin typeface="Roboto"/>
                <a:cs typeface="Roboto"/>
              </a:rPr>
              <a:t>)); </a:t>
            </a:r>
            <a:r>
              <a:rPr sz="1500" spc="-20">
                <a:latin typeface="Roboto"/>
                <a:cs typeface="Roboto"/>
              </a:rPr>
              <a:t>System.out.println(Adder.add(</a:t>
            </a:r>
            <a:r>
              <a:rPr sz="1500" spc="-20">
                <a:solidFill>
                  <a:srgbClr val="C00000"/>
                </a:solidFill>
                <a:latin typeface="Roboto"/>
                <a:cs typeface="Roboto"/>
              </a:rPr>
              <a:t>12.3</a:t>
            </a:r>
            <a:r>
              <a:rPr sz="1500" spc="-20">
                <a:latin typeface="Roboto"/>
                <a:cs typeface="Roboto"/>
              </a:rPr>
              <a:t>,</a:t>
            </a:r>
            <a:r>
              <a:rPr sz="1500" spc="-20">
                <a:solidFill>
                  <a:srgbClr val="C00000"/>
                </a:solidFill>
                <a:latin typeface="Roboto"/>
                <a:cs typeface="Roboto"/>
              </a:rPr>
              <a:t>12. 6</a:t>
            </a:r>
            <a:r>
              <a:rPr sz="1500" spc="-20">
                <a:latin typeface="Roboto"/>
                <a:cs typeface="Roboto"/>
              </a:rPr>
              <a:t>));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0350" y="3079367"/>
            <a:ext cx="90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3150" y="3474654"/>
            <a:ext cx="90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7175" y="3061199"/>
            <a:ext cx="134620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222222"/>
                </a:solidFill>
                <a:latin typeface="Times New Roman"/>
                <a:cs typeface="Times New Roman"/>
              </a:rPr>
              <a:t>OUTPUT</a:t>
            </a:r>
            <a:r>
              <a:rPr sz="2200" b="1" spc="-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200" b="1" spc="-50">
                <a:solidFill>
                  <a:srgbClr val="222222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25">
                <a:solidFill>
                  <a:srgbClr val="222222"/>
                </a:solidFill>
                <a:latin typeface="Times New Roman"/>
                <a:cs typeface="Times New Roman"/>
              </a:rPr>
              <a:t>22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7175" y="3702295"/>
            <a:ext cx="469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>
                <a:solidFill>
                  <a:srgbClr val="222222"/>
                </a:solidFill>
                <a:latin typeface="Times New Roman"/>
                <a:cs typeface="Times New Roman"/>
              </a:rPr>
              <a:t>24.9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1291234" y="3613086"/>
            <a:ext cx="6784340" cy="657225"/>
          </a:xfrm>
          <a:custGeom>
            <a:rect l="l" t="t" r="r" b="b"/>
            <a:pathLst>
              <a:path w="6784340" h="657225">
                <a:moveTo>
                  <a:pt x="6473711" y="0"/>
                </a:moveTo>
                <a:lnTo>
                  <a:pt x="0" y="0"/>
                </a:lnTo>
                <a:lnTo>
                  <a:pt x="0" y="304800"/>
                </a:lnTo>
                <a:lnTo>
                  <a:pt x="6473711" y="304800"/>
                </a:lnTo>
                <a:lnTo>
                  <a:pt x="6473711" y="0"/>
                </a:lnTo>
                <a:close/>
              </a:path>
              <a:path w="6784340" h="657225">
                <a:moveTo>
                  <a:pt x="6783806" y="352425"/>
                </a:moveTo>
                <a:lnTo>
                  <a:pt x="0" y="352425"/>
                </a:lnTo>
                <a:lnTo>
                  <a:pt x="0" y="657225"/>
                </a:lnTo>
                <a:lnTo>
                  <a:pt x="6783806" y="657225"/>
                </a:lnTo>
                <a:lnTo>
                  <a:pt x="6783806" y="3524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8250" y="161999"/>
            <a:ext cx="19050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solidFill>
                  <a:srgbClr val="222222"/>
                </a:solidFill>
                <a:latin typeface="Times New Roman"/>
                <a:cs typeface="Times New Roman"/>
              </a:rPr>
              <a:t>Super</a:t>
            </a:r>
            <a:r>
              <a:rPr b="1" spc="-1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b="1" spc="-10">
                <a:solidFill>
                  <a:srgbClr val="222222"/>
                </a:solidFill>
                <a:latin typeface="Times New Roman"/>
                <a:cs typeface="Times New Roman"/>
              </a:rPr>
              <a:t>Keyword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8542" y="723189"/>
            <a:ext cx="6807834" cy="39020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1795" indent="-379095" algn="just">
              <a:lnSpc>
                <a:spcPct val="100000"/>
              </a:lnSpc>
              <a:spcBef>
                <a:spcPts val="475"/>
              </a:spcBef>
              <a:buFont typeface="Arial MT"/>
              <a:buChar char="●"/>
              <a:tabLst>
                <a:tab pos="39179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20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222222"/>
                </a:solidFill>
                <a:latin typeface="Times New Roman"/>
                <a:cs typeface="Times New Roman"/>
              </a:rPr>
              <a:t>super</a:t>
            </a:r>
            <a:r>
              <a:rPr sz="2000" b="1" spc="-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222222"/>
                </a:solidFill>
                <a:latin typeface="Times New Roman"/>
                <a:cs typeface="Times New Roman"/>
              </a:rPr>
              <a:t>keyword</a:t>
            </a:r>
            <a:r>
              <a:rPr sz="2000" b="1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refers</a:t>
            </a:r>
            <a:r>
              <a:rPr sz="20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superclass</a:t>
            </a:r>
            <a:r>
              <a:rPr sz="20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(parent)</a:t>
            </a:r>
            <a:r>
              <a:rPr sz="20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objects.</a:t>
            </a:r>
            <a:endParaRPr sz="2000">
              <a:latin typeface="Times New Roman"/>
              <a:cs typeface="Times New Roman"/>
            </a:endParaRPr>
          </a:p>
          <a:p>
            <a:pPr marL="391160" marR="5080" indent="-379095" algn="just">
              <a:lnSpc>
                <a:spcPct val="115599"/>
              </a:lnSpc>
              <a:buFont typeface="Arial MT"/>
              <a:buChar char="●"/>
              <a:tabLst>
                <a:tab pos="39433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It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2000" spc="11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call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superclass</a:t>
            </a:r>
            <a:r>
              <a:rPr sz="2000" spc="11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methods,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2000" spc="11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10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access</a:t>
            </a:r>
            <a:r>
              <a:rPr sz="2000" spc="11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 spc="-25">
                <a:solidFill>
                  <a:srgbClr val="222222"/>
                </a:solidFill>
                <a:latin typeface="Times New Roman"/>
                <a:cs typeface="Times New Roman"/>
              </a:rPr>
              <a:t>the 	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superclass</a:t>
            </a:r>
            <a:r>
              <a:rPr sz="20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constructor.</a:t>
            </a:r>
            <a:endParaRPr sz="2000">
              <a:latin typeface="Times New Roman"/>
              <a:cs typeface="Times New Roman"/>
            </a:endParaRPr>
          </a:p>
          <a:p>
            <a:pPr marL="391160" marR="5080" indent="-379095" algn="just">
              <a:lnSpc>
                <a:spcPct val="115599"/>
              </a:lnSpc>
              <a:buFont typeface="Arial MT"/>
              <a:buChar char="●"/>
              <a:tabLst>
                <a:tab pos="39433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2000" spc="1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most</a:t>
            </a:r>
            <a:r>
              <a:rPr sz="2000" spc="1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common</a:t>
            </a:r>
            <a:r>
              <a:rPr sz="2000" spc="1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222222"/>
                </a:solidFill>
                <a:latin typeface="Times New Roman"/>
                <a:cs typeface="Times New Roman"/>
              </a:rPr>
              <a:t>use</a:t>
            </a:r>
            <a:r>
              <a:rPr sz="2000" b="1" spc="1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2000" spc="1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2000" spc="1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222222"/>
                </a:solidFill>
                <a:latin typeface="Times New Roman"/>
                <a:cs typeface="Times New Roman"/>
              </a:rPr>
              <a:t>super</a:t>
            </a:r>
            <a:r>
              <a:rPr sz="2000" b="1" spc="1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222222"/>
                </a:solidFill>
                <a:latin typeface="Times New Roman"/>
                <a:cs typeface="Times New Roman"/>
              </a:rPr>
              <a:t>keyword</a:t>
            </a:r>
            <a:r>
              <a:rPr sz="2000" b="1" spc="1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is</a:t>
            </a:r>
            <a:r>
              <a:rPr sz="2000" spc="1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1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eliminate 	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2000" spc="2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confusion</a:t>
            </a:r>
            <a:r>
              <a:rPr sz="2000" spc="2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between</a:t>
            </a:r>
            <a:r>
              <a:rPr sz="2000" spc="2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superclasses</a:t>
            </a:r>
            <a:r>
              <a:rPr sz="2000" spc="2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2000" spc="2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subclasses</a:t>
            </a:r>
            <a:r>
              <a:rPr sz="2000" spc="2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that</a:t>
            </a:r>
            <a:r>
              <a:rPr sz="2000" spc="2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20">
                <a:solidFill>
                  <a:srgbClr val="222222"/>
                </a:solidFill>
                <a:latin typeface="Times New Roman"/>
                <a:cs typeface="Times New Roman"/>
              </a:rPr>
              <a:t>have 	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methods</a:t>
            </a:r>
            <a:r>
              <a:rPr sz="20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with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the</a:t>
            </a:r>
            <a:r>
              <a:rPr sz="20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same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name.</a:t>
            </a:r>
            <a:endParaRPr sz="2000">
              <a:latin typeface="Times New Roman"/>
              <a:cs typeface="Times New Roman"/>
            </a:endParaRPr>
          </a:p>
          <a:p>
            <a:pPr marL="391160" marR="6985" indent="-379095" algn="just">
              <a:lnSpc>
                <a:spcPct val="115599"/>
              </a:lnSpc>
              <a:buFont typeface="Arial MT"/>
              <a:buChar char="●"/>
              <a:tabLst>
                <a:tab pos="39433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</a:t>
            </a:r>
            <a:r>
              <a:rPr sz="2000" spc="4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can</a:t>
            </a:r>
            <a:r>
              <a:rPr sz="2000" spc="4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be</a:t>
            </a:r>
            <a:r>
              <a:rPr sz="2000" spc="434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2000" spc="4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434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refer</a:t>
            </a:r>
            <a:r>
              <a:rPr sz="2000" spc="4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immediate</a:t>
            </a:r>
            <a:r>
              <a:rPr sz="2000" spc="434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parent</a:t>
            </a:r>
            <a:r>
              <a:rPr sz="2000" spc="4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class</a:t>
            </a:r>
            <a:r>
              <a:rPr sz="2000" spc="434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instance 	variable.</a:t>
            </a:r>
            <a:endParaRPr sz="2000">
              <a:latin typeface="Times New Roman"/>
              <a:cs typeface="Times New Roman"/>
            </a:endParaRPr>
          </a:p>
          <a:p>
            <a:pPr marL="391795" indent="-379095" algn="just">
              <a:lnSpc>
                <a:spcPct val="100000"/>
              </a:lnSpc>
              <a:spcBef>
                <a:spcPts val="375"/>
              </a:spcBef>
              <a:buFont typeface="Arial MT"/>
              <a:buChar char="●"/>
              <a:tabLst>
                <a:tab pos="39179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</a:t>
            </a:r>
            <a:r>
              <a:rPr sz="20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can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be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invoke</a:t>
            </a:r>
            <a:r>
              <a:rPr sz="20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immediate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parent</a:t>
            </a:r>
            <a:r>
              <a:rPr sz="20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class</a:t>
            </a:r>
            <a:r>
              <a:rPr sz="20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method.</a:t>
            </a:r>
            <a:endParaRPr sz="2000">
              <a:latin typeface="Times New Roman"/>
              <a:cs typeface="Times New Roman"/>
            </a:endParaRPr>
          </a:p>
          <a:p>
            <a:pPr marL="391160" marR="7620" indent="-379095" algn="just">
              <a:lnSpc>
                <a:spcPct val="115599"/>
              </a:lnSpc>
              <a:buFont typeface="Arial MT"/>
              <a:buChar char="●"/>
              <a:tabLst>
                <a:tab pos="394335"/>
              </a:tabLst>
            </a:pP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super()</a:t>
            </a:r>
            <a:r>
              <a:rPr sz="2000" spc="24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can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be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used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invoke</a:t>
            </a:r>
            <a:r>
              <a:rPr sz="2000" spc="245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immediate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222222"/>
                </a:solidFill>
                <a:latin typeface="Times New Roman"/>
                <a:cs typeface="Times New Roman"/>
              </a:rPr>
              <a:t>parent</a:t>
            </a:r>
            <a:r>
              <a:rPr sz="2000" spc="250">
                <a:solidFill>
                  <a:srgbClr val="222222"/>
                </a:solidFill>
                <a:latin typeface="Times New Roman"/>
                <a:cs typeface="Times New Roman"/>
              </a:rPr>
              <a:t>  </a:t>
            </a:r>
            <a:r>
              <a:rPr sz="2000" spc="-10">
                <a:solidFill>
                  <a:srgbClr val="222222"/>
                </a:solidFill>
                <a:latin typeface="Times New Roman"/>
                <a:cs typeface="Times New Roman"/>
              </a:rPr>
              <a:t>class 	constructor.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59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0"/>
              </a:spcBef>
            </a:pPr>
            <a:r>
              <a:rPr sz="1900"/>
              <a:t>1)</a:t>
            </a:r>
            <a:r>
              <a:rPr sz="1900" spc="-55"/>
              <a:t> </a:t>
            </a:r>
            <a:r>
              <a:rPr sz="1900"/>
              <a:t>super</a:t>
            </a:r>
            <a:r>
              <a:rPr sz="1900" spc="-50"/>
              <a:t> </a:t>
            </a:r>
            <a:r>
              <a:rPr sz="1900"/>
              <a:t>is</a:t>
            </a:r>
            <a:r>
              <a:rPr sz="1900" spc="-50"/>
              <a:t> </a:t>
            </a:r>
            <a:r>
              <a:rPr sz="1900"/>
              <a:t>used</a:t>
            </a:r>
            <a:r>
              <a:rPr sz="1900" spc="-50"/>
              <a:t> </a:t>
            </a:r>
            <a:r>
              <a:rPr sz="1900"/>
              <a:t>to</a:t>
            </a:r>
            <a:r>
              <a:rPr sz="1900" spc="-55"/>
              <a:t> </a:t>
            </a:r>
            <a:r>
              <a:rPr sz="1900"/>
              <a:t>refer</a:t>
            </a:r>
            <a:r>
              <a:rPr sz="1900" spc="-50"/>
              <a:t> </a:t>
            </a:r>
            <a:r>
              <a:rPr sz="1900" spc="-10"/>
              <a:t>immediate</a:t>
            </a:r>
            <a:r>
              <a:rPr sz="1900" spc="-50"/>
              <a:t> </a:t>
            </a:r>
            <a:r>
              <a:rPr sz="1900"/>
              <a:t>parent</a:t>
            </a:r>
            <a:r>
              <a:rPr sz="1900" spc="-50"/>
              <a:t> </a:t>
            </a:r>
            <a:r>
              <a:rPr sz="1900"/>
              <a:t>class</a:t>
            </a:r>
            <a:r>
              <a:rPr sz="1900" spc="-55"/>
              <a:t> </a:t>
            </a:r>
            <a:r>
              <a:rPr sz="1900"/>
              <a:t>instance</a:t>
            </a:r>
            <a:r>
              <a:rPr sz="1900" spc="-50"/>
              <a:t> </a:t>
            </a:r>
            <a:r>
              <a:rPr sz="1900" spc="-10"/>
              <a:t>variable.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1002318" y="1625238"/>
            <a:ext cx="7387590" cy="66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We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super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access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data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member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or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field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parent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class.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167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if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parent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child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same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fields.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376825" y="193672"/>
            <a:ext cx="5560695" cy="39878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>
                <a:latin typeface="Verdana"/>
                <a:cs typeface="Verdana"/>
              </a:rPr>
              <a:t>String</a:t>
            </a:r>
            <a:r>
              <a:rPr sz="1400" spc="-7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color=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"white"</a:t>
            </a:r>
            <a:r>
              <a:rPr sz="1400" spc="-10">
                <a:latin typeface="Verdana"/>
                <a:cs typeface="Verdana"/>
              </a:rPr>
              <a:t>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 marR="2987040">
              <a:lnSpc>
                <a:spcPct val="116100"/>
              </a:lnSpc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Dog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Animal{ </a:t>
            </a:r>
            <a:r>
              <a:rPr sz="1400">
                <a:latin typeface="Verdana"/>
                <a:cs typeface="Verdana"/>
              </a:rPr>
              <a:t>String</a:t>
            </a:r>
            <a:r>
              <a:rPr sz="1400" spc="-7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color=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"black"</a:t>
            </a:r>
            <a:r>
              <a:rPr sz="1400" spc="-10">
                <a:latin typeface="Verdana"/>
                <a:cs typeface="Verdana"/>
              </a:rPr>
              <a:t>;</a:t>
            </a:r>
            <a:endParaRPr sz="1400">
              <a:latin typeface="Verdana"/>
              <a:cs typeface="Verdana"/>
            </a:endParaRPr>
          </a:p>
          <a:p>
            <a:pPr marL="12700" marR="887094">
              <a:lnSpc>
                <a:spcPct val="116100"/>
              </a:lnSpc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printColor(){</a:t>
            </a:r>
            <a:r>
              <a:rPr sz="1400" spc="50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System.out.println(color);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//prints</a:t>
            </a:r>
            <a:r>
              <a:rPr sz="1400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color</a:t>
            </a:r>
            <a:r>
              <a:rPr sz="1400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of</a:t>
            </a:r>
            <a:r>
              <a:rPr sz="1400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Dog</a:t>
            </a:r>
            <a:r>
              <a:rPr sz="1400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class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super</a:t>
            </a:r>
            <a:r>
              <a:rPr sz="1400" spc="-10">
                <a:latin typeface="Verdana"/>
                <a:cs typeface="Verdana"/>
              </a:rPr>
              <a:t>.color);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//prints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color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of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Animal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class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TestSuper1{</a:t>
            </a:r>
            <a:endParaRPr sz="1400">
              <a:latin typeface="Verdana"/>
              <a:cs typeface="Verdana"/>
            </a:endParaRPr>
          </a:p>
          <a:p>
            <a:pPr marL="12700" marR="1913889">
              <a:lnSpc>
                <a:spcPct val="116100"/>
              </a:lnSpc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main(String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args[]){ </a:t>
            </a:r>
            <a:r>
              <a:rPr sz="1400">
                <a:latin typeface="Verdana"/>
                <a:cs typeface="Verdana"/>
              </a:rPr>
              <a:t>Dog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d=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Dog();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spc="-10">
                <a:latin typeface="Verdana"/>
                <a:cs typeface="Verdana"/>
              </a:rPr>
              <a:t>d.printColor();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343" rIns="0" bIns="0" rtlCol="0">
            <a:spAutoFit/>
          </a:bodyPr>
          <a:lstStyle/>
          <a:p>
            <a:pPr marL="942340">
              <a:lnSpc>
                <a:spcPct val="100000"/>
              </a:lnSpc>
              <a:spcBef>
                <a:spcPts val="100"/>
              </a:spcBef>
            </a:pPr>
            <a:r>
              <a:rPr sz="2100"/>
              <a:t>2)</a:t>
            </a:r>
            <a:r>
              <a:rPr sz="2100" spc="-25"/>
              <a:t> </a:t>
            </a:r>
            <a:r>
              <a:rPr sz="2100"/>
              <a:t>super</a:t>
            </a:r>
            <a:r>
              <a:rPr sz="2100" spc="-15"/>
              <a:t> </a:t>
            </a:r>
            <a:r>
              <a:rPr sz="2100"/>
              <a:t>can</a:t>
            </a:r>
            <a:r>
              <a:rPr sz="2100" spc="-15"/>
              <a:t> </a:t>
            </a:r>
            <a:r>
              <a:rPr sz="2100"/>
              <a:t>be</a:t>
            </a:r>
            <a:r>
              <a:rPr sz="2100" spc="-15"/>
              <a:t> </a:t>
            </a:r>
            <a:r>
              <a:rPr sz="2100"/>
              <a:t>used</a:t>
            </a:r>
            <a:r>
              <a:rPr sz="2100" spc="-15"/>
              <a:t> </a:t>
            </a:r>
            <a:r>
              <a:rPr sz="2100"/>
              <a:t>to</a:t>
            </a:r>
            <a:r>
              <a:rPr sz="2100" spc="-15"/>
              <a:t> </a:t>
            </a:r>
            <a:r>
              <a:rPr sz="2100"/>
              <a:t>invoke</a:t>
            </a:r>
            <a:r>
              <a:rPr sz="2100" spc="-15"/>
              <a:t> </a:t>
            </a:r>
            <a:r>
              <a:rPr sz="2100"/>
              <a:t>parent</a:t>
            </a:r>
            <a:r>
              <a:rPr sz="2100" spc="-15"/>
              <a:t> </a:t>
            </a:r>
            <a:r>
              <a:rPr sz="2100"/>
              <a:t>class</a:t>
            </a:r>
            <a:r>
              <a:rPr sz="2100" spc="-10"/>
              <a:t> method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690043" y="2055963"/>
            <a:ext cx="6455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super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also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invoke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parent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method.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043" y="2951313"/>
            <a:ext cx="680465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should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subclass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contains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same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parent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class.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043" y="3846663"/>
            <a:ext cx="4750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other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words,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overridden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066975" y="237872"/>
            <a:ext cx="3418204" cy="42354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eat()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"eating..."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Dog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eat()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"eating</a:t>
            </a:r>
            <a:r>
              <a:rPr sz="1400" spc="-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bread..."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bark()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"barking..."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290075" y="200797"/>
            <a:ext cx="3539490" cy="46926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work()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super</a:t>
            </a:r>
            <a:r>
              <a:rPr sz="1400" spc="-10">
                <a:latin typeface="Verdana"/>
                <a:cs typeface="Verdana"/>
              </a:rPr>
              <a:t>.eat();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10">
                <a:latin typeface="Verdana"/>
                <a:cs typeface="Verdana"/>
              </a:rPr>
              <a:t>bark();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TestSuper2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main(String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args[])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 marR="1765935">
              <a:lnSpc>
                <a:spcPct val="156300"/>
              </a:lnSpc>
            </a:pPr>
            <a:r>
              <a:rPr sz="1400">
                <a:latin typeface="Verdana"/>
                <a:cs typeface="Verdana"/>
              </a:rPr>
              <a:t>Dog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d=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Dog(); d.work();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z="1900"/>
              <a:t>3)</a:t>
            </a:r>
            <a:r>
              <a:rPr sz="1900" spc="-50"/>
              <a:t> </a:t>
            </a:r>
            <a:r>
              <a:rPr sz="1900"/>
              <a:t>super</a:t>
            </a:r>
            <a:r>
              <a:rPr sz="1900" spc="-50"/>
              <a:t> </a:t>
            </a:r>
            <a:r>
              <a:rPr sz="1900"/>
              <a:t>is</a:t>
            </a:r>
            <a:r>
              <a:rPr sz="1900" spc="-50"/>
              <a:t> </a:t>
            </a:r>
            <a:r>
              <a:rPr sz="1900"/>
              <a:t>used</a:t>
            </a:r>
            <a:r>
              <a:rPr sz="1900" spc="-50"/>
              <a:t> </a:t>
            </a:r>
            <a:r>
              <a:rPr sz="1900"/>
              <a:t>to</a:t>
            </a:r>
            <a:r>
              <a:rPr sz="1900" spc="-50"/>
              <a:t> </a:t>
            </a:r>
            <a:r>
              <a:rPr sz="1900"/>
              <a:t>invoke</a:t>
            </a:r>
            <a:r>
              <a:rPr sz="1900" spc="-50"/>
              <a:t> </a:t>
            </a:r>
            <a:r>
              <a:rPr sz="1900"/>
              <a:t>parent</a:t>
            </a:r>
            <a:r>
              <a:rPr sz="1900" spc="-50"/>
              <a:t> </a:t>
            </a:r>
            <a:r>
              <a:rPr sz="1900"/>
              <a:t>class</a:t>
            </a:r>
            <a:r>
              <a:rPr sz="1900" spc="-50"/>
              <a:t> </a:t>
            </a:r>
            <a:r>
              <a:rPr sz="1900" spc="-10"/>
              <a:t>constructor.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856275" y="1200787"/>
            <a:ext cx="6799580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super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also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invoke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parent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constructor.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>
                <a:latin typeface="Verdana"/>
                <a:cs typeface="Verdana"/>
              </a:rPr>
              <a:t>Let's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see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simple</a:t>
            </a:r>
            <a:r>
              <a:rPr sz="1400" spc="-2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example: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129775" y="69723"/>
            <a:ext cx="3627754" cy="48831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10">
                <a:latin typeface="Verdana"/>
                <a:cs typeface="Verdana"/>
              </a:rPr>
              <a:t>Animal()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"animal</a:t>
            </a:r>
            <a:r>
              <a:rPr sz="1400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 created"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Dog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Animal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spc="-10">
                <a:latin typeface="Verdana"/>
                <a:cs typeface="Verdana"/>
              </a:rPr>
              <a:t>Dog()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super</a:t>
            </a:r>
            <a:r>
              <a:rPr sz="1400" spc="-10">
                <a:latin typeface="Verdana"/>
                <a:cs typeface="Verdana"/>
              </a:rPr>
              <a:t>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"dog</a:t>
            </a:r>
            <a:r>
              <a:rPr sz="1400" spc="-4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400" spc="-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created"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042175" y="685647"/>
            <a:ext cx="3539490" cy="302577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TestSuper3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main(String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args[])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>
                <a:latin typeface="Verdana"/>
                <a:cs typeface="Verdana"/>
              </a:rPr>
              <a:t>Dog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d=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Dog();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spc="-10">
                <a:latin typeface="Verdana"/>
                <a:cs typeface="Verdana"/>
              </a:rPr>
              <a:t>Output: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875" y="3863950"/>
            <a:ext cx="1530350" cy="213360"/>
          </a:xfrm>
          <a:prstGeom prst="rect">
            <a:avLst/>
          </a:prstGeom>
          <a:solidFill>
            <a:srgbClr val="F9FA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>
                <a:latin typeface="Verdana"/>
                <a:cs typeface="Verdana"/>
              </a:rPr>
              <a:t>animal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created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5675" y="4311625"/>
            <a:ext cx="1276350" cy="213360"/>
          </a:xfrm>
          <a:prstGeom prst="rect">
            <a:avLst/>
          </a:prstGeom>
          <a:solidFill>
            <a:srgbClr val="F9FA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>
                <a:latin typeface="Verdana"/>
                <a:cs typeface="Verdana"/>
              </a:rPr>
              <a:t>dog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created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825" y="711224"/>
            <a:ext cx="27419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final</a:t>
            </a:r>
            <a:r>
              <a:rPr b="1" spc="-70">
                <a:latin typeface="Arial"/>
                <a:cs typeface="Arial"/>
              </a:rPr>
              <a:t> </a:t>
            </a:r>
            <a:r>
              <a:rPr/>
              <a:t>Keyword</a:t>
            </a:r>
            <a:r>
              <a:rPr spc="-75"/>
              <a:t> </a:t>
            </a:r>
            <a:r>
              <a:rPr/>
              <a:t>In</a:t>
            </a:r>
            <a:r>
              <a:rPr spc="-70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6825" y="1469487"/>
            <a:ext cx="6650355" cy="239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final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keyword</a:t>
            </a:r>
            <a:r>
              <a:rPr sz="1400" b="1" spc="-1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java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restrict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user.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java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many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context.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be:</a:t>
            </a:r>
            <a:endParaRPr sz="1400">
              <a:latin typeface="Verdana"/>
              <a:cs typeface="Verdana"/>
            </a:endParaRPr>
          </a:p>
          <a:p>
            <a:pPr marL="469265" indent="-405765">
              <a:lnSpc>
                <a:spcPct val="100000"/>
              </a:lnSpc>
              <a:spcBef>
                <a:spcPts val="1545"/>
              </a:spcBef>
              <a:buAutoNum type="arabicPeriod"/>
              <a:tabLst>
                <a:tab pos="469265"/>
              </a:tabLst>
            </a:pPr>
            <a:r>
              <a:rPr sz="1400" spc="-10">
                <a:latin typeface="Verdana"/>
                <a:cs typeface="Verdana"/>
              </a:rPr>
              <a:t>variable</a:t>
            </a:r>
            <a:endParaRPr sz="1400">
              <a:latin typeface="Verdana"/>
              <a:cs typeface="Verdana"/>
            </a:endParaRPr>
          </a:p>
          <a:p>
            <a:pPr marL="469265" indent="-405765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469265"/>
              </a:tabLst>
            </a:pPr>
            <a:r>
              <a:rPr sz="1400" spc="-10">
                <a:latin typeface="Verdana"/>
                <a:cs typeface="Verdana"/>
              </a:rPr>
              <a:t>method</a:t>
            </a:r>
            <a:endParaRPr sz="1400">
              <a:latin typeface="Verdana"/>
              <a:cs typeface="Verdana"/>
            </a:endParaRPr>
          </a:p>
          <a:p>
            <a:pPr marL="469265" indent="-405765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469265"/>
              </a:tabLst>
            </a:pPr>
            <a:r>
              <a:rPr sz="1400" spc="-10">
                <a:latin typeface="Verdana"/>
                <a:cs typeface="Verdana"/>
              </a:rPr>
              <a:t>class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6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5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applied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with</a:t>
            </a:r>
            <a:r>
              <a:rPr sz="1400" spc="-5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variables,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</a:t>
            </a:r>
            <a:r>
              <a:rPr sz="1400" spc="-5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variable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 spc="-20">
                <a:latin typeface="Verdana"/>
                <a:cs typeface="Verdana"/>
              </a:rPr>
              <a:t>that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no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value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called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blank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variable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or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uninitialized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variable.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1)</a:t>
            </a:r>
            <a:r>
              <a:rPr sz="1900" spc="-50"/>
              <a:t> </a:t>
            </a:r>
            <a:r>
              <a:rPr sz="1900"/>
              <a:t>Java</a:t>
            </a:r>
            <a:r>
              <a:rPr sz="1900" spc="-45"/>
              <a:t> </a:t>
            </a:r>
            <a:r>
              <a:rPr sz="1900"/>
              <a:t>final</a:t>
            </a:r>
            <a:r>
              <a:rPr sz="1900" spc="-50"/>
              <a:t> </a:t>
            </a:r>
            <a:r>
              <a:rPr sz="1900" spc="-10"/>
              <a:t>variable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261497"/>
            <a:ext cx="797750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If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make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variable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final,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cannot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change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value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variable(It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will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be </a:t>
            </a:r>
            <a:r>
              <a:rPr sz="1400" spc="-10">
                <a:latin typeface="Verdana"/>
                <a:cs typeface="Verdana"/>
              </a:rPr>
              <a:t>constant)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197" y="2438787"/>
            <a:ext cx="3538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final int</a:t>
            </a:r>
            <a:r>
              <a:rPr sz="14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speedlimit=</a:t>
            </a:r>
            <a:r>
              <a:rPr sz="1400" spc="-10">
                <a:solidFill>
                  <a:srgbClr val="C00000"/>
                </a:solidFill>
                <a:latin typeface="Verdana"/>
                <a:cs typeface="Verdana"/>
              </a:rPr>
              <a:t>90</a:t>
            </a:r>
            <a:r>
              <a:rPr sz="1400" spc="-10">
                <a:latin typeface="Verdana"/>
                <a:cs typeface="Verdana"/>
              </a:rPr>
              <a:t>;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//final</a:t>
            </a:r>
            <a:r>
              <a:rPr sz="14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variable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2)</a:t>
            </a:r>
            <a:r>
              <a:rPr sz="1900" spc="-50"/>
              <a:t> </a:t>
            </a:r>
            <a:r>
              <a:rPr sz="1900"/>
              <a:t>Java</a:t>
            </a:r>
            <a:r>
              <a:rPr sz="1900" spc="-45"/>
              <a:t> </a:t>
            </a:r>
            <a:r>
              <a:rPr sz="1900"/>
              <a:t>final</a:t>
            </a:r>
            <a:r>
              <a:rPr sz="1900" spc="-50"/>
              <a:t> </a:t>
            </a:r>
            <a:r>
              <a:rPr sz="1900" spc="-10"/>
              <a:t>method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1376825" y="1790787"/>
            <a:ext cx="5095240" cy="209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If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make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final,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cannot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override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it.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final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run()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"running"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93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100"/>
              </a:spcBef>
            </a:pPr>
            <a:r>
              <a:rPr sz="1900"/>
              <a:t>3)</a:t>
            </a:r>
            <a:r>
              <a:rPr sz="1900" spc="-50"/>
              <a:t> </a:t>
            </a:r>
            <a:r>
              <a:rPr sz="1900"/>
              <a:t>Java</a:t>
            </a:r>
            <a:r>
              <a:rPr sz="1900" spc="-45"/>
              <a:t> </a:t>
            </a:r>
            <a:r>
              <a:rPr sz="1900"/>
              <a:t>final</a:t>
            </a:r>
            <a:r>
              <a:rPr sz="1900" spc="-50"/>
              <a:t> </a:t>
            </a:r>
            <a:r>
              <a:rPr sz="1900" spc="-10"/>
              <a:t>class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1290050" y="1315387"/>
            <a:ext cx="4958080" cy="330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If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make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any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as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final,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cannot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extend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it.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Bike{}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final</a:t>
            </a:r>
            <a:r>
              <a:rPr sz="14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Honda1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Bike{</a:t>
            </a:r>
            <a:endParaRPr sz="1400">
              <a:latin typeface="Verdana"/>
              <a:cs typeface="Verdana"/>
            </a:endParaRPr>
          </a:p>
          <a:p>
            <a:pPr marL="7493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run()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262255">
              <a:lnSpc>
                <a:spcPct val="100000"/>
              </a:lnSpc>
              <a:spcBef>
                <a:spcPts val="270"/>
              </a:spcBef>
            </a:pPr>
            <a:r>
              <a:rPr sz="1400" spc="-10">
                <a:latin typeface="Verdana"/>
                <a:cs typeface="Verdana"/>
              </a:rPr>
              <a:t>System.out.println(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400" spc="-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00FF"/>
                </a:solidFill>
                <a:latin typeface="Verdana"/>
                <a:cs typeface="Verdana"/>
              </a:rPr>
              <a:t>safely</a:t>
            </a:r>
            <a:r>
              <a:rPr sz="1400" spc="-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00FF"/>
                </a:solidFill>
                <a:latin typeface="Verdana"/>
                <a:cs typeface="Verdana"/>
              </a:rPr>
              <a:t>with</a:t>
            </a:r>
            <a:r>
              <a:rPr sz="1400" spc="-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00FF"/>
                </a:solidFill>
                <a:latin typeface="Verdana"/>
                <a:cs typeface="Verdana"/>
              </a:rPr>
              <a:t>100kmph"</a:t>
            </a:r>
            <a:r>
              <a:rPr sz="1400" spc="-10">
                <a:latin typeface="Verdana"/>
                <a:cs typeface="Verdana"/>
              </a:rPr>
              <a:t>);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74930">
              <a:lnSpc>
                <a:spcPct val="100000"/>
              </a:lnSpc>
              <a:spcBef>
                <a:spcPts val="27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4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main(String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args[])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37160" marR="1899920">
              <a:lnSpc>
                <a:spcPct val="116100"/>
              </a:lnSpc>
            </a:pPr>
            <a:r>
              <a:rPr sz="1400">
                <a:latin typeface="Verdana"/>
                <a:cs typeface="Verdana"/>
              </a:rPr>
              <a:t>Honda1</a:t>
            </a:r>
            <a:r>
              <a:rPr sz="1400" spc="-5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honda=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Honda1(); honda.run();</a:t>
            </a:r>
            <a:endParaRPr sz="1400">
              <a:latin typeface="Verdana"/>
              <a:cs typeface="Verdana"/>
            </a:endParaRPr>
          </a:p>
          <a:p>
            <a:pPr marL="13716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this</a:t>
            </a:r>
            <a:r>
              <a:rPr b="1" spc="-70">
                <a:latin typeface="Arial"/>
                <a:cs typeface="Arial"/>
              </a:rPr>
              <a:t> </a:t>
            </a:r>
            <a:r>
              <a:rPr/>
              <a:t>keyword</a:t>
            </a:r>
            <a:r>
              <a:rPr spc="-70"/>
              <a:t> </a:t>
            </a:r>
            <a:r>
              <a:rPr/>
              <a:t>in</a:t>
            </a:r>
            <a:r>
              <a:rPr spc="-65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6804"/>
            <a:ext cx="7907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There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be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lot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usage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2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Java</a:t>
            </a:r>
            <a:r>
              <a:rPr sz="1200" b="1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200" b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.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Java,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reference</a:t>
            </a:r>
            <a:r>
              <a:rPr sz="1200" b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variable</a:t>
            </a:r>
            <a:r>
              <a:rPr sz="1200" b="1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refers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current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object.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709862" y="1776412"/>
            <a:ext cx="3819524" cy="1666874"/>
          </a:xfrm>
          <a:prstGeom prst="rect">
            <a:avLst/>
          </a:prstGeom>
        </p:spPr>
      </p:pic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96450" y="97575"/>
            <a:ext cx="8840374" cy="468874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1)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this: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refer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current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instance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variable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980" y="1258069"/>
            <a:ext cx="8148320" cy="91122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384"/>
              </a:spcBef>
              <a:buFont typeface="Arial MT"/>
              <a:buChar char="●"/>
              <a:tabLst>
                <a:tab pos="371475"/>
              </a:tabLst>
            </a:pP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20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be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refer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20">
                <a:solidFill>
                  <a:srgbClr val="333333"/>
                </a:solidFill>
                <a:latin typeface="Roboto"/>
                <a:cs typeface="Roboto"/>
              </a:rPr>
              <a:t>current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class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instance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variable.</a:t>
            </a:r>
            <a:endParaRPr sz="1700">
              <a:latin typeface="Roboto"/>
              <a:cs typeface="Roboto"/>
            </a:endParaRPr>
          </a:p>
          <a:p>
            <a:pPr marL="371475" marR="5080" indent="-359410">
              <a:lnSpc>
                <a:spcPct val="113999"/>
              </a:lnSpc>
              <a:buFont typeface="Arial MT"/>
              <a:buChar char="●"/>
              <a:tabLst>
                <a:tab pos="371475"/>
              </a:tabLst>
            </a:pP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If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there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20">
                <a:solidFill>
                  <a:srgbClr val="333333"/>
                </a:solidFill>
                <a:latin typeface="Roboto"/>
                <a:cs typeface="Roboto"/>
              </a:rPr>
              <a:t>ambiguity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between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instance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20">
                <a:solidFill>
                  <a:srgbClr val="333333"/>
                </a:solidFill>
                <a:latin typeface="Roboto"/>
                <a:cs typeface="Roboto"/>
              </a:rPr>
              <a:t>variables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parameters,</a:t>
            </a:r>
            <a:r>
              <a:rPr sz="1700" spc="-6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7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keyword resolves</a:t>
            </a:r>
            <a:r>
              <a:rPr sz="17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7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problem</a:t>
            </a:r>
            <a:r>
              <a:rPr sz="17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7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700" spc="-10">
                <a:solidFill>
                  <a:srgbClr val="333333"/>
                </a:solidFill>
                <a:latin typeface="Roboto"/>
                <a:cs typeface="Roboto"/>
              </a:rPr>
              <a:t>ambiguity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397047"/>
            <a:ext cx="3933825" cy="428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Times New Roman"/>
                <a:cs typeface="Times New Roman"/>
              </a:rPr>
              <a:t>class</a:t>
            </a:r>
            <a:r>
              <a:rPr sz="1600" spc="-60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Student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600" spc="-5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469900" marR="2412365">
              <a:lnSpc>
                <a:spcPct val="101600"/>
              </a:lnSpc>
            </a:pPr>
            <a:r>
              <a:rPr sz="1600">
                <a:latin typeface="Times New Roman"/>
                <a:cs typeface="Times New Roman"/>
              </a:rPr>
              <a:t>int</a:t>
            </a:r>
            <a:r>
              <a:rPr sz="1600" spc="-35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rollno; </a:t>
            </a:r>
            <a:r>
              <a:rPr sz="1600">
                <a:latin typeface="Times New Roman"/>
                <a:cs typeface="Times New Roman"/>
              </a:rPr>
              <a:t>String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name; </a:t>
            </a:r>
            <a:r>
              <a:rPr sz="1600">
                <a:latin typeface="Times New Roman"/>
                <a:cs typeface="Times New Roman"/>
              </a:rPr>
              <a:t>float</a:t>
            </a:r>
            <a:r>
              <a:rPr sz="1600" spc="-55">
                <a:latin typeface="Times New Roman"/>
                <a:cs typeface="Times New Roman"/>
              </a:rPr>
              <a:t> </a:t>
            </a:r>
            <a:r>
              <a:rPr sz="1600" spc="-20">
                <a:latin typeface="Times New Roman"/>
                <a:cs typeface="Times New Roman"/>
              </a:rPr>
              <a:t>fee;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10">
                <a:latin typeface="Times New Roman"/>
                <a:cs typeface="Times New Roman"/>
              </a:rPr>
              <a:t>Student(int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rollno,String</a:t>
            </a:r>
            <a:r>
              <a:rPr sz="1600" spc="-35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name,float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 spc="-20">
                <a:latin typeface="Times New Roman"/>
                <a:cs typeface="Times New Roman"/>
              </a:rPr>
              <a:t>fee)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5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469900" marR="1972945">
              <a:lnSpc>
                <a:spcPct val="101600"/>
              </a:lnSpc>
            </a:pPr>
            <a:r>
              <a:rPr sz="1600" spc="-10">
                <a:latin typeface="Times New Roman"/>
                <a:cs typeface="Times New Roman"/>
              </a:rPr>
              <a:t>this.rollno=rollno; this.name=name; this.fee=fee;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600" spc="-5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>
                <a:latin typeface="Times New Roman"/>
                <a:cs typeface="Times New Roman"/>
              </a:rPr>
              <a:t>void</a:t>
            </a:r>
            <a:r>
              <a:rPr sz="1600" spc="-30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display()</a:t>
            </a: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0"/>
              </a:spcBef>
            </a:pPr>
            <a:r>
              <a:rPr sz="1600" spc="-5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30"/>
              </a:spcBef>
            </a:pPr>
            <a:r>
              <a:rPr sz="1600" spc="-10">
                <a:latin typeface="Times New Roman"/>
                <a:cs typeface="Times New Roman"/>
              </a:rPr>
              <a:t>System.out.println(rollno+"</a:t>
            </a:r>
            <a:r>
              <a:rPr sz="1600" spc="-45">
                <a:latin typeface="Times New Roman"/>
                <a:cs typeface="Times New Roman"/>
              </a:rPr>
              <a:t> </a:t>
            </a:r>
            <a:r>
              <a:rPr sz="1600">
                <a:latin typeface="Times New Roman"/>
                <a:cs typeface="Times New Roman"/>
              </a:rPr>
              <a:t>"+name+"</a:t>
            </a:r>
            <a:r>
              <a:rPr sz="1600" spc="-40">
                <a:latin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cs typeface="Times New Roman"/>
              </a:rPr>
              <a:t>"+fee);</a:t>
            </a: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0"/>
              </a:spcBef>
            </a:pPr>
            <a:r>
              <a:rPr sz="1600" spc="-5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5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291850"/>
            <a:ext cx="4137660" cy="309245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800">
                <a:latin typeface="Times New Roman"/>
                <a:cs typeface="Times New Roman"/>
              </a:rPr>
              <a:t>class</a:t>
            </a:r>
            <a:r>
              <a:rPr sz="1800" spc="-9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TestThis2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5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>
                <a:latin typeface="Times New Roman"/>
                <a:cs typeface="Times New Roman"/>
              </a:rPr>
              <a:t>public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static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void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main(String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args[])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699"/>
              </a:lnSpc>
            </a:pPr>
            <a:r>
              <a:rPr sz="1800">
                <a:latin typeface="Times New Roman"/>
                <a:cs typeface="Times New Roman"/>
              </a:rPr>
              <a:t>Student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s1=new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Student(111,"ankit",5000f); </a:t>
            </a:r>
            <a:r>
              <a:rPr sz="1800">
                <a:latin typeface="Times New Roman"/>
                <a:cs typeface="Times New Roman"/>
              </a:rPr>
              <a:t>Student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s2=new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Student(112,"sumit",6000f); s1.display();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>
                <a:latin typeface="Times New Roman"/>
                <a:cs typeface="Times New Roman"/>
              </a:rPr>
              <a:t>s2.display();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59024" y="1963087"/>
            <a:ext cx="6762749" cy="27527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2)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this: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invoke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current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993" y="1031198"/>
            <a:ext cx="7807325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347980"/>
              </a:tabLst>
            </a:pPr>
            <a:r>
              <a:rPr sz="1400" spc="-40">
                <a:solidFill>
                  <a:srgbClr val="333333"/>
                </a:solidFill>
                <a:latin typeface="Times New Roman"/>
                <a:cs typeface="Times New Roman"/>
              </a:rPr>
              <a:t>You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may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invoke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method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current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class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by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333333"/>
                </a:solidFill>
                <a:latin typeface="Times New Roman"/>
                <a:cs typeface="Times New Roman"/>
              </a:rPr>
              <a:t>keyword.</a:t>
            </a:r>
            <a:endParaRPr sz="1400">
              <a:latin typeface="Times New Roman"/>
              <a:cs typeface="Times New Roman"/>
            </a:endParaRPr>
          </a:p>
          <a:p>
            <a:pPr marL="392430" indent="-37973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92430"/>
              </a:tabLst>
            </a:pP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If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you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don't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use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keyword,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compiler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automatically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adds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keyword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while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invoking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333333"/>
                </a:solidFill>
                <a:latin typeface="Times New Roman"/>
                <a:cs typeface="Times New Roman"/>
              </a:rPr>
              <a:t>method.</a:t>
            </a:r>
            <a:endParaRPr sz="140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Let's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see</a:t>
            </a:r>
            <a:r>
              <a:rPr sz="14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4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333333"/>
                </a:solidFill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54634"/>
            <a:ext cx="2940685" cy="462597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200" b="1" spc="-3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50">
                <a:latin typeface="Roboto"/>
                <a:cs typeface="Roboto"/>
              </a:rPr>
              <a:t>A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200" b="1" spc="-5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5">
                <a:latin typeface="Roboto"/>
                <a:cs typeface="Roboto"/>
              </a:rPr>
              <a:t>m()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25">
                <a:latin typeface="Roboto"/>
                <a:cs typeface="Roboto"/>
              </a:rPr>
              <a:t>System.out.println(</a:t>
            </a:r>
            <a:r>
              <a:rPr sz="1200" spc="-25">
                <a:solidFill>
                  <a:srgbClr val="0000FF"/>
                </a:solidFill>
                <a:latin typeface="Roboto"/>
                <a:cs typeface="Roboto"/>
              </a:rPr>
              <a:t>"hello</a:t>
            </a:r>
            <a:r>
              <a:rPr sz="1200" spc="11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0000FF"/>
                </a:solidFill>
                <a:latin typeface="Roboto"/>
                <a:cs typeface="Roboto"/>
              </a:rPr>
              <a:t>m"</a:t>
            </a:r>
            <a:r>
              <a:rPr sz="1200" spc="-20">
                <a:latin typeface="Roboto"/>
                <a:cs typeface="Roboto"/>
              </a:rPr>
              <a:t>);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200" b="1" spc="-5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5">
                <a:latin typeface="Roboto"/>
                <a:cs typeface="Roboto"/>
              </a:rPr>
              <a:t>n()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25">
                <a:latin typeface="Roboto"/>
                <a:cs typeface="Roboto"/>
              </a:rPr>
              <a:t>System.out.println(</a:t>
            </a:r>
            <a:r>
              <a:rPr sz="1200" spc="-25">
                <a:solidFill>
                  <a:srgbClr val="0000FF"/>
                </a:solidFill>
                <a:latin typeface="Roboto"/>
                <a:cs typeface="Roboto"/>
              </a:rPr>
              <a:t>"hello</a:t>
            </a:r>
            <a:r>
              <a:rPr sz="1200" spc="11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0000FF"/>
                </a:solidFill>
                <a:latin typeface="Roboto"/>
                <a:cs typeface="Roboto"/>
              </a:rPr>
              <a:t>n"</a:t>
            </a:r>
            <a:r>
              <a:rPr sz="1200" spc="-20">
                <a:latin typeface="Roboto"/>
                <a:cs typeface="Roboto"/>
              </a:rPr>
              <a:t>);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35">
                <a:solidFill>
                  <a:srgbClr val="008200"/>
                </a:solidFill>
                <a:latin typeface="Roboto"/>
                <a:cs typeface="Roboto"/>
              </a:rPr>
              <a:t>//m();//same</a:t>
            </a:r>
            <a:r>
              <a:rPr sz="1200" spc="-25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008200"/>
                </a:solidFill>
                <a:latin typeface="Roboto"/>
                <a:cs typeface="Roboto"/>
              </a:rPr>
              <a:t>as</a:t>
            </a:r>
            <a:r>
              <a:rPr sz="1200" spc="-25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008200"/>
                </a:solidFill>
                <a:latin typeface="Roboto"/>
                <a:cs typeface="Roboto"/>
              </a:rPr>
              <a:t>this.m()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200" spc="-10">
                <a:latin typeface="Roboto"/>
                <a:cs typeface="Roboto"/>
              </a:rPr>
              <a:t>.m();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2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10">
                <a:latin typeface="Roboto"/>
                <a:cs typeface="Roboto"/>
              </a:rPr>
              <a:t>TestThis4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2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2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0">
                <a:latin typeface="Roboto"/>
                <a:cs typeface="Roboto"/>
              </a:rPr>
              <a:t>main(String</a:t>
            </a:r>
            <a:r>
              <a:rPr sz="1200" spc="-30">
                <a:latin typeface="Roboto"/>
                <a:cs typeface="Roboto"/>
              </a:rPr>
              <a:t> </a:t>
            </a:r>
            <a:r>
              <a:rPr sz="1200" spc="-10">
                <a:latin typeface="Roboto"/>
                <a:cs typeface="Roboto"/>
              </a:rPr>
              <a:t>args[])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657860" marR="1416050">
              <a:lnSpc>
                <a:spcPct val="119800"/>
              </a:lnSpc>
            </a:pPr>
            <a:r>
              <a:rPr sz="1200">
                <a:latin typeface="Roboto"/>
                <a:cs typeface="Roboto"/>
              </a:rPr>
              <a:t>A</a:t>
            </a:r>
            <a:r>
              <a:rPr sz="1200" spc="-20">
                <a:latin typeface="Roboto"/>
                <a:cs typeface="Roboto"/>
              </a:rPr>
              <a:t> </a:t>
            </a:r>
            <a:r>
              <a:rPr sz="1200">
                <a:latin typeface="Roboto"/>
                <a:cs typeface="Roboto"/>
              </a:rPr>
              <a:t>a=</a:t>
            </a: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200" b="1" spc="-1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0">
                <a:latin typeface="Roboto"/>
                <a:cs typeface="Roboto"/>
              </a:rPr>
              <a:t>A(); </a:t>
            </a:r>
            <a:r>
              <a:rPr sz="1200" spc="-10">
                <a:latin typeface="Roboto"/>
                <a:cs typeface="Roboto"/>
              </a:rPr>
              <a:t>a.n();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1424" y="1371000"/>
            <a:ext cx="8058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222222"/>
                </a:solidFill>
                <a:latin typeface="Roboto"/>
                <a:cs typeface="Roboto"/>
              </a:rPr>
              <a:t>OUTPUT</a:t>
            </a:r>
            <a:r>
              <a:rPr sz="1400" b="1" spc="-20">
                <a:solidFill>
                  <a:srgbClr val="222222"/>
                </a:solidFill>
                <a:latin typeface="Roboto"/>
                <a:cs typeface="Roboto"/>
              </a:rPr>
              <a:t> </a:t>
            </a:r>
            <a:r>
              <a:rPr sz="1400" b="1" spc="-50">
                <a:solidFill>
                  <a:srgbClr val="222222"/>
                </a:solidFill>
                <a:latin typeface="Roboto"/>
                <a:cs typeface="Roboto"/>
              </a:rPr>
              <a:t>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1424" y="1798735"/>
            <a:ext cx="558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222222"/>
                </a:solidFill>
                <a:latin typeface="Arial"/>
                <a:cs typeface="Arial"/>
              </a:rPr>
              <a:t>hello</a:t>
            </a:r>
            <a:r>
              <a:rPr sz="1200" b="1" spc="-5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50">
                <a:solidFill>
                  <a:srgbClr val="222222"/>
                </a:solidFill>
                <a:latin typeface="Arial"/>
                <a:cs typeface="Arial"/>
              </a:rPr>
              <a:t>n </a:t>
            </a:r>
            <a:r>
              <a:rPr sz="1200" b="1">
                <a:solidFill>
                  <a:srgbClr val="222222"/>
                </a:solidFill>
                <a:latin typeface="Arial"/>
                <a:cs typeface="Arial"/>
              </a:rPr>
              <a:t>hello</a:t>
            </a:r>
            <a:r>
              <a:rPr sz="1200" b="1" spc="-5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50">
                <a:solidFill>
                  <a:srgbClr val="222222"/>
                </a:solidFill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81162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3903682"/>
            <a:ext cx="9144000" cy="1240155"/>
            <a:chOff x="0" y="3903682"/>
            <a:chExt cx="9144000" cy="1240155"/>
          </a:xfrm>
        </p:grpSpPr>
        <p:sp>
          <p:nvSpPr>
            <p:cNvPr id="5" name="object 5"/>
            <p:cNvSpPr/>
            <p:nvPr/>
          </p:nvSpPr>
          <p:spPr>
            <a:xfrm>
              <a:off x="8154757" y="3903682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891594"/>
              <a:ext cx="9144000" cy="252095"/>
            </a:xfrm>
            <a:custGeom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900" y="356063"/>
            <a:ext cx="46062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3)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this()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: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invoke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current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r>
              <a:rPr sz="17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constructor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274" y="991308"/>
            <a:ext cx="6020435" cy="6540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09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this()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call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be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invoke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current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class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constructor.</a:t>
            </a:r>
            <a:endParaRPr sz="1200">
              <a:latin typeface="Roboto"/>
              <a:cs typeface="Roboto"/>
            </a:endParaRPr>
          </a:p>
          <a:p>
            <a:pPr marL="332740" indent="-320040">
              <a:lnSpc>
                <a:spcPct val="100000"/>
              </a:lnSpc>
              <a:spcBef>
                <a:spcPts val="209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reuse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5">
                <a:solidFill>
                  <a:srgbClr val="333333"/>
                </a:solidFill>
                <a:latin typeface="Roboto"/>
                <a:cs typeface="Roboto"/>
              </a:rPr>
              <a:t>constructor.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other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words,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chaining.</a:t>
            </a:r>
            <a:endParaRPr sz="1200">
              <a:latin typeface="Roboto"/>
              <a:cs typeface="Roboto"/>
            </a:endParaRPr>
          </a:p>
          <a:p>
            <a:pPr marL="332740" indent="-320040">
              <a:lnSpc>
                <a:spcPct val="100000"/>
              </a:lnSpc>
              <a:spcBef>
                <a:spcPts val="209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Calling</a:t>
            </a:r>
            <a:r>
              <a:rPr sz="1200" b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default</a:t>
            </a:r>
            <a:r>
              <a:rPr sz="1200" b="1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 spc="-1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200" b="1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from</a:t>
            </a:r>
            <a:r>
              <a:rPr sz="1200" b="1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333333"/>
                </a:solidFill>
                <a:latin typeface="Roboto"/>
                <a:cs typeface="Roboto"/>
              </a:rPr>
              <a:t>parameterized</a:t>
            </a:r>
            <a:r>
              <a:rPr sz="1200" b="1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b="1" spc="-10">
                <a:solidFill>
                  <a:srgbClr val="333333"/>
                </a:solidFill>
                <a:latin typeface="Roboto"/>
                <a:cs typeface="Roboto"/>
              </a:rPr>
              <a:t>constructor: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1758516"/>
            <a:ext cx="2552700" cy="28829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3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3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300" spc="-50">
                <a:latin typeface="Roboto"/>
                <a:cs typeface="Roboto"/>
              </a:rPr>
              <a:t>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25">
                <a:latin typeface="Roboto"/>
                <a:cs typeface="Roboto"/>
              </a:rPr>
              <a:t>A()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20">
                <a:latin typeface="Roboto"/>
                <a:cs typeface="Roboto"/>
              </a:rPr>
              <a:t>System.out.println(</a:t>
            </a:r>
            <a:r>
              <a:rPr sz="1300" spc="-20">
                <a:solidFill>
                  <a:srgbClr val="0000FF"/>
                </a:solidFill>
                <a:latin typeface="Roboto"/>
                <a:cs typeface="Roboto"/>
              </a:rPr>
              <a:t>"hello</a:t>
            </a:r>
            <a:r>
              <a:rPr sz="1300" spc="7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300" spc="-20">
                <a:solidFill>
                  <a:srgbClr val="0000FF"/>
                </a:solidFill>
                <a:latin typeface="Roboto"/>
                <a:cs typeface="Roboto"/>
              </a:rPr>
              <a:t>a"</a:t>
            </a:r>
            <a:r>
              <a:rPr sz="1300" spc="-20">
                <a:latin typeface="Roboto"/>
                <a:cs typeface="Roboto"/>
              </a:rPr>
              <a:t>);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>
                <a:latin typeface="Roboto"/>
                <a:cs typeface="Roboto"/>
              </a:rPr>
              <a:t>A(</a:t>
            </a:r>
            <a:r>
              <a:rPr sz="13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300" b="1" spc="-1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300" spc="-25">
                <a:latin typeface="Roboto"/>
                <a:cs typeface="Roboto"/>
              </a:rPr>
              <a:t>x)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469900" marR="507365">
              <a:lnSpc>
                <a:spcPct val="120200"/>
              </a:lnSpc>
            </a:pPr>
            <a:r>
              <a:rPr sz="13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300" spc="-10">
                <a:latin typeface="Roboto"/>
                <a:cs typeface="Roboto"/>
              </a:rPr>
              <a:t>(); </a:t>
            </a:r>
            <a:r>
              <a:rPr sz="1300" spc="-20">
                <a:latin typeface="Roboto"/>
                <a:cs typeface="Roboto"/>
              </a:rPr>
              <a:t>System.out.println(x);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2449" y="2108823"/>
            <a:ext cx="3348990" cy="17856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b="1" spc="-10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4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TestThis5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main(String</a:t>
            </a:r>
            <a:r>
              <a:rPr sz="1400" spc="-50"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args[])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400">
                <a:latin typeface="Roboto"/>
                <a:cs typeface="Roboto"/>
              </a:rPr>
              <a:t>A</a:t>
            </a:r>
            <a:r>
              <a:rPr sz="1400" spc="-30">
                <a:latin typeface="Roboto"/>
                <a:cs typeface="Roboto"/>
              </a:rPr>
              <a:t> </a:t>
            </a:r>
            <a:r>
              <a:rPr sz="1400">
                <a:latin typeface="Roboto"/>
                <a:cs typeface="Roboto"/>
              </a:rPr>
              <a:t>a=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4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A(</a:t>
            </a:r>
            <a:r>
              <a:rPr sz="1400" spc="-10">
                <a:solidFill>
                  <a:srgbClr val="C00000"/>
                </a:solidFill>
                <a:latin typeface="Roboto"/>
                <a:cs typeface="Roboto"/>
              </a:rPr>
              <a:t>10</a:t>
            </a:r>
            <a:r>
              <a:rPr sz="1400" spc="-10">
                <a:latin typeface="Roboto"/>
                <a:cs typeface="Roboto"/>
              </a:rPr>
              <a:t>);</a:t>
            </a:r>
            <a:endParaRPr sz="1400">
              <a:latin typeface="Roboto"/>
              <a:cs typeface="Roboto"/>
            </a:endParaRPr>
          </a:p>
          <a:p>
            <a:pPr marL="495300">
              <a:lnSpc>
                <a:spcPct val="100000"/>
              </a:lnSpc>
              <a:spcBef>
                <a:spcPts val="30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70273" y="3903669"/>
            <a:ext cx="989330" cy="988060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41605" rIns="0" bIns="0" rtlCol="0">
            <a:spAutoFit/>
          </a:bodyPr>
          <a:lstStyle/>
          <a:p>
            <a:pPr marL="106680" marR="238125">
              <a:lnSpc>
                <a:spcPct val="100000"/>
              </a:lnSpc>
              <a:spcBef>
                <a:spcPts val="1115"/>
              </a:spcBef>
            </a:pPr>
            <a:r>
              <a:rPr sz="1700">
                <a:solidFill>
                  <a:srgbClr val="F9F9F9"/>
                </a:solidFill>
                <a:latin typeface="Arial MT"/>
                <a:cs typeface="Arial MT"/>
              </a:rPr>
              <a:t>hello</a:t>
            </a:r>
            <a:r>
              <a:rPr sz="1700" spc="-6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700" spc="-50">
                <a:solidFill>
                  <a:srgbClr val="F9F9F9"/>
                </a:solidFill>
                <a:latin typeface="Arial MT"/>
                <a:cs typeface="Arial MT"/>
              </a:rPr>
              <a:t>a </a:t>
            </a:r>
            <a:r>
              <a:rPr sz="1700" spc="-25">
                <a:solidFill>
                  <a:srgbClr val="F9F9F9"/>
                </a:solidFill>
                <a:latin typeface="Arial MT"/>
                <a:cs typeface="Arial MT"/>
              </a:rPr>
              <a:t>10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32839"/>
            <a:ext cx="46761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4)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this: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pass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as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an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argument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in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the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099" y="953458"/>
            <a:ext cx="4930140" cy="6540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09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also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be</a:t>
            </a:r>
            <a:r>
              <a:rPr sz="12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passed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an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argument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method.</a:t>
            </a:r>
            <a:endParaRPr sz="1200">
              <a:latin typeface="Roboto"/>
              <a:cs typeface="Roboto"/>
            </a:endParaRPr>
          </a:p>
          <a:p>
            <a:pPr marL="332740" indent="-320040">
              <a:lnSpc>
                <a:spcPct val="100000"/>
              </a:lnSpc>
              <a:spcBef>
                <a:spcPts val="209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2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20">
                <a:solidFill>
                  <a:srgbClr val="333333"/>
                </a:solidFill>
                <a:latin typeface="Roboto"/>
                <a:cs typeface="Roboto"/>
              </a:rPr>
              <a:t>mainly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used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event</a:t>
            </a:r>
            <a:r>
              <a:rPr sz="12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handling.</a:t>
            </a:r>
            <a:endParaRPr sz="1200">
              <a:latin typeface="Roboto"/>
              <a:cs typeface="Roboto"/>
            </a:endParaRPr>
          </a:p>
          <a:p>
            <a:pPr marL="332740" indent="-320040">
              <a:lnSpc>
                <a:spcPct val="100000"/>
              </a:lnSpc>
              <a:spcBef>
                <a:spcPts val="209"/>
              </a:spcBef>
              <a:buFont typeface="Arial MT"/>
              <a:buChar char="●"/>
              <a:tabLst>
                <a:tab pos="332740"/>
              </a:tabLst>
            </a:pPr>
            <a:r>
              <a:rPr sz="1200" spc="-25">
                <a:solidFill>
                  <a:srgbClr val="333333"/>
                </a:solidFill>
                <a:latin typeface="Roboto"/>
                <a:cs typeface="Roboto"/>
              </a:rPr>
              <a:t>Let's</a:t>
            </a:r>
            <a:r>
              <a:rPr sz="12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see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2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200" spc="-10">
                <a:solidFill>
                  <a:srgbClr val="333333"/>
                </a:solidFill>
                <a:latin typeface="Roboto"/>
                <a:cs typeface="Roboto"/>
              </a:rPr>
              <a:t>example: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550" y="1769179"/>
            <a:ext cx="3956685" cy="26924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5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5">
                <a:latin typeface="Roboto"/>
                <a:cs typeface="Roboto"/>
              </a:rPr>
              <a:t>S2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m(S2</a:t>
            </a:r>
            <a:r>
              <a:rPr sz="1500" spc="-55">
                <a:latin typeface="Roboto"/>
                <a:cs typeface="Roboto"/>
              </a:rPr>
              <a:t> </a:t>
            </a:r>
            <a:r>
              <a:rPr sz="1500" spc="-20">
                <a:latin typeface="Roboto"/>
                <a:cs typeface="Roboto"/>
              </a:rPr>
              <a:t>obj)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spc="-25">
                <a:latin typeface="Roboto"/>
                <a:cs typeface="Roboto"/>
              </a:rPr>
              <a:t>System.out.println(</a:t>
            </a:r>
            <a:r>
              <a:rPr sz="1500" spc="-25">
                <a:solidFill>
                  <a:srgbClr val="0000FF"/>
                </a:solidFill>
                <a:latin typeface="Roboto"/>
                <a:cs typeface="Roboto"/>
              </a:rPr>
              <a:t>"method</a:t>
            </a:r>
            <a:r>
              <a:rPr sz="1500" spc="6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500">
                <a:solidFill>
                  <a:srgbClr val="0000FF"/>
                </a:solidFill>
                <a:latin typeface="Roboto"/>
                <a:cs typeface="Roboto"/>
              </a:rPr>
              <a:t>is</a:t>
            </a:r>
            <a:r>
              <a:rPr sz="1500" spc="6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500" spc="-10">
                <a:solidFill>
                  <a:srgbClr val="0000FF"/>
                </a:solidFill>
                <a:latin typeface="Roboto"/>
                <a:cs typeface="Roboto"/>
              </a:rPr>
              <a:t>invoked"</a:t>
            </a:r>
            <a:r>
              <a:rPr sz="1500" spc="-10">
                <a:latin typeface="Roboto"/>
                <a:cs typeface="Roboto"/>
              </a:rPr>
              <a:t>);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5">
                <a:latin typeface="Roboto"/>
                <a:cs typeface="Roboto"/>
              </a:rPr>
              <a:t>p()</a:t>
            </a:r>
            <a:endParaRPr sz="1500">
              <a:latin typeface="Roboto"/>
              <a:cs typeface="Roboto"/>
            </a:endParaRPr>
          </a:p>
          <a:p>
            <a:pPr marL="51689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spc="-10">
                <a:latin typeface="Roboto"/>
                <a:cs typeface="Roboto"/>
              </a:rPr>
              <a:t>m(</a:t>
            </a:r>
            <a:r>
              <a:rPr sz="15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500" spc="-10">
                <a:latin typeface="Roboto"/>
                <a:cs typeface="Roboto"/>
              </a:rPr>
              <a:t>);</a:t>
            </a:r>
            <a:endParaRPr sz="1500">
              <a:latin typeface="Roboto"/>
              <a:cs typeface="Roboto"/>
            </a:endParaRPr>
          </a:p>
          <a:p>
            <a:pPr marL="56388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1450" y="1774605"/>
            <a:ext cx="3097530" cy="1625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5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0">
                <a:latin typeface="Roboto"/>
                <a:cs typeface="Roboto"/>
              </a:rPr>
              <a:t>main(String</a:t>
            </a:r>
            <a:r>
              <a:rPr sz="1500" spc="-50">
                <a:latin typeface="Roboto"/>
                <a:cs typeface="Roboto"/>
              </a:rPr>
              <a:t> </a:t>
            </a:r>
            <a:r>
              <a:rPr sz="1500" spc="-10">
                <a:latin typeface="Roboto"/>
                <a:cs typeface="Roboto"/>
              </a:rPr>
              <a:t>args[])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{</a:t>
            </a:r>
            <a:endParaRPr sz="1500">
              <a:latin typeface="Roboto"/>
              <a:cs typeface="Roboto"/>
            </a:endParaRPr>
          </a:p>
          <a:p>
            <a:pPr marL="106680" marR="1523365">
              <a:lnSpc>
                <a:spcPct val="116700"/>
              </a:lnSpc>
            </a:pPr>
            <a:r>
              <a:rPr sz="1500">
                <a:latin typeface="Roboto"/>
                <a:cs typeface="Roboto"/>
              </a:rPr>
              <a:t>S2</a:t>
            </a:r>
            <a:r>
              <a:rPr sz="1500" spc="-40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s1</a:t>
            </a:r>
            <a:r>
              <a:rPr sz="1500" spc="-35">
                <a:latin typeface="Roboto"/>
                <a:cs typeface="Roboto"/>
              </a:rPr>
              <a:t> </a:t>
            </a:r>
            <a:r>
              <a:rPr sz="1500">
                <a:latin typeface="Roboto"/>
                <a:cs typeface="Roboto"/>
              </a:rPr>
              <a:t>=</a:t>
            </a:r>
            <a:r>
              <a:rPr sz="1500" spc="-25">
                <a:latin typeface="Roboto"/>
                <a:cs typeface="Roboto"/>
              </a:rPr>
              <a:t> </a:t>
            </a:r>
            <a:r>
              <a:rPr sz="15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500" b="1" spc="-3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500" spc="-20">
                <a:latin typeface="Roboto"/>
                <a:cs typeface="Roboto"/>
              </a:rPr>
              <a:t>S2(); </a:t>
            </a:r>
            <a:r>
              <a:rPr sz="1500" spc="-10">
                <a:latin typeface="Roboto"/>
                <a:cs typeface="Roboto"/>
              </a:rPr>
              <a:t>s1.p();</a:t>
            </a:r>
            <a:endParaRPr sz="1500">
              <a:latin typeface="Roboto"/>
              <a:cs typeface="Roboto"/>
            </a:endParaRPr>
          </a:p>
          <a:p>
            <a:pPr marL="10668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latin typeface="Roboto"/>
                <a:cs typeface="Roboto"/>
              </a:rPr>
              <a:t>}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42875" y="4051479"/>
            <a:ext cx="1253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9F9F9"/>
                </a:solidFill>
                <a:latin typeface="Arial MT"/>
                <a:cs typeface="Arial MT"/>
              </a:rPr>
              <a:t>method</a:t>
            </a:r>
            <a:r>
              <a:rPr sz="1200" spc="-2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F9F9F9"/>
                </a:solidFill>
                <a:latin typeface="Arial MT"/>
                <a:cs typeface="Arial MT"/>
              </a:rPr>
              <a:t>is</a:t>
            </a:r>
            <a:r>
              <a:rPr sz="1200" spc="-1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200" spc="-10">
                <a:solidFill>
                  <a:srgbClr val="F9F9F9"/>
                </a:solidFill>
                <a:latin typeface="Arial MT"/>
                <a:cs typeface="Arial MT"/>
              </a:rPr>
              <a:t>invoked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5)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this: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pass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as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argument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in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the</a:t>
            </a:r>
            <a:r>
              <a:rPr sz="17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constructor</a:t>
            </a:r>
            <a:r>
              <a:rPr sz="17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20">
                <a:solidFill>
                  <a:srgbClr val="610B4B"/>
                </a:solidFill>
                <a:latin typeface="Arial"/>
                <a:cs typeface="Arial"/>
              </a:rPr>
              <a:t>call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621" y="1262387"/>
            <a:ext cx="7677784" cy="5778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55"/>
              </a:spcBef>
              <a:buFont typeface="Arial MT"/>
              <a:buChar char="●"/>
              <a:tabLst>
                <a:tab pos="363855"/>
              </a:tabLst>
            </a:pP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We</a:t>
            </a:r>
            <a:r>
              <a:rPr sz="1600" spc="-6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pass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6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333333"/>
                </a:solidFill>
                <a:latin typeface="Roboto"/>
                <a:cs typeface="Roboto"/>
              </a:rPr>
              <a:t>constructor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also.</a:t>
            </a:r>
            <a:endParaRPr sz="1600">
              <a:latin typeface="Roboto"/>
              <a:cs typeface="Roboto"/>
            </a:endParaRPr>
          </a:p>
          <a:p>
            <a:pPr marL="363855" indent="-35115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/>
              </a:tabLst>
            </a:pP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It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useful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if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we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have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use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one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object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multiple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classes.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30">
                <a:solidFill>
                  <a:srgbClr val="333333"/>
                </a:solidFill>
                <a:latin typeface="Roboto"/>
                <a:cs typeface="Roboto"/>
              </a:rPr>
              <a:t>Let's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see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6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333333"/>
                </a:solidFill>
                <a:latin typeface="Roboto"/>
                <a:cs typeface="Roboto"/>
              </a:rPr>
              <a:t>example: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275075" y="138241"/>
            <a:ext cx="5126990" cy="383540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3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300" b="1" spc="-6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300" spc="-50">
                <a:latin typeface="Roboto"/>
                <a:cs typeface="Roboto"/>
              </a:rPr>
              <a:t>B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93980">
              <a:lnSpc>
                <a:spcPct val="100000"/>
              </a:lnSpc>
              <a:spcBef>
                <a:spcPts val="915"/>
              </a:spcBef>
            </a:pPr>
            <a:r>
              <a:rPr sz="1300">
                <a:latin typeface="Roboto"/>
                <a:cs typeface="Roboto"/>
              </a:rPr>
              <a:t>A4</a:t>
            </a:r>
            <a:r>
              <a:rPr sz="1300" spc="-10">
                <a:latin typeface="Roboto"/>
                <a:cs typeface="Roboto"/>
              </a:rPr>
              <a:t> </a:t>
            </a:r>
            <a:r>
              <a:rPr sz="1300" spc="-20">
                <a:latin typeface="Roboto"/>
                <a:cs typeface="Roboto"/>
              </a:rPr>
              <a:t>obj;</a:t>
            </a:r>
            <a:endParaRPr sz="1300">
              <a:latin typeface="Roboto"/>
              <a:cs typeface="Roboto"/>
            </a:endParaRPr>
          </a:p>
          <a:p>
            <a:pPr marL="551180">
              <a:lnSpc>
                <a:spcPct val="100000"/>
              </a:lnSpc>
              <a:spcBef>
                <a:spcPts val="915"/>
              </a:spcBef>
            </a:pPr>
            <a:r>
              <a:rPr sz="1300">
                <a:latin typeface="Roboto"/>
                <a:cs typeface="Roboto"/>
              </a:rPr>
              <a:t>B(A4</a:t>
            </a:r>
            <a:r>
              <a:rPr sz="1300" spc="-20">
                <a:latin typeface="Roboto"/>
                <a:cs typeface="Roboto"/>
              </a:rPr>
              <a:t> obj)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633095">
              <a:lnSpc>
                <a:spcPct val="100000"/>
              </a:lnSpc>
              <a:spcBef>
                <a:spcPts val="915"/>
              </a:spcBef>
            </a:pPr>
            <a:r>
              <a:rPr sz="13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300" spc="-10">
                <a:latin typeface="Roboto"/>
                <a:cs typeface="Roboto"/>
              </a:rPr>
              <a:t>.obj=obj;</a:t>
            </a:r>
            <a:endParaRPr sz="1300">
              <a:latin typeface="Roboto"/>
              <a:cs typeface="Roboto"/>
            </a:endParaRPr>
          </a:p>
          <a:p>
            <a:pPr marL="551180">
              <a:lnSpc>
                <a:spcPct val="100000"/>
              </a:lnSpc>
              <a:spcBef>
                <a:spcPts val="9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  <a:p>
            <a:pPr marL="551180">
              <a:lnSpc>
                <a:spcPct val="100000"/>
              </a:lnSpc>
              <a:spcBef>
                <a:spcPts val="915"/>
              </a:spcBef>
            </a:pPr>
            <a:r>
              <a:rPr sz="13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300" b="1" spc="-5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300" spc="-10">
                <a:latin typeface="Roboto"/>
                <a:cs typeface="Roboto"/>
              </a:rPr>
              <a:t>display()</a:t>
            </a:r>
            <a:endParaRPr sz="13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15"/>
              </a:spcBef>
            </a:pPr>
            <a:r>
              <a:rPr sz="1300" spc="-50">
                <a:latin typeface="Roboto"/>
                <a:cs typeface="Roboto"/>
              </a:rPr>
              <a:t>{</a:t>
            </a:r>
            <a:endParaRPr sz="1300">
              <a:latin typeface="Roboto"/>
              <a:cs typeface="Roboto"/>
            </a:endParaRPr>
          </a:p>
          <a:p>
            <a:pPr marL="632460">
              <a:lnSpc>
                <a:spcPct val="100000"/>
              </a:lnSpc>
              <a:spcBef>
                <a:spcPts val="915"/>
              </a:spcBef>
            </a:pPr>
            <a:r>
              <a:rPr sz="1300" spc="-25">
                <a:latin typeface="Roboto"/>
                <a:cs typeface="Roboto"/>
              </a:rPr>
              <a:t>System.out.println(obj.data);</a:t>
            </a:r>
            <a:r>
              <a:rPr sz="1300" spc="-25">
                <a:solidFill>
                  <a:srgbClr val="008200"/>
                </a:solidFill>
                <a:latin typeface="Roboto"/>
                <a:cs typeface="Roboto"/>
              </a:rPr>
              <a:t>//using</a:t>
            </a:r>
            <a:r>
              <a:rPr sz="1300" spc="20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300">
                <a:solidFill>
                  <a:srgbClr val="008200"/>
                </a:solidFill>
                <a:latin typeface="Roboto"/>
                <a:cs typeface="Roboto"/>
              </a:rPr>
              <a:t>data</a:t>
            </a:r>
            <a:r>
              <a:rPr sz="1300" spc="20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300">
                <a:solidFill>
                  <a:srgbClr val="008200"/>
                </a:solidFill>
                <a:latin typeface="Roboto"/>
                <a:cs typeface="Roboto"/>
              </a:rPr>
              <a:t>member</a:t>
            </a:r>
            <a:r>
              <a:rPr sz="1300" spc="25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300">
                <a:solidFill>
                  <a:srgbClr val="008200"/>
                </a:solidFill>
                <a:latin typeface="Roboto"/>
                <a:cs typeface="Roboto"/>
              </a:rPr>
              <a:t>of</a:t>
            </a:r>
            <a:r>
              <a:rPr sz="1300" spc="20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300">
                <a:solidFill>
                  <a:srgbClr val="008200"/>
                </a:solidFill>
                <a:latin typeface="Roboto"/>
                <a:cs typeface="Roboto"/>
              </a:rPr>
              <a:t>A4</a:t>
            </a:r>
            <a:r>
              <a:rPr sz="1300" spc="25">
                <a:solidFill>
                  <a:srgbClr val="008200"/>
                </a:solidFill>
                <a:latin typeface="Roboto"/>
                <a:cs typeface="Roboto"/>
              </a:rPr>
              <a:t> </a:t>
            </a:r>
            <a:r>
              <a:rPr sz="1300" spc="-10">
                <a:solidFill>
                  <a:srgbClr val="008200"/>
                </a:solidFill>
                <a:latin typeface="Roboto"/>
                <a:cs typeface="Roboto"/>
              </a:rPr>
              <a:t>class</a:t>
            </a:r>
            <a:endParaRPr sz="1300">
              <a:latin typeface="Roboto"/>
              <a:cs typeface="Roboto"/>
            </a:endParaRPr>
          </a:p>
          <a:p>
            <a:pPr marL="551180">
              <a:lnSpc>
                <a:spcPct val="100000"/>
              </a:lnSpc>
              <a:spcBef>
                <a:spcPts val="9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spc="-50">
                <a:latin typeface="Roboto"/>
                <a:cs typeface="Roboto"/>
              </a:rPr>
              <a:t>}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2325" y="152084"/>
            <a:ext cx="2558415" cy="37401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200" b="1" spc="-3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5">
                <a:latin typeface="Roboto"/>
                <a:cs typeface="Roboto"/>
              </a:rPr>
              <a:t>A4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int</a:t>
            </a:r>
            <a:r>
              <a:rPr sz="12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10">
                <a:latin typeface="Roboto"/>
                <a:cs typeface="Roboto"/>
              </a:rPr>
              <a:t>data=</a:t>
            </a:r>
            <a:r>
              <a:rPr sz="1200" spc="-10">
                <a:solidFill>
                  <a:srgbClr val="C00000"/>
                </a:solidFill>
                <a:latin typeface="Roboto"/>
                <a:cs typeface="Roboto"/>
              </a:rPr>
              <a:t>10</a:t>
            </a:r>
            <a:r>
              <a:rPr sz="1200" spc="-10">
                <a:latin typeface="Roboto"/>
                <a:cs typeface="Roboto"/>
              </a:rPr>
              <a:t>;</a:t>
            </a:r>
            <a:endParaRPr sz="1200">
              <a:latin typeface="Roboto"/>
              <a:cs typeface="Roboto"/>
            </a:endParaRPr>
          </a:p>
          <a:p>
            <a:pPr marL="544830">
              <a:lnSpc>
                <a:spcPct val="100000"/>
              </a:lnSpc>
              <a:spcBef>
                <a:spcPts val="810"/>
              </a:spcBef>
            </a:pPr>
            <a:r>
              <a:rPr sz="1200" spc="-20">
                <a:latin typeface="Roboto"/>
                <a:cs typeface="Roboto"/>
              </a:rPr>
              <a:t>A4()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582295" marR="860425">
              <a:lnSpc>
                <a:spcPct val="156200"/>
              </a:lnSpc>
            </a:pPr>
            <a:r>
              <a:rPr sz="1200">
                <a:latin typeface="Roboto"/>
                <a:cs typeface="Roboto"/>
              </a:rPr>
              <a:t>B</a:t>
            </a:r>
            <a:r>
              <a:rPr sz="1200" spc="-45">
                <a:latin typeface="Roboto"/>
                <a:cs typeface="Roboto"/>
              </a:rPr>
              <a:t> </a:t>
            </a:r>
            <a:r>
              <a:rPr sz="1200">
                <a:latin typeface="Roboto"/>
                <a:cs typeface="Roboto"/>
              </a:rPr>
              <a:t>b=</a:t>
            </a: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200" b="1" spc="-4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10">
                <a:latin typeface="Roboto"/>
                <a:cs typeface="Roboto"/>
              </a:rPr>
              <a:t>B(</a:t>
            </a: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200" spc="-10">
                <a:latin typeface="Roboto"/>
                <a:cs typeface="Roboto"/>
              </a:rPr>
              <a:t>); b.display();</a:t>
            </a:r>
            <a:endParaRPr sz="1200">
              <a:latin typeface="Roboto"/>
              <a:cs typeface="Roboto"/>
            </a:endParaRPr>
          </a:p>
          <a:p>
            <a:pPr marL="54483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b="1" spc="-10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2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2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0">
                <a:latin typeface="Roboto"/>
                <a:cs typeface="Roboto"/>
              </a:rPr>
              <a:t>main(String</a:t>
            </a:r>
            <a:r>
              <a:rPr sz="1200" spc="-30">
                <a:latin typeface="Roboto"/>
                <a:cs typeface="Roboto"/>
              </a:rPr>
              <a:t> </a:t>
            </a:r>
            <a:r>
              <a:rPr sz="1200" spc="-10">
                <a:latin typeface="Roboto"/>
                <a:cs typeface="Roboto"/>
              </a:rPr>
              <a:t>args[])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{</a:t>
            </a:r>
            <a:endParaRPr sz="1200">
              <a:latin typeface="Roboto"/>
              <a:cs typeface="Roboto"/>
            </a:endParaRPr>
          </a:p>
          <a:p>
            <a:pPr marL="582295">
              <a:lnSpc>
                <a:spcPct val="100000"/>
              </a:lnSpc>
              <a:spcBef>
                <a:spcPts val="810"/>
              </a:spcBef>
            </a:pPr>
            <a:r>
              <a:rPr sz="1200">
                <a:latin typeface="Roboto"/>
                <a:cs typeface="Roboto"/>
              </a:rPr>
              <a:t>A4</a:t>
            </a:r>
            <a:r>
              <a:rPr sz="1200" spc="-25">
                <a:latin typeface="Roboto"/>
                <a:cs typeface="Roboto"/>
              </a:rPr>
              <a:t> </a:t>
            </a:r>
            <a:r>
              <a:rPr sz="1200">
                <a:latin typeface="Roboto"/>
                <a:cs typeface="Roboto"/>
              </a:rPr>
              <a:t>a=</a:t>
            </a:r>
            <a:r>
              <a:rPr sz="12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200" b="1" spc="-2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200" spc="-20">
                <a:latin typeface="Roboto"/>
                <a:cs typeface="Roboto"/>
              </a:rPr>
              <a:t>A4();</a:t>
            </a:r>
            <a:endParaRPr sz="1200">
              <a:latin typeface="Roboto"/>
              <a:cs typeface="Roboto"/>
            </a:endParaRPr>
          </a:p>
          <a:p>
            <a:pPr marL="54483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200" spc="-50">
                <a:latin typeface="Roboto"/>
                <a:cs typeface="Roboto"/>
              </a:rPr>
              <a:t>}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6)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this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keyword</a:t>
            </a:r>
            <a:r>
              <a:rPr sz="17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can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be</a:t>
            </a:r>
            <a:r>
              <a:rPr sz="17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used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return</a:t>
            </a:r>
            <a:r>
              <a:rPr sz="17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current</a:t>
            </a:r>
            <a:r>
              <a:rPr sz="17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r>
              <a:rPr sz="17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instance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086273"/>
            <a:ext cx="6651625" cy="29495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69265" indent="-335915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469265"/>
              </a:tabLst>
            </a:pP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We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can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20">
                <a:solidFill>
                  <a:srgbClr val="333333"/>
                </a:solidFill>
                <a:latin typeface="Roboto"/>
                <a:cs typeface="Roboto"/>
              </a:rPr>
              <a:t>return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sz="14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20">
                <a:solidFill>
                  <a:srgbClr val="333333"/>
                </a:solidFill>
                <a:latin typeface="Roboto"/>
                <a:cs typeface="Roboto"/>
              </a:rPr>
              <a:t>keyword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as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an</a:t>
            </a:r>
            <a:r>
              <a:rPr sz="14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20">
                <a:solidFill>
                  <a:srgbClr val="333333"/>
                </a:solidFill>
                <a:latin typeface="Roboto"/>
                <a:cs typeface="Roboto"/>
              </a:rPr>
              <a:t>statement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from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4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method.</a:t>
            </a:r>
            <a:endParaRPr sz="1400">
              <a:latin typeface="Roboto"/>
              <a:cs typeface="Roboto"/>
            </a:endParaRPr>
          </a:p>
          <a:p>
            <a:pPr marL="513715" indent="-38036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13715"/>
              </a:tabLst>
            </a:pP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such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case,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20">
                <a:solidFill>
                  <a:srgbClr val="333333"/>
                </a:solidFill>
                <a:latin typeface="Roboto"/>
                <a:cs typeface="Roboto"/>
              </a:rPr>
              <a:t>return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type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method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must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be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class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type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45">
                <a:solidFill>
                  <a:srgbClr val="333333"/>
                </a:solidFill>
                <a:latin typeface="Roboto"/>
                <a:cs typeface="Roboto"/>
              </a:rPr>
              <a:t>(non-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primitive).</a:t>
            </a:r>
            <a:endParaRPr sz="1400">
              <a:latin typeface="Roboto"/>
              <a:cs typeface="Roboto"/>
            </a:endParaRPr>
          </a:p>
          <a:p>
            <a:pPr marL="513715" indent="-38036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13715"/>
              </a:tabLst>
            </a:pPr>
            <a:r>
              <a:rPr sz="1400" spc="-30">
                <a:solidFill>
                  <a:srgbClr val="333333"/>
                </a:solidFill>
                <a:latin typeface="Roboto"/>
                <a:cs typeface="Roboto"/>
              </a:rPr>
              <a:t>Let's</a:t>
            </a:r>
            <a:r>
              <a:rPr sz="14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see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sz="14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400" spc="-10">
                <a:solidFill>
                  <a:srgbClr val="333333"/>
                </a:solidFill>
                <a:latin typeface="Roboto"/>
                <a:cs typeface="Roboto"/>
              </a:rPr>
              <a:t>example: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Syntax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of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this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that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can</a:t>
            </a:r>
            <a:r>
              <a:rPr sz="15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be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returned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as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610B4B"/>
                </a:solidFill>
                <a:latin typeface="Arial MT"/>
                <a:cs typeface="Arial MT"/>
              </a:rPr>
              <a:t>a</a:t>
            </a:r>
            <a:r>
              <a:rPr sz="1500" spc="-3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500" spc="-10">
                <a:solidFill>
                  <a:srgbClr val="610B4B"/>
                </a:solidFill>
                <a:latin typeface="Arial MT"/>
                <a:cs typeface="Arial MT"/>
              </a:rPr>
              <a:t>statement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400" spc="-25">
                <a:latin typeface="Roboto"/>
                <a:cs typeface="Roboto"/>
              </a:rPr>
              <a:t>return_type</a:t>
            </a:r>
            <a:r>
              <a:rPr sz="1400" spc="-5"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method_name()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4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b="1" spc="-1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400" spc="-10">
                <a:latin typeface="Roboto"/>
                <a:cs typeface="Roboto"/>
              </a:rPr>
              <a:t>;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81162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3903682"/>
            <a:ext cx="9144000" cy="1240155"/>
            <a:chOff x="0" y="3903682"/>
            <a:chExt cx="9144000" cy="1240155"/>
          </a:xfrm>
        </p:grpSpPr>
        <p:sp>
          <p:nvSpPr>
            <p:cNvPr id="5" name="object 5"/>
            <p:cNvSpPr/>
            <p:nvPr/>
          </p:nvSpPr>
          <p:spPr>
            <a:xfrm>
              <a:off x="8154757" y="3903682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891594"/>
              <a:ext cx="9144000" cy="252095"/>
            </a:xfrm>
            <a:custGeom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900" y="406446"/>
            <a:ext cx="685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600" b="1" spc="-6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50">
                <a:solidFill>
                  <a:srgbClr val="000000"/>
                </a:solidFill>
                <a:latin typeface="Roboto"/>
                <a:cs typeface="Roboto"/>
              </a:rPr>
              <a:t>A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900" y="650286"/>
            <a:ext cx="3317875" cy="3835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>
                <a:latin typeface="Roboto"/>
                <a:cs typeface="Roboto"/>
              </a:rPr>
              <a:t>A</a:t>
            </a:r>
            <a:r>
              <a:rPr sz="1600" spc="25"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getA()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return</a:t>
            </a:r>
            <a:r>
              <a:rPr sz="1600" b="1" spc="-3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b="1" spc="-20">
                <a:solidFill>
                  <a:srgbClr val="006699"/>
                </a:solidFill>
                <a:latin typeface="Roboto"/>
                <a:cs typeface="Roboto"/>
              </a:rPr>
              <a:t>this</a:t>
            </a:r>
            <a:r>
              <a:rPr sz="1600" spc="-20">
                <a:latin typeface="Roboto"/>
                <a:cs typeface="Roboto"/>
              </a:rPr>
              <a:t>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6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600" spc="-10">
                <a:latin typeface="Roboto"/>
                <a:cs typeface="Roboto"/>
              </a:rPr>
              <a:t>msg()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{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20">
                <a:latin typeface="Roboto"/>
                <a:cs typeface="Roboto"/>
              </a:rPr>
              <a:t>System.out.println(</a:t>
            </a:r>
            <a:r>
              <a:rPr sz="1600" spc="-20">
                <a:solidFill>
                  <a:srgbClr val="0000FF"/>
                </a:solidFill>
                <a:latin typeface="Roboto"/>
                <a:cs typeface="Roboto"/>
              </a:rPr>
              <a:t>"Hello</a:t>
            </a:r>
            <a:r>
              <a:rPr sz="1600" spc="3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0000FF"/>
                </a:solidFill>
                <a:latin typeface="Roboto"/>
                <a:cs typeface="Roboto"/>
              </a:rPr>
              <a:t>java"</a:t>
            </a:r>
            <a:r>
              <a:rPr sz="1600" spc="-10">
                <a:latin typeface="Roboto"/>
                <a:cs typeface="Roboto"/>
              </a:rPr>
              <a:t>);</a:t>
            </a:r>
            <a:endParaRPr sz="16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1099" y="558123"/>
            <a:ext cx="3348990" cy="23971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b="1" spc="-10">
                <a:solidFill>
                  <a:srgbClr val="006699"/>
                </a:solidFill>
                <a:latin typeface="Roboto"/>
                <a:cs typeface="Roboto"/>
              </a:rPr>
              <a:t>class</a:t>
            </a:r>
            <a:r>
              <a:rPr sz="1400" b="1" spc="-40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Test1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44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public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static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void</a:t>
            </a:r>
            <a:r>
              <a:rPr sz="1400" b="1" spc="-5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main(String</a:t>
            </a:r>
            <a:r>
              <a:rPr sz="1400" spc="-50"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args[])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45"/>
              </a:spcBef>
            </a:pPr>
            <a:r>
              <a:rPr sz="1400" spc="-50">
                <a:latin typeface="Roboto"/>
                <a:cs typeface="Roboto"/>
              </a:rPr>
              <a:t>{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45"/>
              </a:spcBef>
            </a:pPr>
            <a:r>
              <a:rPr sz="1400" b="1">
                <a:solidFill>
                  <a:srgbClr val="006699"/>
                </a:solidFill>
                <a:latin typeface="Roboto"/>
                <a:cs typeface="Roboto"/>
              </a:rPr>
              <a:t>new</a:t>
            </a:r>
            <a:r>
              <a:rPr sz="1400" b="1" spc="-25">
                <a:solidFill>
                  <a:srgbClr val="006699"/>
                </a:solidFill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A().getA().msg();</a:t>
            </a:r>
            <a:endParaRPr sz="1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945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spc="-50">
                <a:latin typeface="Roboto"/>
                <a:cs typeface="Roboto"/>
              </a:rPr>
              <a:t>}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0273" y="3903669"/>
            <a:ext cx="989330" cy="988060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1366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94"/>
              </a:spcBef>
            </a:pPr>
            <a:endParaRPr sz="1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1400">
                <a:solidFill>
                  <a:srgbClr val="F9F9F9"/>
                </a:solidFill>
                <a:latin typeface="Arial MT"/>
                <a:cs typeface="Arial MT"/>
              </a:rPr>
              <a:t>Hello</a:t>
            </a:r>
            <a:r>
              <a:rPr sz="1400" spc="-2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9F9F9"/>
                </a:solidFill>
                <a:latin typeface="Arial MT"/>
                <a:cs typeface="Arial MT"/>
              </a:rPr>
              <a:t>java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6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/>
              <a:t>Interface</a:t>
            </a:r>
            <a:r>
              <a:rPr sz="2400" spc="-40"/>
              <a:t> </a:t>
            </a:r>
            <a:r>
              <a:rPr sz="2400"/>
              <a:t>in</a:t>
            </a:r>
            <a:r>
              <a:rPr sz="2400" spc="-35"/>
              <a:t> </a:t>
            </a:r>
            <a:r>
              <a:rPr sz="2400" spc="-20"/>
              <a:t>Java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29" rIns="0" bIns="0" rtlCol="0">
            <a:spAutoFit/>
          </a:bodyPr>
          <a:lstStyle/>
          <a:p>
            <a:pPr marL="469265" indent="-358775">
              <a:lnSpc>
                <a:spcPct val="100000"/>
              </a:lnSpc>
              <a:spcBef>
                <a:spcPts val="434"/>
              </a:spcBef>
              <a:buFont typeface="Arial MT"/>
              <a:buChar char="●"/>
              <a:tabLst>
                <a:tab pos="469900"/>
              </a:tabLst>
            </a:pPr>
            <a:r>
              <a:rPr sz="1700"/>
              <a:t>An</a:t>
            </a:r>
            <a:r>
              <a:rPr sz="1700" spc="-35"/>
              <a:t> </a:t>
            </a:r>
            <a:r>
              <a:rPr sz="1700" b="1">
                <a:latin typeface="Verdana"/>
                <a:cs typeface="Verdana"/>
              </a:rPr>
              <a:t>interface</a:t>
            </a:r>
            <a:r>
              <a:rPr sz="1700" b="1" spc="-30">
                <a:latin typeface="Verdana"/>
                <a:cs typeface="Verdana"/>
              </a:rPr>
              <a:t> </a:t>
            </a:r>
            <a:r>
              <a:rPr sz="1700" b="1">
                <a:latin typeface="Verdana"/>
                <a:cs typeface="Verdana"/>
              </a:rPr>
              <a:t>in</a:t>
            </a:r>
            <a:r>
              <a:rPr sz="1700" b="1" spc="-35">
                <a:latin typeface="Verdana"/>
                <a:cs typeface="Verdana"/>
              </a:rPr>
              <a:t> </a:t>
            </a:r>
            <a:r>
              <a:rPr sz="1700" b="1">
                <a:latin typeface="Verdana"/>
                <a:cs typeface="Verdana"/>
              </a:rPr>
              <a:t>Java</a:t>
            </a:r>
            <a:r>
              <a:rPr sz="1700" b="1" spc="-15">
                <a:latin typeface="Verdana"/>
                <a:cs typeface="Verdana"/>
              </a:rPr>
              <a:t> </a:t>
            </a:r>
            <a:r>
              <a:rPr sz="1700"/>
              <a:t>is</a:t>
            </a:r>
            <a:r>
              <a:rPr sz="1700" spc="-35"/>
              <a:t> </a:t>
            </a:r>
            <a:r>
              <a:rPr sz="1700"/>
              <a:t>a</a:t>
            </a:r>
            <a:r>
              <a:rPr sz="1700" spc="-35"/>
              <a:t> </a:t>
            </a:r>
            <a:r>
              <a:rPr sz="1700"/>
              <a:t>blueprint</a:t>
            </a:r>
            <a:r>
              <a:rPr sz="1700" spc="-40"/>
              <a:t> </a:t>
            </a:r>
            <a:r>
              <a:rPr sz="1700"/>
              <a:t>of</a:t>
            </a:r>
            <a:r>
              <a:rPr sz="1700" spc="-35"/>
              <a:t> </a:t>
            </a:r>
            <a:r>
              <a:rPr sz="1700"/>
              <a:t>a</a:t>
            </a:r>
            <a:r>
              <a:rPr sz="1700" spc="-35"/>
              <a:t> </a:t>
            </a:r>
            <a:r>
              <a:rPr sz="1700" spc="-10"/>
              <a:t>class.</a:t>
            </a:r>
            <a:endParaRPr sz="1700">
              <a:latin typeface="Verdana"/>
              <a:cs typeface="Verdana"/>
            </a:endParaRPr>
          </a:p>
          <a:p>
            <a:pPr marL="469265" indent="-358775">
              <a:lnSpc>
                <a:spcPct val="100000"/>
              </a:lnSpc>
              <a:spcBef>
                <a:spcPts val="334"/>
              </a:spcBef>
              <a:buFont typeface="Arial MT"/>
              <a:buChar char="●"/>
              <a:tabLst>
                <a:tab pos="469900"/>
              </a:tabLst>
            </a:pPr>
            <a:r>
              <a:rPr sz="1700"/>
              <a:t>It</a:t>
            </a:r>
            <a:r>
              <a:rPr sz="1700" spc="-75"/>
              <a:t> </a:t>
            </a:r>
            <a:r>
              <a:rPr sz="1700"/>
              <a:t>has</a:t>
            </a:r>
            <a:r>
              <a:rPr sz="1700" spc="-70"/>
              <a:t> </a:t>
            </a:r>
            <a:r>
              <a:rPr sz="1700"/>
              <a:t>static</a:t>
            </a:r>
            <a:r>
              <a:rPr sz="1700" spc="-70"/>
              <a:t> </a:t>
            </a:r>
            <a:r>
              <a:rPr sz="1700"/>
              <a:t>constants</a:t>
            </a:r>
            <a:r>
              <a:rPr sz="1700" spc="-75"/>
              <a:t> </a:t>
            </a:r>
            <a:r>
              <a:rPr sz="1700"/>
              <a:t>and</a:t>
            </a:r>
            <a:r>
              <a:rPr sz="1700" spc="-70"/>
              <a:t> </a:t>
            </a:r>
            <a:r>
              <a:rPr sz="1700"/>
              <a:t>abstract</a:t>
            </a:r>
            <a:r>
              <a:rPr sz="1700" spc="-70"/>
              <a:t> </a:t>
            </a:r>
            <a:r>
              <a:rPr sz="1700" spc="-10"/>
              <a:t>methods.</a:t>
            </a:r>
            <a:endParaRPr sz="1700"/>
          </a:p>
          <a:p>
            <a:pPr marL="469265" indent="-358775">
              <a:lnSpc>
                <a:spcPct val="100000"/>
              </a:lnSpc>
              <a:spcBef>
                <a:spcPts val="284"/>
              </a:spcBef>
              <a:buClr>
                <a:srgbClr val="434343"/>
              </a:buClr>
              <a:buFont typeface="Arial MT"/>
              <a:buChar char="●"/>
              <a:tabLst>
                <a:tab pos="469900"/>
              </a:tabLst>
            </a:pPr>
            <a:r>
              <a:rPr sz="1700"/>
              <a:t>It</a:t>
            </a:r>
            <a:r>
              <a:rPr sz="1700" spc="-35"/>
              <a:t> </a:t>
            </a:r>
            <a:r>
              <a:rPr sz="1700"/>
              <a:t>is</a:t>
            </a:r>
            <a:r>
              <a:rPr sz="1700" spc="-35"/>
              <a:t> </a:t>
            </a:r>
            <a:r>
              <a:rPr sz="1700"/>
              <a:t>used</a:t>
            </a:r>
            <a:r>
              <a:rPr sz="1700" spc="-35"/>
              <a:t> </a:t>
            </a:r>
            <a:r>
              <a:rPr sz="1700"/>
              <a:t>to</a:t>
            </a:r>
            <a:r>
              <a:rPr sz="1700" spc="-35"/>
              <a:t> </a:t>
            </a:r>
            <a:r>
              <a:rPr sz="1700"/>
              <a:t>achieve</a:t>
            </a:r>
            <a:r>
              <a:rPr sz="1700" spc="-35"/>
              <a:t> </a:t>
            </a:r>
            <a:r>
              <a:rPr sz="1700" spc="-10"/>
              <a:t>abstraction</a:t>
            </a:r>
            <a:r>
              <a:rPr sz="1700" spc="-35"/>
              <a:t> </a:t>
            </a:r>
            <a:r>
              <a:rPr sz="1700"/>
              <a:t>and</a:t>
            </a:r>
            <a:r>
              <a:rPr sz="1700" spc="-35"/>
              <a:t> </a:t>
            </a:r>
            <a:r>
              <a:rPr sz="1700"/>
              <a:t>multiple</a:t>
            </a:r>
            <a:r>
              <a:rPr sz="1700" spc="-5"/>
              <a:t> </a:t>
            </a:r>
            <a:r>
              <a:rPr sz="1700">
                <a:solidFill>
                  <a:srgbClr val="008000"/>
                </a:solidFill>
                <a:hlinkClick r:id="rId2"/>
              </a:rPr>
              <a:t>inheritance</a:t>
            </a:r>
            <a:r>
              <a:rPr sz="1700" spc="-35">
                <a:solidFill>
                  <a:srgbClr val="008000"/>
                </a:solidFill>
                <a:hlinkClick r:id="rId2"/>
              </a:rPr>
              <a:t> </a:t>
            </a:r>
            <a:r>
              <a:rPr sz="1700">
                <a:solidFill>
                  <a:srgbClr val="008000"/>
                </a:solidFill>
                <a:hlinkClick r:id="rId2"/>
              </a:rPr>
              <a:t>in</a:t>
            </a:r>
            <a:r>
              <a:rPr sz="1700" spc="-35">
                <a:solidFill>
                  <a:srgbClr val="008000"/>
                </a:solidFill>
                <a:hlinkClick r:id="rId2"/>
              </a:rPr>
              <a:t> </a:t>
            </a:r>
            <a:r>
              <a:rPr sz="1700" spc="-10">
                <a:solidFill>
                  <a:srgbClr val="008000"/>
                </a:solidFill>
                <a:hlinkClick r:id="rId2"/>
              </a:rPr>
              <a:t>Java</a:t>
            </a:r>
            <a:r>
              <a:rPr sz="1700" spc="-10"/>
              <a:t>.</a:t>
            </a:r>
            <a:endParaRPr sz="1700"/>
          </a:p>
          <a:p>
            <a:pPr marL="469265" marR="5080" indent="-359410">
              <a:lnSpc>
                <a:spcPct val="113999"/>
              </a:lnSpc>
              <a:buFont typeface="Arial MT"/>
              <a:buChar char="●"/>
              <a:tabLst>
                <a:tab pos="469900"/>
              </a:tabLst>
            </a:pPr>
            <a:r>
              <a:rPr sz="1700"/>
              <a:t>In</a:t>
            </a:r>
            <a:r>
              <a:rPr sz="1700" spc="70"/>
              <a:t> </a:t>
            </a:r>
            <a:r>
              <a:rPr sz="1700"/>
              <a:t>other</a:t>
            </a:r>
            <a:r>
              <a:rPr sz="1700" spc="70"/>
              <a:t> </a:t>
            </a:r>
            <a:r>
              <a:rPr sz="1700"/>
              <a:t>words,</a:t>
            </a:r>
            <a:r>
              <a:rPr sz="1700" spc="65"/>
              <a:t> </a:t>
            </a:r>
            <a:r>
              <a:rPr sz="1700"/>
              <a:t>you</a:t>
            </a:r>
            <a:r>
              <a:rPr sz="1700" spc="70"/>
              <a:t> </a:t>
            </a:r>
            <a:r>
              <a:rPr sz="1700"/>
              <a:t>can</a:t>
            </a:r>
            <a:r>
              <a:rPr sz="1700" spc="70"/>
              <a:t> </a:t>
            </a:r>
            <a:r>
              <a:rPr sz="1700"/>
              <a:t>say</a:t>
            </a:r>
            <a:r>
              <a:rPr sz="1700" spc="70"/>
              <a:t> </a:t>
            </a:r>
            <a:r>
              <a:rPr sz="1700"/>
              <a:t>that</a:t>
            </a:r>
            <a:r>
              <a:rPr sz="1700" spc="70"/>
              <a:t> </a:t>
            </a:r>
            <a:r>
              <a:rPr sz="1700"/>
              <a:t>interfaces</a:t>
            </a:r>
            <a:r>
              <a:rPr sz="1700" spc="70"/>
              <a:t> </a:t>
            </a:r>
            <a:r>
              <a:rPr sz="1700"/>
              <a:t>can</a:t>
            </a:r>
            <a:r>
              <a:rPr sz="1700" spc="70"/>
              <a:t> </a:t>
            </a:r>
            <a:r>
              <a:rPr sz="1700"/>
              <a:t>have</a:t>
            </a:r>
            <a:r>
              <a:rPr sz="1700" spc="70"/>
              <a:t> </a:t>
            </a:r>
            <a:r>
              <a:rPr sz="1700"/>
              <a:t>abstract</a:t>
            </a:r>
            <a:r>
              <a:rPr sz="1700" spc="70"/>
              <a:t> </a:t>
            </a:r>
            <a:r>
              <a:rPr sz="1700" spc="-10"/>
              <a:t>methods </a:t>
            </a:r>
            <a:r>
              <a:rPr sz="1700"/>
              <a:t>and</a:t>
            </a:r>
            <a:r>
              <a:rPr sz="1700" spc="-50"/>
              <a:t> </a:t>
            </a:r>
            <a:r>
              <a:rPr sz="1700" spc="-10"/>
              <a:t>variables.</a:t>
            </a:r>
            <a:endParaRPr sz="1700"/>
          </a:p>
          <a:p>
            <a:pPr marL="469265" indent="-358775">
              <a:lnSpc>
                <a:spcPct val="100000"/>
              </a:lnSpc>
              <a:spcBef>
                <a:spcPts val="284"/>
              </a:spcBef>
              <a:buFont typeface="Arial MT"/>
              <a:buChar char="●"/>
              <a:tabLst>
                <a:tab pos="469900"/>
              </a:tabLst>
            </a:pPr>
            <a:r>
              <a:rPr sz="1700"/>
              <a:t>It</a:t>
            </a:r>
            <a:r>
              <a:rPr sz="1700" spc="-50"/>
              <a:t> </a:t>
            </a:r>
            <a:r>
              <a:rPr sz="1700"/>
              <a:t>cannot</a:t>
            </a:r>
            <a:r>
              <a:rPr sz="1700" spc="-50"/>
              <a:t> </a:t>
            </a:r>
            <a:r>
              <a:rPr sz="1700"/>
              <a:t>have</a:t>
            </a:r>
            <a:r>
              <a:rPr sz="1700" spc="-50"/>
              <a:t> </a:t>
            </a:r>
            <a:r>
              <a:rPr sz="1700"/>
              <a:t>a</a:t>
            </a:r>
            <a:r>
              <a:rPr sz="1700" spc="-45"/>
              <a:t> </a:t>
            </a:r>
            <a:r>
              <a:rPr sz="1700"/>
              <a:t>method</a:t>
            </a:r>
            <a:r>
              <a:rPr sz="1700" spc="-50"/>
              <a:t> </a:t>
            </a:r>
            <a:r>
              <a:rPr sz="1700" spc="-20"/>
              <a:t>body.</a:t>
            </a:r>
            <a:endParaRPr sz="1700"/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Why</a:t>
            </a:r>
            <a:r>
              <a:rPr sz="1900" spc="-40"/>
              <a:t> </a:t>
            </a:r>
            <a:r>
              <a:rPr sz="1900"/>
              <a:t>use</a:t>
            </a:r>
            <a:r>
              <a:rPr sz="1900" spc="-35"/>
              <a:t> </a:t>
            </a:r>
            <a:r>
              <a:rPr sz="1900"/>
              <a:t>Java</a:t>
            </a:r>
            <a:r>
              <a:rPr sz="1900" spc="-40"/>
              <a:t> </a:t>
            </a:r>
            <a:r>
              <a:rPr sz="1900" spc="-10"/>
              <a:t>interface?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22279"/>
            <a:ext cx="7130415" cy="218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Verdana"/>
                <a:cs typeface="Verdana"/>
              </a:rPr>
              <a:t>There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are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mainly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three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reasons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to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use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interface.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>
                <a:latin typeface="Verdana"/>
                <a:cs typeface="Verdana"/>
              </a:rPr>
              <a:t>They</a:t>
            </a:r>
            <a:r>
              <a:rPr sz="1500" spc="-2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are</a:t>
            </a:r>
            <a:r>
              <a:rPr sz="1500" spc="-2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given</a:t>
            </a:r>
            <a:r>
              <a:rPr sz="1500" spc="-2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below.</a:t>
            </a:r>
            <a:endParaRPr sz="1500">
              <a:latin typeface="Verdana"/>
              <a:cs typeface="Verdana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Font typeface="Arial MT"/>
              <a:buChar char="●"/>
              <a:tabLst>
                <a:tab pos="469265"/>
              </a:tabLst>
            </a:pPr>
            <a:r>
              <a:rPr sz="1500">
                <a:latin typeface="Verdana"/>
                <a:cs typeface="Verdana"/>
              </a:rPr>
              <a:t>It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is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used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to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achieve</a:t>
            </a:r>
            <a:r>
              <a:rPr sz="1500" spc="-2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abstraction.</a:t>
            </a:r>
            <a:endParaRPr sz="1500">
              <a:latin typeface="Verdana"/>
              <a:cs typeface="Verdana"/>
            </a:endParaRPr>
          </a:p>
          <a:p>
            <a:pPr marL="469265" indent="-343535">
              <a:lnSpc>
                <a:spcPct val="100000"/>
              </a:lnSpc>
              <a:spcBef>
                <a:spcPts val="1050"/>
              </a:spcBef>
              <a:buFont typeface="Arial MT"/>
              <a:buChar char="●"/>
              <a:tabLst>
                <a:tab pos="469265"/>
              </a:tabLst>
            </a:pPr>
            <a:r>
              <a:rPr sz="1500">
                <a:latin typeface="Verdana"/>
                <a:cs typeface="Verdana"/>
              </a:rPr>
              <a:t>By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interface,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we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can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support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the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functionality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of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multiple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inheritance.</a:t>
            </a:r>
            <a:endParaRPr sz="1500">
              <a:latin typeface="Verdana"/>
              <a:cs typeface="Verdana"/>
            </a:endParaRPr>
          </a:p>
          <a:p>
            <a:pPr marL="469265" indent="-343535">
              <a:lnSpc>
                <a:spcPct val="100000"/>
              </a:lnSpc>
              <a:spcBef>
                <a:spcPts val="1050"/>
              </a:spcBef>
              <a:buFont typeface="Arial MT"/>
              <a:buChar char="●"/>
              <a:tabLst>
                <a:tab pos="469265"/>
              </a:tabLst>
            </a:pPr>
            <a:r>
              <a:rPr sz="1500">
                <a:latin typeface="Verdana"/>
                <a:cs typeface="Verdana"/>
              </a:rPr>
              <a:t>It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can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be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used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to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achieve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loose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coupling.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311700" y="271700"/>
            <a:ext cx="8520599" cy="45988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4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/>
              <a:t>How</a:t>
            </a:r>
            <a:r>
              <a:rPr sz="2000" spc="-50"/>
              <a:t> </a:t>
            </a:r>
            <a:r>
              <a:rPr sz="2000"/>
              <a:t>to</a:t>
            </a:r>
            <a:r>
              <a:rPr sz="2000" spc="-50"/>
              <a:t> </a:t>
            </a:r>
            <a:r>
              <a:rPr sz="2000"/>
              <a:t>declare</a:t>
            </a:r>
            <a:r>
              <a:rPr sz="2000" spc="-50"/>
              <a:t> </a:t>
            </a:r>
            <a:r>
              <a:rPr sz="2000"/>
              <a:t>an</a:t>
            </a:r>
            <a:r>
              <a:rPr sz="2000" spc="-50"/>
              <a:t> </a:t>
            </a:r>
            <a:r>
              <a:rPr sz="2000" spc="-10"/>
              <a:t>interface?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490621" y="1383037"/>
            <a:ext cx="8260715" cy="16954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6395" indent="-353695" algn="just">
              <a:lnSpc>
                <a:spcPct val="100000"/>
              </a:lnSpc>
              <a:spcBef>
                <a:spcPts val="405"/>
              </a:spcBef>
              <a:buFont typeface="Arial MT"/>
              <a:buChar char="●"/>
              <a:tabLst>
                <a:tab pos="366395"/>
              </a:tabLst>
            </a:pPr>
            <a:r>
              <a:rPr sz="1600">
                <a:latin typeface="Verdana"/>
                <a:cs typeface="Verdana"/>
              </a:rPr>
              <a:t>An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interface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is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declared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by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using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 b="1">
                <a:latin typeface="Verdana"/>
                <a:cs typeface="Verdana"/>
              </a:rPr>
              <a:t>interface</a:t>
            </a:r>
            <a:r>
              <a:rPr sz="1600" b="1" spc="-40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keyword.</a:t>
            </a:r>
            <a:endParaRPr sz="1600">
              <a:latin typeface="Verdana"/>
              <a:cs typeface="Verdana"/>
            </a:endParaRPr>
          </a:p>
          <a:p>
            <a:pPr marL="363855" marR="5080" indent="-351790" algn="just">
              <a:lnSpc>
                <a:spcPct val="113300"/>
              </a:lnSpc>
              <a:spcBef>
                <a:spcPts val="50"/>
              </a:spcBef>
              <a:buFont typeface="Arial MT"/>
              <a:buChar char="●"/>
              <a:tabLst>
                <a:tab pos="363855"/>
                <a:tab pos="365760"/>
              </a:tabLst>
            </a:pPr>
            <a:r>
              <a:rPr sz="1600">
                <a:latin typeface="Verdana"/>
                <a:cs typeface="Verdana"/>
              </a:rPr>
              <a:t>	It</a:t>
            </a:r>
            <a:r>
              <a:rPr sz="1600" spc="38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provides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total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abstraction;</a:t>
            </a:r>
            <a:r>
              <a:rPr sz="1600" spc="38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means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all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methods</a:t>
            </a:r>
            <a:r>
              <a:rPr sz="1600" spc="38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in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an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interface</a:t>
            </a:r>
            <a:r>
              <a:rPr sz="1600" spc="375">
                <a:latin typeface="Verdana"/>
                <a:cs typeface="Verdana"/>
              </a:rPr>
              <a:t> </a:t>
            </a:r>
            <a:r>
              <a:rPr sz="1600" spc="-25">
                <a:latin typeface="Verdana"/>
                <a:cs typeface="Verdana"/>
              </a:rPr>
              <a:t>are </a:t>
            </a:r>
            <a:r>
              <a:rPr sz="1600">
                <a:latin typeface="Verdana"/>
                <a:cs typeface="Verdana"/>
              </a:rPr>
              <a:t>declared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with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empty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body,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and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all</a:t>
            </a:r>
            <a:r>
              <a:rPr sz="1600" spc="12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fields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are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public,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static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and</a:t>
            </a:r>
            <a:r>
              <a:rPr sz="1600" spc="120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final </a:t>
            </a:r>
            <a:r>
              <a:rPr sz="1600">
                <a:latin typeface="Verdana"/>
                <a:cs typeface="Verdana"/>
              </a:rPr>
              <a:t>by</a:t>
            </a:r>
            <a:r>
              <a:rPr sz="1600" spc="-30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default.</a:t>
            </a:r>
            <a:endParaRPr sz="1600">
              <a:latin typeface="Verdana"/>
              <a:cs typeface="Verdana"/>
            </a:endParaRPr>
          </a:p>
          <a:p>
            <a:pPr marL="363855" marR="5080" indent="-351790" algn="just">
              <a:lnSpc>
                <a:spcPct val="113300"/>
              </a:lnSpc>
              <a:buFont typeface="Arial MT"/>
              <a:buChar char="●"/>
              <a:tabLst>
                <a:tab pos="363855"/>
                <a:tab pos="471170"/>
              </a:tabLst>
            </a:pPr>
            <a:r>
              <a:rPr sz="1600">
                <a:latin typeface="Verdana"/>
                <a:cs typeface="Verdana"/>
              </a:rPr>
              <a:t>	A</a:t>
            </a:r>
            <a:r>
              <a:rPr sz="1600" spc="459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class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that</a:t>
            </a:r>
            <a:r>
              <a:rPr sz="1600" spc="47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implements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an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interface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must</a:t>
            </a:r>
            <a:r>
              <a:rPr sz="1600" spc="47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implement</a:t>
            </a:r>
            <a:r>
              <a:rPr sz="1600" spc="47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all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46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methods </a:t>
            </a:r>
            <a:r>
              <a:rPr sz="1600">
                <a:latin typeface="Verdana"/>
                <a:cs typeface="Verdana"/>
              </a:rPr>
              <a:t>declared</a:t>
            </a:r>
            <a:r>
              <a:rPr sz="1600" spc="-4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in</a:t>
            </a:r>
            <a:r>
              <a:rPr sz="1600" spc="-4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-4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interface.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0285"/>
            <a:ext cx="89217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>
                <a:solidFill>
                  <a:srgbClr val="610B4B"/>
                </a:solidFill>
              </a:rPr>
              <a:t>Syntax:</a:t>
            </a:r>
            <a:endParaRPr sz="2050"/>
          </a:p>
        </p:txBody>
      </p:sp>
      <p:sp>
        <p:nvSpPr>
          <p:cNvPr id="3" name="object 3"/>
          <p:cNvSpPr txBox="1"/>
          <p:nvPr/>
        </p:nvSpPr>
        <p:spPr>
          <a:xfrm>
            <a:off x="384725" y="1949837"/>
            <a:ext cx="318897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interface</a:t>
            </a:r>
            <a:r>
              <a:rPr sz="1400" b="1" spc="4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interface_name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137160">
              <a:lnSpc>
                <a:spcPct val="100000"/>
              </a:lnSpc>
              <a:spcBef>
                <a:spcPts val="1545"/>
              </a:spcBef>
            </a:pP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declare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constant</a:t>
            </a:r>
            <a:r>
              <a:rPr sz="14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fields</a:t>
            </a:r>
            <a:endParaRPr sz="1400">
              <a:latin typeface="Verdana"/>
              <a:cs typeface="Verdana"/>
            </a:endParaRPr>
          </a:p>
          <a:p>
            <a:pPr marL="262255">
              <a:lnSpc>
                <a:spcPct val="100000"/>
              </a:lnSpc>
              <a:spcBef>
                <a:spcPts val="1245"/>
              </a:spcBef>
            </a:pP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400" spc="-6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declare</a:t>
            </a:r>
            <a:r>
              <a:rPr sz="1400" spc="-5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methods</a:t>
            </a:r>
            <a:r>
              <a:rPr sz="1400" spc="-5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008200"/>
                </a:solidFill>
                <a:latin typeface="Verdana"/>
                <a:cs typeface="Verdana"/>
              </a:rPr>
              <a:t>that</a:t>
            </a:r>
            <a:r>
              <a:rPr sz="1400" spc="-5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008200"/>
                </a:solidFill>
                <a:latin typeface="Verdana"/>
                <a:cs typeface="Verdana"/>
              </a:rPr>
              <a:t>abstract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Verdana"/>
              <a:cs typeface="Verdana"/>
            </a:endParaRPr>
          </a:p>
          <a:p>
            <a:pPr marL="74930">
              <a:lnSpc>
                <a:spcPct val="100000"/>
              </a:lnSpc>
            </a:pPr>
            <a:r>
              <a:rPr sz="1400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475" y="68619"/>
            <a:ext cx="104394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1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477354"/>
            <a:ext cx="3341370" cy="441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interface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printable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print();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469900" marR="628650" indent="-457200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A6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printable{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print()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469900" marR="5080" indent="-457200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args[]){ </a:t>
            </a:r>
            <a:r>
              <a:rPr sz="1200" b="1">
                <a:latin typeface="Verdana"/>
                <a:cs typeface="Verdana"/>
              </a:rPr>
              <a:t>A6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obj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=</a:t>
            </a:r>
            <a:r>
              <a:rPr sz="1200" b="1" spc="-10"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A6();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obj.print();</a:t>
            </a:r>
            <a:endParaRPr sz="1200">
              <a:latin typeface="Verdana"/>
              <a:cs typeface="Verdana"/>
            </a:endParaRPr>
          </a:p>
          <a:p>
            <a:pPr marL="6413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75" y="57784"/>
            <a:ext cx="14782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Example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75" y="712320"/>
            <a:ext cx="3101975" cy="374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interface</a:t>
            </a:r>
            <a:r>
              <a:rPr sz="13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20">
                <a:latin typeface="Verdana"/>
                <a:cs typeface="Verdana"/>
              </a:rPr>
              <a:t>Bank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{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float</a:t>
            </a:r>
            <a:r>
              <a:rPr sz="13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rateOfInterest();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}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SBI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3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20">
                <a:latin typeface="Verdana"/>
                <a:cs typeface="Verdana"/>
              </a:rPr>
              <a:t>Bank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{</a:t>
            </a:r>
            <a:endParaRPr sz="13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15"/>
              </a:spcBef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float</a:t>
            </a:r>
            <a:r>
              <a:rPr sz="13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rateOfInterest()</a:t>
            </a:r>
            <a:endParaRPr sz="13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{</a:t>
            </a:r>
            <a:endParaRPr sz="13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15"/>
              </a:spcBef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return</a:t>
            </a:r>
            <a:r>
              <a:rPr sz="13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10">
                <a:solidFill>
                  <a:srgbClr val="C00000"/>
                </a:solidFill>
                <a:latin typeface="Verdana"/>
                <a:cs typeface="Verdana"/>
              </a:rPr>
              <a:t>9</a:t>
            </a:r>
            <a:r>
              <a:rPr sz="1300" b="1" spc="-10">
                <a:latin typeface="Verdana"/>
                <a:cs typeface="Verdana"/>
              </a:rPr>
              <a:t>.15f;</a:t>
            </a:r>
            <a:endParaRPr sz="13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}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300" b="1" spc="-50">
                <a:latin typeface="Verdana"/>
                <a:cs typeface="Verdana"/>
              </a:rPr>
              <a:t>}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37404"/>
            <a:ext cx="4629785" cy="441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PNB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20">
                <a:latin typeface="Verdana"/>
                <a:cs typeface="Verdana"/>
              </a:rPr>
              <a:t>Bank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float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rateOfInterest()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return</a:t>
            </a:r>
            <a:r>
              <a:rPr sz="1200" b="1" spc="-7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9</a:t>
            </a:r>
            <a:r>
              <a:rPr sz="1200" b="1" spc="-10">
                <a:latin typeface="Verdana"/>
                <a:cs typeface="Verdana"/>
              </a:rPr>
              <a:t>.7f;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TestInterface2{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main(String[]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args)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latin typeface="Verdana"/>
                <a:cs typeface="Verdana"/>
              </a:rPr>
              <a:t>Bank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SBI();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"ROI:</a:t>
            </a:r>
            <a:r>
              <a:rPr sz="1200" b="1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-10">
                <a:latin typeface="Verdana"/>
                <a:cs typeface="Verdana"/>
              </a:rPr>
              <a:t>+b.rateOfInterest());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08360"/>
            <a:ext cx="14782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Example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75054"/>
            <a:ext cx="3095625" cy="406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 marR="1747520" indent="-47625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import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java.io.*;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interface</a:t>
            </a:r>
            <a:r>
              <a:rPr sz="1500" spc="-7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Vehicle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03200" marR="1035685">
              <a:lnSpc>
                <a:spcPct val="100000"/>
              </a:lnSpc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changeGear(int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a);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speedUp(int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 a);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5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applyBrakes(int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a);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12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class</a:t>
            </a:r>
            <a:r>
              <a:rPr sz="15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Bicycle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implements</a:t>
            </a:r>
            <a:r>
              <a:rPr sz="1500" spc="-6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Vehicle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03200" marR="2150110">
              <a:lnSpc>
                <a:spcPct val="100000"/>
              </a:lnSpc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int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speed;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int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gear;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changeGear(int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newGear)</a:t>
            </a:r>
            <a:endParaRPr sz="15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2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gear</a:t>
            </a:r>
            <a:r>
              <a:rPr sz="1500" spc="-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 newGear;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1200"/>
              </a:spcBef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7675" y="1803296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5475" y="2294024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7675" y="3030116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7675" y="299109"/>
            <a:ext cx="3032760" cy="34607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4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4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speedUp(int</a:t>
            </a:r>
            <a:r>
              <a:rPr sz="14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increment)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23850">
              <a:lnSpc>
                <a:spcPct val="100000"/>
              </a:lnSpc>
              <a:spcBef>
                <a:spcPts val="254"/>
              </a:spcBef>
            </a:pP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increment;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25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412750" marR="7620" indent="-222250">
              <a:lnSpc>
                <a:spcPct val="229999"/>
              </a:lnSpc>
            </a:pP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4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4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applyBrakes(int</a:t>
            </a:r>
            <a:r>
              <a:rPr sz="14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decrement)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-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decrement;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>
              <a:latin typeface="Times New Roman"/>
              <a:cs typeface="Times New Roman"/>
            </a:endParaRPr>
          </a:p>
          <a:p>
            <a:pPr marL="412750" marR="5080" indent="-222250">
              <a:lnSpc>
                <a:spcPct val="229999"/>
              </a:lnSpc>
            </a:pP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4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4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printStates() System.out.println("speed: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endParaRPr sz="1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250"/>
              </a:spcBef>
            </a:pP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gear:</a:t>
            </a:r>
            <a:r>
              <a:rPr sz="14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4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73138"/>
                </a:solidFill>
                <a:latin typeface="Times New Roman"/>
                <a:cs typeface="Times New Roman"/>
              </a:rPr>
              <a:t>gear);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5475" y="3766209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7675" y="4011573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297950" y="311157"/>
            <a:ext cx="3914140" cy="41783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class</a:t>
            </a:r>
            <a:r>
              <a:rPr sz="19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Bike</a:t>
            </a:r>
            <a:r>
              <a:rPr sz="19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implements</a:t>
            </a:r>
            <a:r>
              <a:rPr sz="1900" spc="-6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Vehicle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900">
              <a:latin typeface="Times New Roman"/>
              <a:cs typeface="Times New Roman"/>
            </a:endParaRPr>
          </a:p>
          <a:p>
            <a:pPr marL="254000" marR="2722245">
              <a:lnSpc>
                <a:spcPct val="115100"/>
              </a:lnSpc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int</a:t>
            </a:r>
            <a:r>
              <a:rPr sz="19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speed;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int</a:t>
            </a:r>
            <a:r>
              <a:rPr sz="19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gear;</a:t>
            </a:r>
            <a:endParaRPr sz="19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345"/>
              </a:spcBef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9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9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changeGear(int</a:t>
            </a:r>
            <a:r>
              <a:rPr sz="19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newGear)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900">
              <a:latin typeface="Times New Roman"/>
              <a:cs typeface="Times New Roman"/>
            </a:endParaRPr>
          </a:p>
          <a:p>
            <a:pPr marL="434975">
              <a:lnSpc>
                <a:spcPct val="100000"/>
              </a:lnSpc>
              <a:spcBef>
                <a:spcPts val="345"/>
              </a:spcBef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gear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 newGear;</a:t>
            </a:r>
            <a:endParaRPr sz="19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345"/>
              </a:spcBef>
            </a:pPr>
            <a:r>
              <a:rPr sz="19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345"/>
              </a:spcBef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9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9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speedUp(int</a:t>
            </a:r>
            <a:r>
              <a:rPr sz="19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increment)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900">
              <a:latin typeface="Times New Roman"/>
              <a:cs typeface="Times New Roman"/>
            </a:endParaRPr>
          </a:p>
          <a:p>
            <a:pPr marL="555625">
              <a:lnSpc>
                <a:spcPct val="100000"/>
              </a:lnSpc>
              <a:spcBef>
                <a:spcPts val="345"/>
              </a:spcBef>
            </a:pP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900" spc="-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900" spc="-10">
                <a:solidFill>
                  <a:srgbClr val="273138"/>
                </a:solidFill>
                <a:latin typeface="Times New Roman"/>
                <a:cs typeface="Times New Roman"/>
              </a:rPr>
              <a:t> increment;</a:t>
            </a:r>
            <a:endParaRPr sz="19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1545"/>
              </a:spcBef>
            </a:pPr>
            <a:r>
              <a:rPr sz="19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69500" y="287997"/>
            <a:ext cx="32556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600" spc="-4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6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applyBrakes(int</a:t>
            </a:r>
            <a:r>
              <a:rPr sz="1600" spc="-4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decrement)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9500" y="720812"/>
            <a:ext cx="1231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6700" y="1153629"/>
            <a:ext cx="22371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6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-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decrement;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2700" y="1586445"/>
            <a:ext cx="1231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1100" y="2019260"/>
            <a:ext cx="21482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600" spc="-6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600" spc="-6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printStates()</a:t>
            </a:r>
            <a:r>
              <a:rPr sz="1600" spc="-5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6700" y="2452076"/>
            <a:ext cx="30048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System.out.println("speed: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6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speed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29900" y="2884892"/>
            <a:ext cx="1552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6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6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gear:</a:t>
            </a:r>
            <a:r>
              <a:rPr sz="16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"</a:t>
            </a:r>
            <a:r>
              <a:rPr sz="16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73138"/>
                </a:solidFill>
                <a:latin typeface="Times New Roman"/>
                <a:cs typeface="Times New Roman"/>
              </a:rPr>
              <a:t>+</a:t>
            </a:r>
            <a:r>
              <a:rPr sz="16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73138"/>
                </a:solidFill>
                <a:latin typeface="Times New Roman"/>
                <a:cs typeface="Times New Roman"/>
              </a:rPr>
              <a:t>gear);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2700" y="3317708"/>
            <a:ext cx="1231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9500" y="3750524"/>
            <a:ext cx="1231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7304"/>
            <a:ext cx="2988310" cy="5588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class</a:t>
            </a:r>
            <a:r>
              <a:rPr sz="15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GFG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3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public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static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void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main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(String[]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args)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350" y="751204"/>
            <a:ext cx="11683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725" y="979804"/>
            <a:ext cx="3438525" cy="334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13130">
              <a:lnSpc>
                <a:spcPct val="116700"/>
              </a:lnSpc>
              <a:spcBef>
                <a:spcPts val="100"/>
              </a:spcBef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Bicycle</a:t>
            </a:r>
            <a:r>
              <a:rPr sz="1500" spc="-3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bicycle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new</a:t>
            </a:r>
            <a:r>
              <a:rPr sz="1500" spc="-3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Bicycle(); bicycle.changeGear(2); bicycle.speedUp(3); bicycle.applyBrakes(1);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16700"/>
              </a:lnSpc>
            </a:pP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System.out.println("Bicycle</a:t>
            </a:r>
            <a:r>
              <a:rPr sz="1500" spc="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present</a:t>
            </a:r>
            <a:r>
              <a:rPr sz="1500" spc="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state</a:t>
            </a:r>
            <a:r>
              <a:rPr sz="1500" spc="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:");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bicycle.printStates();</a:t>
            </a:r>
            <a:endParaRPr sz="1500">
              <a:latin typeface="Times New Roman"/>
              <a:cs typeface="Times New Roman"/>
            </a:endParaRPr>
          </a:p>
          <a:p>
            <a:pPr marL="12700" marR="1118235">
              <a:lnSpc>
                <a:spcPct val="116700"/>
              </a:lnSpc>
            </a:pP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//creating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instance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of</a:t>
            </a:r>
            <a:r>
              <a:rPr sz="1500" spc="-1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the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bike.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Bike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bike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=</a:t>
            </a:r>
            <a:r>
              <a:rPr sz="1500" spc="-2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new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Bike();</a:t>
            </a:r>
            <a:endParaRPr sz="1500">
              <a:latin typeface="Times New Roman"/>
              <a:cs typeface="Times New Roman"/>
            </a:endParaRPr>
          </a:p>
          <a:p>
            <a:pPr marL="12700" marR="1818005">
              <a:lnSpc>
                <a:spcPct val="100000"/>
              </a:lnSpc>
              <a:spcBef>
                <a:spcPts val="295"/>
              </a:spcBef>
            </a:pP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bike.changeGear(1); bike.speedUp(4); bike.applyBrakes(3);</a:t>
            </a:r>
            <a:endParaRPr sz="1500">
              <a:latin typeface="Times New Roman"/>
              <a:cs typeface="Times New Roman"/>
            </a:endParaRPr>
          </a:p>
          <a:p>
            <a:pPr marL="12700" marR="226060">
              <a:lnSpc>
                <a:spcPct val="100000"/>
              </a:lnSpc>
            </a:pP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System.out.println("Bike</a:t>
            </a:r>
            <a:r>
              <a:rPr sz="1500" spc="1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present</a:t>
            </a:r>
            <a:r>
              <a:rPr sz="1500" spc="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>
                <a:solidFill>
                  <a:srgbClr val="273138"/>
                </a:solidFill>
                <a:latin typeface="Times New Roman"/>
                <a:cs typeface="Times New Roman"/>
              </a:rPr>
              <a:t>state</a:t>
            </a:r>
            <a:r>
              <a:rPr sz="1500" spc="2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500" spc="-20">
                <a:solidFill>
                  <a:srgbClr val="273138"/>
                </a:solidFill>
                <a:latin typeface="Times New Roman"/>
                <a:cs typeface="Times New Roman"/>
              </a:rPr>
              <a:t>:"); </a:t>
            </a:r>
            <a:r>
              <a:rPr sz="1500" spc="-10">
                <a:solidFill>
                  <a:srgbClr val="273138"/>
                </a:solidFill>
                <a:latin typeface="Times New Roman"/>
                <a:cs typeface="Times New Roman"/>
              </a:rPr>
              <a:t>bike.printStates();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256405"/>
            <a:ext cx="307340" cy="5588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400"/>
              </a:spcBef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>
                <a:solidFill>
                  <a:srgbClr val="273138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3975" y="906172"/>
            <a:ext cx="10845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Roboto"/>
                <a:cs typeface="Roboto"/>
              </a:rPr>
              <a:t>OUTPUT</a:t>
            </a:r>
            <a:r>
              <a:rPr sz="1900" b="1" spc="-15">
                <a:latin typeface="Roboto"/>
                <a:cs typeface="Roboto"/>
              </a:rPr>
              <a:t> </a:t>
            </a:r>
            <a:r>
              <a:rPr sz="1900" b="1" spc="-50">
                <a:latin typeface="Roboto"/>
                <a:cs typeface="Roboto"/>
              </a:rPr>
              <a:t>: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13975" y="1485801"/>
            <a:ext cx="203453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Bicycle</a:t>
            </a:r>
            <a:r>
              <a:rPr sz="1800" spc="-9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present</a:t>
            </a:r>
            <a:r>
              <a:rPr sz="1800" spc="-8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state</a:t>
            </a:r>
            <a:r>
              <a:rPr sz="1800" spc="-7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: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speed: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2</a:t>
            </a:r>
            <a:r>
              <a:rPr sz="18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gear: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 2</a:t>
            </a:r>
            <a:endParaRPr sz="1800">
              <a:latin typeface="Times New Roman"/>
              <a:cs typeface="Times New Roman"/>
            </a:endParaRPr>
          </a:p>
          <a:p>
            <a:pPr marL="12700" marR="270510">
              <a:lnSpc>
                <a:spcPct val="100000"/>
              </a:lnSpc>
            </a:pP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Bike</a:t>
            </a:r>
            <a:r>
              <a:rPr sz="1800" spc="-7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present</a:t>
            </a:r>
            <a:r>
              <a:rPr sz="1800" spc="-6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state</a:t>
            </a:r>
            <a:r>
              <a:rPr sz="1800" spc="-65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: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speed: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1</a:t>
            </a:r>
            <a:r>
              <a:rPr sz="1800" spc="-40">
                <a:solidFill>
                  <a:srgbClr val="273138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73138"/>
                </a:solidFill>
                <a:latin typeface="Times New Roman"/>
                <a:cs typeface="Times New Roman"/>
              </a:rPr>
              <a:t>gear:</a:t>
            </a:r>
            <a:r>
              <a:rPr sz="1800" spc="-50">
                <a:solidFill>
                  <a:srgbClr val="273138"/>
                </a:solidFill>
                <a:latin typeface="Times New Roman"/>
                <a:cs typeface="Times New Roman"/>
              </a:rPr>
              <a:t> 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4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610B4B"/>
                </a:solidFill>
                <a:latin typeface="Arial"/>
                <a:cs typeface="Arial"/>
              </a:rPr>
              <a:t>Multiple</a:t>
            </a:r>
            <a:r>
              <a:rPr sz="2000" b="1" spc="-6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>
                <a:solidFill>
                  <a:srgbClr val="610B4B"/>
                </a:solidFill>
                <a:latin typeface="Arial"/>
                <a:cs typeface="Arial"/>
              </a:rPr>
              <a:t>inheritance</a:t>
            </a:r>
            <a:r>
              <a:rPr sz="2000" b="1" spc="-6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>
                <a:solidFill>
                  <a:srgbClr val="610B4B"/>
                </a:solidFill>
                <a:latin typeface="Arial"/>
                <a:cs typeface="Arial"/>
              </a:rPr>
              <a:t>using</a:t>
            </a:r>
            <a:r>
              <a:rPr sz="2000" b="1" spc="-5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 spc="-10">
                <a:solidFill>
                  <a:srgbClr val="610B4B"/>
                </a:solidFill>
                <a:latin typeface="Arial"/>
                <a:cs typeface="Arial"/>
              </a:rPr>
              <a:t>Interface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3887"/>
            <a:ext cx="1948180" cy="2839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interface</a:t>
            </a:r>
            <a:r>
              <a:rPr sz="14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Printable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print();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interface</a:t>
            </a:r>
            <a:r>
              <a:rPr sz="14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Showable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 spc="-50">
                <a:latin typeface="Verdana"/>
                <a:cs typeface="Verdana"/>
              </a:rPr>
              <a:t>{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print();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45"/>
              </a:spcBef>
            </a:pPr>
            <a:r>
              <a:rPr sz="1400" b="1" spc="-50">
                <a:latin typeface="Verdana"/>
                <a:cs typeface="Verdana"/>
              </a:rPr>
              <a:t>}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269775" y="227079"/>
            <a:ext cx="5421630" cy="425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5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TestInterface3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5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Printable,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Showable{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5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5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print()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spc="-50">
                <a:latin typeface="Verdana"/>
                <a:cs typeface="Verdana"/>
              </a:rPr>
              <a:t>{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spc="-10">
                <a:latin typeface="Verdana"/>
                <a:cs typeface="Verdana"/>
              </a:rPr>
              <a:t>System.out.println(</a:t>
            </a:r>
            <a:r>
              <a:rPr sz="1500" spc="-1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500" spc="-10">
                <a:latin typeface="Verdana"/>
                <a:cs typeface="Verdana"/>
              </a:rPr>
              <a:t>);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spc="-50">
                <a:latin typeface="Verdana"/>
                <a:cs typeface="Verdana"/>
              </a:rPr>
              <a:t>}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5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5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5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main(String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args[])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spc="-50">
                <a:latin typeface="Verdana"/>
                <a:cs typeface="Verdana"/>
              </a:rPr>
              <a:t>{</a:t>
            </a:r>
            <a:endParaRPr sz="1500">
              <a:latin typeface="Verdana"/>
              <a:cs typeface="Verdana"/>
            </a:endParaRPr>
          </a:p>
          <a:p>
            <a:pPr marL="12700" marR="1186815">
              <a:lnSpc>
                <a:spcPct val="175000"/>
              </a:lnSpc>
            </a:pPr>
            <a:r>
              <a:rPr sz="1500">
                <a:latin typeface="Verdana"/>
                <a:cs typeface="Verdana"/>
              </a:rPr>
              <a:t>TestInterface3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obj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=</a:t>
            </a:r>
            <a:r>
              <a:rPr sz="1500" spc="-20">
                <a:latin typeface="Verdana"/>
                <a:cs typeface="Verdana"/>
              </a:rPr>
              <a:t> </a:t>
            </a:r>
            <a:r>
              <a:rPr sz="15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5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TestInterface3(); obj.print();</a:t>
            </a:r>
            <a:endParaRPr sz="1500">
              <a:latin typeface="Verdana"/>
              <a:cs typeface="Verdana"/>
            </a:endParaRPr>
          </a:p>
          <a:p>
            <a:pPr marL="79375">
              <a:lnSpc>
                <a:spcPct val="100000"/>
              </a:lnSpc>
              <a:spcBef>
                <a:spcPts val="1350"/>
              </a:spcBef>
            </a:pPr>
            <a:r>
              <a:rPr sz="1500" spc="-50">
                <a:latin typeface="Verdana"/>
                <a:cs typeface="Verdana"/>
              </a:rPr>
              <a:t>}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spc="-50">
                <a:latin typeface="Verdana"/>
                <a:cs typeface="Verdana"/>
              </a:rPr>
              <a:t>}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Abstract</a:t>
            </a:r>
            <a:r>
              <a:rPr spc="-55"/>
              <a:t> </a:t>
            </a:r>
            <a:r>
              <a:rPr/>
              <a:t>class</a:t>
            </a:r>
            <a:r>
              <a:rPr spc="-50"/>
              <a:t> </a:t>
            </a:r>
            <a:r>
              <a:rPr/>
              <a:t>in</a:t>
            </a:r>
            <a:r>
              <a:rPr spc="-50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422787"/>
            <a:ext cx="7868920" cy="172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lr>
                <a:srgbClr val="434343"/>
              </a:buClr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A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which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declared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with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known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in</a:t>
            </a:r>
            <a:endParaRPr sz="1400">
              <a:latin typeface="Verdana"/>
              <a:cs typeface="Verdana"/>
            </a:endParaRPr>
          </a:p>
          <a:p>
            <a:pPr marL="348615">
              <a:lnSpc>
                <a:spcPct val="100000"/>
              </a:lnSpc>
              <a:spcBef>
                <a:spcPts val="1220"/>
              </a:spcBef>
            </a:pPr>
            <a:r>
              <a:rPr sz="1400" spc="-1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Java</a:t>
            </a:r>
            <a:r>
              <a:rPr sz="1400" spc="-10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1245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non-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(method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with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body).</a:t>
            </a:r>
            <a:endParaRPr sz="1400">
              <a:latin typeface="Verdana"/>
              <a:cs typeface="Verdana"/>
            </a:endParaRPr>
          </a:p>
          <a:p>
            <a:pPr marL="348615" marR="480695" indent="-336550">
              <a:lnSpc>
                <a:spcPct val="174100"/>
              </a:lnSpc>
              <a:buFont typeface="Arial MT"/>
              <a:buChar char="●"/>
              <a:tabLst>
                <a:tab pos="348615"/>
              </a:tabLst>
            </a:pPr>
            <a:r>
              <a:rPr sz="1400">
                <a:latin typeface="Verdana"/>
                <a:cs typeface="Verdana"/>
              </a:rPr>
              <a:t>Abstraction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process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hiding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implementation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details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showing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20">
                <a:latin typeface="Verdana"/>
                <a:cs typeface="Verdana"/>
              </a:rPr>
              <a:t>only </a:t>
            </a:r>
            <a:r>
              <a:rPr sz="1400">
                <a:latin typeface="Verdana"/>
                <a:cs typeface="Verdana"/>
              </a:rPr>
              <a:t>functionality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user.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67608" y="1249433"/>
            <a:ext cx="7922259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5080" indent="-374650">
              <a:lnSpc>
                <a:spcPct val="115100"/>
              </a:lnSpc>
              <a:spcBef>
                <a:spcPts val="100"/>
              </a:spcBef>
              <a:buFont typeface="Arial MT"/>
              <a:buChar char="●"/>
              <a:tabLst>
                <a:tab pos="386715"/>
              </a:tabLst>
            </a:pPr>
            <a:r>
              <a:rPr sz="1900">
                <a:latin typeface="Verdana"/>
                <a:cs typeface="Verdana"/>
              </a:rPr>
              <a:t>A</a:t>
            </a:r>
            <a:r>
              <a:rPr sz="1900" spc="-3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class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which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is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declared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as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abstract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is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known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as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an</a:t>
            </a:r>
            <a:r>
              <a:rPr sz="1900" spc="15">
                <a:latin typeface="Verdana"/>
                <a:cs typeface="Verdana"/>
              </a:rPr>
              <a:t> </a:t>
            </a:r>
            <a:r>
              <a:rPr sz="1900" b="1" spc="-10">
                <a:latin typeface="Verdana"/>
                <a:cs typeface="Verdana"/>
              </a:rPr>
              <a:t>abstract class</a:t>
            </a:r>
            <a:r>
              <a:rPr sz="1900" spc="-10"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38671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386715"/>
              </a:tabLst>
            </a:pPr>
            <a:r>
              <a:rPr sz="1900">
                <a:latin typeface="Verdana"/>
                <a:cs typeface="Verdana"/>
              </a:rPr>
              <a:t>It</a:t>
            </a:r>
            <a:r>
              <a:rPr sz="1900" spc="-2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can</a:t>
            </a:r>
            <a:r>
              <a:rPr sz="1900" spc="-2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have</a:t>
            </a:r>
            <a:r>
              <a:rPr sz="1900" spc="-2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abstract</a:t>
            </a:r>
            <a:r>
              <a:rPr sz="1900" spc="-2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and</a:t>
            </a:r>
            <a:r>
              <a:rPr sz="1900" spc="-20">
                <a:latin typeface="Verdana"/>
                <a:cs typeface="Verdana"/>
              </a:rPr>
              <a:t> </a:t>
            </a:r>
            <a:r>
              <a:rPr sz="1900" spc="-10">
                <a:latin typeface="Verdana"/>
                <a:cs typeface="Verdana"/>
              </a:rPr>
              <a:t>non-</a:t>
            </a:r>
            <a:r>
              <a:rPr sz="1900">
                <a:latin typeface="Verdana"/>
                <a:cs typeface="Verdana"/>
              </a:rPr>
              <a:t>abstract</a:t>
            </a:r>
            <a:r>
              <a:rPr sz="1900" spc="-25">
                <a:latin typeface="Verdana"/>
                <a:cs typeface="Verdana"/>
              </a:rPr>
              <a:t> </a:t>
            </a:r>
            <a:r>
              <a:rPr sz="1900" spc="-10">
                <a:latin typeface="Verdana"/>
                <a:cs typeface="Verdana"/>
              </a:rPr>
              <a:t>methods.</a:t>
            </a:r>
            <a:endParaRPr sz="1900">
              <a:latin typeface="Verdana"/>
              <a:cs typeface="Verdana"/>
            </a:endParaRPr>
          </a:p>
          <a:p>
            <a:pPr marL="38671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386715"/>
              </a:tabLst>
            </a:pPr>
            <a:r>
              <a:rPr sz="1900">
                <a:latin typeface="Verdana"/>
                <a:cs typeface="Verdana"/>
              </a:rPr>
              <a:t>It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needs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to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be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extended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and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its</a:t>
            </a:r>
            <a:r>
              <a:rPr sz="1900" spc="-5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method</a:t>
            </a:r>
            <a:r>
              <a:rPr sz="1900" spc="-55">
                <a:latin typeface="Verdana"/>
                <a:cs typeface="Verdana"/>
              </a:rPr>
              <a:t> </a:t>
            </a:r>
            <a:r>
              <a:rPr sz="1900" spc="-10">
                <a:latin typeface="Verdana"/>
                <a:cs typeface="Verdana"/>
              </a:rPr>
              <a:t>implemented.</a:t>
            </a:r>
            <a:endParaRPr sz="1900">
              <a:latin typeface="Verdana"/>
              <a:cs typeface="Verdana"/>
            </a:endParaRPr>
          </a:p>
          <a:p>
            <a:pPr marL="38671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386715"/>
              </a:tabLst>
            </a:pPr>
            <a:r>
              <a:rPr sz="1900">
                <a:latin typeface="Verdana"/>
                <a:cs typeface="Verdana"/>
              </a:rPr>
              <a:t>It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cannot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>
                <a:latin typeface="Verdana"/>
                <a:cs typeface="Verdana"/>
              </a:rPr>
              <a:t>be</a:t>
            </a:r>
            <a:r>
              <a:rPr sz="1900" spc="-30">
                <a:latin typeface="Verdana"/>
                <a:cs typeface="Verdana"/>
              </a:rPr>
              <a:t> </a:t>
            </a:r>
            <a:r>
              <a:rPr sz="1900" spc="-10">
                <a:latin typeface="Verdana"/>
                <a:cs typeface="Verdana"/>
              </a:rPr>
              <a:t>instantiated.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505993" y="1460887"/>
            <a:ext cx="7969250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must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declared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with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keyword.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995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non-</a:t>
            </a:r>
            <a:r>
              <a:rPr sz="1400">
                <a:latin typeface="Verdana"/>
                <a:cs typeface="Verdana"/>
              </a:rPr>
              <a:t>abstract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methods.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945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cannot</a:t>
            </a:r>
            <a:r>
              <a:rPr sz="1400" spc="-2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instantiated.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945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constructors</a:t>
            </a:r>
            <a:r>
              <a:rPr sz="1400" spc="-3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static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also.</a:t>
            </a:r>
            <a:endParaRPr sz="1400">
              <a:latin typeface="Verdana"/>
              <a:cs typeface="Verdana"/>
            </a:endParaRPr>
          </a:p>
          <a:p>
            <a:pPr marL="348615" marR="5080" indent="-336550">
              <a:lnSpc>
                <a:spcPct val="156300"/>
              </a:lnSpc>
              <a:buFont typeface="Arial MT"/>
              <a:buChar char="●"/>
              <a:tabLst>
                <a:tab pos="348615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have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methods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which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will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force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subclass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not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change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body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the </a:t>
            </a:r>
            <a:r>
              <a:rPr sz="1400" spc="-10">
                <a:latin typeface="Verdana"/>
                <a:cs typeface="Verdana"/>
              </a:rPr>
              <a:t>method.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00025"/>
            <a:ext cx="6095999" cy="474344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37925" y="219904"/>
            <a:ext cx="2717165" cy="376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abstract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Bike{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abstract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 marR="69977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Honda4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Bike{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000" b="1" spc="14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safely"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 marR="796925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Bike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obj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=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Honda4(); obj.run();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675" y="177848"/>
            <a:ext cx="59016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Difference</a:t>
            </a:r>
            <a:r>
              <a:rPr spc="-75"/>
              <a:t> </a:t>
            </a:r>
            <a:r>
              <a:rPr/>
              <a:t>between</a:t>
            </a:r>
            <a:r>
              <a:rPr spc="-70"/>
              <a:t> </a:t>
            </a:r>
            <a:r>
              <a:rPr/>
              <a:t>abstract</a:t>
            </a:r>
            <a:r>
              <a:rPr spc="-70"/>
              <a:t> </a:t>
            </a:r>
            <a:r>
              <a:rPr/>
              <a:t>class</a:t>
            </a:r>
            <a:r>
              <a:rPr spc="-75"/>
              <a:t> </a:t>
            </a:r>
            <a:r>
              <a:rPr/>
              <a:t>and</a:t>
            </a:r>
            <a:r>
              <a:rPr spc="-70"/>
              <a:t> </a:t>
            </a:r>
            <a:r>
              <a:rPr spc="-10"/>
              <a:t>interface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649" y="857250"/>
            <a:ext cx="8648700" cy="581025"/>
            <a:chOff x="426649" y="857250"/>
            <a:chExt cx="8648700" cy="581025"/>
          </a:xfrm>
        </p:grpSpPr>
        <p:sp>
          <p:nvSpPr>
            <p:cNvPr id="4" name="object 4"/>
            <p:cNvSpPr/>
            <p:nvPr/>
          </p:nvSpPr>
          <p:spPr>
            <a:xfrm>
              <a:off x="426643" y="857262"/>
              <a:ext cx="8648700" cy="581025"/>
            </a:xfrm>
            <a:custGeom>
              <a:rect l="l" t="t" r="r" b="b"/>
              <a:pathLst>
                <a:path w="8648700" h="581025">
                  <a:moveTo>
                    <a:pt x="8648446" y="0"/>
                  </a:moveTo>
                  <a:lnTo>
                    <a:pt x="4324223" y="0"/>
                  </a:lnTo>
                  <a:lnTo>
                    <a:pt x="0" y="0"/>
                  </a:lnTo>
                  <a:lnTo>
                    <a:pt x="0" y="581025"/>
                  </a:lnTo>
                  <a:lnTo>
                    <a:pt x="4324223" y="581025"/>
                  </a:lnTo>
                  <a:lnTo>
                    <a:pt x="8648446" y="581025"/>
                  </a:lnTo>
                  <a:lnTo>
                    <a:pt x="8648446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30705" y="971562"/>
              <a:ext cx="5575935" cy="304800"/>
            </a:xfrm>
            <a:custGeom>
              <a:rect l="l" t="t" r="r" b="b"/>
              <a:pathLst>
                <a:path w="5575934" h="304800">
                  <a:moveTo>
                    <a:pt x="15161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16100" y="304800"/>
                  </a:lnTo>
                  <a:lnTo>
                    <a:pt x="1516100" y="0"/>
                  </a:lnTo>
                  <a:close/>
                </a:path>
                <a:path w="5575934" h="304800">
                  <a:moveTo>
                    <a:pt x="5575693" y="0"/>
                  </a:moveTo>
                  <a:lnTo>
                    <a:pt x="4588853" y="0"/>
                  </a:lnTo>
                  <a:lnTo>
                    <a:pt x="4588853" y="304800"/>
                  </a:lnTo>
                  <a:lnTo>
                    <a:pt x="5575693" y="304800"/>
                  </a:lnTo>
                  <a:lnTo>
                    <a:pt x="5575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017575" y="4171950"/>
            <a:ext cx="3818254" cy="182880"/>
          </a:xfrm>
          <a:custGeom>
            <a:rect l="l" t="t" r="r" b="b"/>
            <a:pathLst>
              <a:path w="3818254" h="182879">
                <a:moveTo>
                  <a:pt x="3817962" y="182879"/>
                </a:moveTo>
                <a:lnTo>
                  <a:pt x="0" y="182879"/>
                </a:lnTo>
                <a:lnTo>
                  <a:pt x="0" y="0"/>
                </a:lnTo>
                <a:lnTo>
                  <a:pt x="3817962" y="0"/>
                </a:lnTo>
                <a:lnTo>
                  <a:pt x="3817962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17575" y="4486275"/>
            <a:ext cx="1236980" cy="182880"/>
          </a:xfrm>
          <a:custGeom>
            <a:rect l="l" t="t" r="r" b="b"/>
            <a:pathLst>
              <a:path w="1236979" h="182879">
                <a:moveTo>
                  <a:pt x="1236761" y="182880"/>
                </a:moveTo>
                <a:lnTo>
                  <a:pt x="0" y="182880"/>
                </a:lnTo>
                <a:lnTo>
                  <a:pt x="0" y="0"/>
                </a:lnTo>
                <a:lnTo>
                  <a:pt x="1236761" y="0"/>
                </a:lnTo>
                <a:lnTo>
                  <a:pt x="1236761" y="1828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1887" y="852487"/>
          <a:ext cx="8734425" cy="4017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47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Abstract </a:t>
                      </a:r>
                      <a:r>
                        <a:rPr sz="2000" b="1" spc="-10">
                          <a:latin typeface="Times New Roman"/>
                          <a:cs typeface="Times New Roman"/>
                        </a:rPr>
                        <a:t>class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Interface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29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1)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have</a:t>
                      </a:r>
                      <a:r>
                        <a:rPr sz="12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25">
                          <a:latin typeface="Verdana"/>
                          <a:cs typeface="Verdana"/>
                        </a:rPr>
                        <a:t>and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b="1" spc="-10">
                          <a:latin typeface="Verdana"/>
                          <a:cs typeface="Verdana"/>
                        </a:rPr>
                        <a:t>non-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abstract 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methods.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2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have</a:t>
                      </a:r>
                      <a:r>
                        <a:rPr sz="12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only</a:t>
                      </a:r>
                      <a:r>
                        <a:rPr sz="12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methods.</a:t>
                      </a:r>
                      <a:r>
                        <a:rPr sz="12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Since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Java</a:t>
                      </a:r>
                      <a:r>
                        <a:rPr sz="12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8,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it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have</a:t>
                      </a:r>
                      <a:r>
                        <a:rPr sz="12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default</a:t>
                      </a:r>
                      <a:r>
                        <a:rPr sz="12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2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2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methods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spc="-10">
                          <a:latin typeface="Verdana"/>
                          <a:cs typeface="Verdana"/>
                        </a:rPr>
                        <a:t>also.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5404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2)</a:t>
                      </a:r>
                      <a:r>
                        <a:rPr sz="1200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2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doesn't</a:t>
                      </a:r>
                      <a:r>
                        <a:rPr sz="12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support</a:t>
                      </a:r>
                      <a:r>
                        <a:rPr sz="1200" b="1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multiple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b="1" spc="-10">
                          <a:latin typeface="Verdana"/>
                          <a:cs typeface="Verdana"/>
                        </a:rPr>
                        <a:t>inheritance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2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supports</a:t>
                      </a:r>
                      <a:r>
                        <a:rPr sz="1200" b="1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multiple</a:t>
                      </a:r>
                      <a:r>
                        <a:rPr sz="1200" b="1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inheritance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3)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2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have</a:t>
                      </a:r>
                      <a:r>
                        <a:rPr sz="12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final,</a:t>
                      </a:r>
                      <a:r>
                        <a:rPr sz="12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non-final,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b="1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2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2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non-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2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variables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2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has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only</a:t>
                      </a:r>
                      <a:r>
                        <a:rPr sz="12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2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2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2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variables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4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4)</a:t>
                      </a:r>
                      <a:r>
                        <a:rPr sz="12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2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provide</a:t>
                      </a:r>
                      <a:r>
                        <a:rPr sz="12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25">
                          <a:latin typeface="Verdana"/>
                          <a:cs typeface="Verdana"/>
                        </a:rPr>
                        <a:t>the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b="1" spc="-10">
                          <a:latin typeface="Verdana"/>
                          <a:cs typeface="Verdana"/>
                        </a:rPr>
                        <a:t>implementation</a:t>
                      </a:r>
                      <a:r>
                        <a:rPr sz="12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of</a:t>
                      </a:r>
                      <a:r>
                        <a:rPr sz="12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2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can't</a:t>
                      </a:r>
                      <a:r>
                        <a:rPr sz="12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provide</a:t>
                      </a:r>
                      <a:r>
                        <a:rPr sz="12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2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implementation</a:t>
                      </a:r>
                      <a:r>
                        <a:rPr sz="12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25">
                          <a:latin typeface="Verdana"/>
                          <a:cs typeface="Verdana"/>
                        </a:rPr>
                        <a:t>of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2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200" spc="-10">
                          <a:latin typeface="Verdana"/>
                          <a:cs typeface="Verdana"/>
                        </a:rPr>
                        <a:t>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4965150" y="3843200"/>
            <a:ext cx="3470275" cy="198120"/>
          </a:xfrm>
          <a:custGeom>
            <a:rect l="l" t="t" r="r" b="b"/>
            <a:pathLst>
              <a:path w="3470275" h="198120">
                <a:moveTo>
                  <a:pt x="3470088" y="198120"/>
                </a:moveTo>
                <a:lnTo>
                  <a:pt x="0" y="198120"/>
                </a:lnTo>
                <a:lnTo>
                  <a:pt x="0" y="0"/>
                </a:lnTo>
                <a:lnTo>
                  <a:pt x="3470088" y="0"/>
                </a:lnTo>
                <a:lnTo>
                  <a:pt x="3470088" y="198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59837" y="598137"/>
          <a:ext cx="8353425" cy="415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23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5)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The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3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to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declare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class.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The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to</a:t>
                      </a:r>
                      <a:r>
                        <a:rPr sz="13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declare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 spc="-10">
                          <a:latin typeface="Verdana"/>
                          <a:cs typeface="Verdana"/>
                        </a:rPr>
                        <a:t>interface.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6)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An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class</a:t>
                      </a:r>
                      <a:r>
                        <a:rPr sz="13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can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extend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another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 marR="572770">
                        <a:lnSpc>
                          <a:spcPct val="173100"/>
                        </a:lnSpc>
                      </a:pPr>
                      <a:r>
                        <a:rPr sz="1300">
                          <a:latin typeface="Verdana"/>
                          <a:cs typeface="Verdana"/>
                        </a:rPr>
                        <a:t>Java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class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and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implement</a:t>
                      </a:r>
                      <a:r>
                        <a:rPr sz="13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multiple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>
                          <a:latin typeface="Verdana"/>
                          <a:cs typeface="Verdana"/>
                        </a:rPr>
                        <a:t>Java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interfaces.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An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can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extend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another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>
                          <a:latin typeface="Verdana"/>
                          <a:cs typeface="Verdana"/>
                        </a:rPr>
                        <a:t>Java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300" spc="-10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only.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23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7)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An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class</a:t>
                      </a:r>
                      <a:r>
                        <a:rPr sz="13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can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be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extended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using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3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"extends".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An</a:t>
                      </a:r>
                      <a:r>
                        <a:rPr sz="13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300" b="1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can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be</a:t>
                      </a:r>
                      <a:r>
                        <a:rPr sz="13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implemented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using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3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"implements".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23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8)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Java</a:t>
                      </a:r>
                      <a:r>
                        <a:rPr sz="13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abstract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class</a:t>
                      </a:r>
                      <a:r>
                        <a:rPr sz="1300" b="1" spc="-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can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have</a:t>
                      </a:r>
                      <a:r>
                        <a:rPr sz="13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>
                          <a:latin typeface="Verdana"/>
                          <a:cs typeface="Verdana"/>
                        </a:rPr>
                        <a:t>class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members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like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private,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protected,</a:t>
                      </a:r>
                      <a:r>
                        <a:rPr sz="13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>
                          <a:latin typeface="Verdana"/>
                          <a:cs typeface="Verdana"/>
                        </a:rPr>
                        <a:t>etc.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>
                          <a:latin typeface="Verdana"/>
                          <a:cs typeface="Verdana"/>
                        </a:rPr>
                        <a:t>Members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of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Java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interface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are</a:t>
                      </a:r>
                      <a:r>
                        <a:rPr sz="13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>
                          <a:latin typeface="Verdana"/>
                          <a:cs typeface="Verdana"/>
                        </a:rPr>
                        <a:t>public</a:t>
                      </a:r>
                      <a:r>
                        <a:rPr sz="13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>
                          <a:latin typeface="Verdana"/>
                          <a:cs typeface="Verdana"/>
                        </a:rPr>
                        <a:t>by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 spc="-10">
                          <a:latin typeface="Verdana"/>
                          <a:cs typeface="Verdana"/>
                        </a:rPr>
                        <a:t>default.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Wrapper</a:t>
            </a:r>
            <a:r>
              <a:rPr spc="-75"/>
              <a:t> </a:t>
            </a:r>
            <a:r>
              <a:rPr/>
              <a:t>classes</a:t>
            </a:r>
            <a:r>
              <a:rPr spc="-75"/>
              <a:t> </a:t>
            </a:r>
            <a:r>
              <a:rPr/>
              <a:t>in</a:t>
            </a:r>
            <a:r>
              <a:rPr spc="-70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262" y="1311154"/>
            <a:ext cx="8118475" cy="207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499109" indent="-344170">
              <a:lnSpc>
                <a:spcPct val="148600"/>
              </a:lnSpc>
              <a:spcBef>
                <a:spcPts val="100"/>
              </a:spcBef>
              <a:buFont typeface="Arial MT"/>
              <a:buChar char="●"/>
              <a:tabLst>
                <a:tab pos="356235"/>
              </a:tabLst>
            </a:pPr>
            <a:r>
              <a:rPr sz="1500">
                <a:latin typeface="Verdana"/>
                <a:cs typeface="Verdana"/>
              </a:rPr>
              <a:t>The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wrapper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class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Java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provides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the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mechanism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to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convert</a:t>
            </a:r>
            <a:r>
              <a:rPr sz="1500" spc="-5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primitive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20">
                <a:latin typeface="Verdana"/>
                <a:cs typeface="Verdana"/>
              </a:rPr>
              <a:t>into </a:t>
            </a:r>
            <a:r>
              <a:rPr sz="1500">
                <a:latin typeface="Verdana"/>
                <a:cs typeface="Verdana"/>
              </a:rPr>
              <a:t>object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and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object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into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primitive.</a:t>
            </a:r>
            <a:endParaRPr sz="1500">
              <a:latin typeface="Verdana"/>
              <a:cs typeface="Verdana"/>
            </a:endParaRPr>
          </a:p>
          <a:p>
            <a:pPr marL="356235" marR="43180" indent="-344170">
              <a:lnSpc>
                <a:spcPct val="150000"/>
              </a:lnSpc>
              <a:buFont typeface="Arial MT"/>
              <a:buChar char="●"/>
              <a:tabLst>
                <a:tab pos="356235"/>
              </a:tabLst>
            </a:pPr>
            <a:r>
              <a:rPr sz="1500">
                <a:latin typeface="Verdana"/>
                <a:cs typeface="Verdana"/>
              </a:rPr>
              <a:t>Since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J2SE</a:t>
            </a:r>
            <a:r>
              <a:rPr sz="1500" spc="-5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5.0,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autoboxing</a:t>
            </a:r>
            <a:r>
              <a:rPr sz="1500" spc="-5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and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unboxing</a:t>
            </a:r>
            <a:r>
              <a:rPr sz="1500" spc="-5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feature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convert</a:t>
            </a:r>
            <a:r>
              <a:rPr sz="1500" spc="-5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primitives</a:t>
            </a:r>
            <a:r>
              <a:rPr sz="1500" spc="-5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into</a:t>
            </a:r>
            <a:r>
              <a:rPr sz="1500" spc="-6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objects </a:t>
            </a:r>
            <a:r>
              <a:rPr sz="1500">
                <a:latin typeface="Verdana"/>
                <a:cs typeface="Verdana"/>
              </a:rPr>
              <a:t>and</a:t>
            </a:r>
            <a:r>
              <a:rPr sz="1500" spc="-7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objects</a:t>
            </a:r>
            <a:r>
              <a:rPr sz="1500" spc="-7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into</a:t>
            </a:r>
            <a:r>
              <a:rPr sz="1500" spc="-7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primitives</a:t>
            </a:r>
            <a:r>
              <a:rPr sz="1500" spc="-7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automatically.</a:t>
            </a:r>
            <a:endParaRPr sz="1500">
              <a:latin typeface="Verdana"/>
              <a:cs typeface="Verdana"/>
            </a:endParaRPr>
          </a:p>
          <a:p>
            <a:pPr marL="356235" marR="5080" indent="-344170">
              <a:lnSpc>
                <a:spcPct val="150000"/>
              </a:lnSpc>
              <a:buFont typeface="Arial MT"/>
              <a:buChar char="●"/>
              <a:tabLst>
                <a:tab pos="356235"/>
              </a:tabLst>
            </a:pPr>
            <a:r>
              <a:rPr sz="1500">
                <a:latin typeface="Verdana"/>
                <a:cs typeface="Verdana"/>
              </a:rPr>
              <a:t>The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automatic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conversion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of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primitive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into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an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object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is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known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as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autoboxing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25">
                <a:latin typeface="Verdana"/>
                <a:cs typeface="Verdana"/>
              </a:rPr>
              <a:t>and </a:t>
            </a:r>
            <a:r>
              <a:rPr sz="1500" spc="-10">
                <a:latin typeface="Verdana"/>
                <a:cs typeface="Verdana"/>
              </a:rPr>
              <a:t>vice-</a:t>
            </a:r>
            <a:r>
              <a:rPr sz="1500">
                <a:latin typeface="Verdana"/>
                <a:cs typeface="Verdana"/>
              </a:rPr>
              <a:t>versa </a:t>
            </a:r>
            <a:r>
              <a:rPr sz="1500" spc="-10">
                <a:latin typeface="Verdana"/>
                <a:cs typeface="Verdana"/>
              </a:rPr>
              <a:t>unboxing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854625" y="3773049"/>
            <a:ext cx="7774940" cy="182880"/>
          </a:xfrm>
          <a:custGeom>
            <a:rect l="l" t="t" r="r" b="b"/>
            <a:pathLst>
              <a:path w="7774940" h="182879">
                <a:moveTo>
                  <a:pt x="7774334" y="182879"/>
                </a:moveTo>
                <a:lnTo>
                  <a:pt x="0" y="182879"/>
                </a:lnTo>
                <a:lnTo>
                  <a:pt x="0" y="0"/>
                </a:lnTo>
                <a:lnTo>
                  <a:pt x="7774334" y="0"/>
                </a:lnTo>
                <a:lnTo>
                  <a:pt x="7774334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Use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of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Wrapper</a:t>
            </a:r>
            <a:r>
              <a:rPr sz="1900" b="1" spc="-6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classes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in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 spc="-20">
                <a:latin typeface="Arial"/>
                <a:cs typeface="Arial"/>
              </a:rPr>
              <a:t>Java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274" y="1461904"/>
            <a:ext cx="8143875" cy="2786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Change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value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Method: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supports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only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call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So,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if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pass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primitive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value,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it</a:t>
            </a:r>
            <a:endParaRPr sz="1200">
              <a:latin typeface="Verdana"/>
              <a:cs typeface="Verdana"/>
            </a:endParaRPr>
          </a:p>
          <a:p>
            <a:pPr marL="332740" marR="231140">
              <a:lnSpc>
                <a:spcPct val="156200"/>
              </a:lnSpc>
              <a:spcBef>
                <a:spcPts val="50"/>
              </a:spcBef>
            </a:pPr>
            <a:r>
              <a:rPr sz="1200">
                <a:latin typeface="Verdana"/>
                <a:cs typeface="Verdana"/>
              </a:rPr>
              <a:t>will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not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change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original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But,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if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convert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primitive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object,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will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change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original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value.</a:t>
            </a:r>
            <a:endParaRPr sz="1200">
              <a:latin typeface="Verdana"/>
              <a:cs typeface="Verdana"/>
            </a:endParaRPr>
          </a:p>
          <a:p>
            <a:pPr marL="332740" marR="5080" indent="-320675">
              <a:lnSpc>
                <a:spcPct val="156200"/>
              </a:lnSpc>
              <a:buFont typeface="Arial MT"/>
              <a:buChar char="●"/>
              <a:tabLst>
                <a:tab pos="332740"/>
              </a:tabLst>
            </a:pPr>
            <a:r>
              <a:rPr sz="1200" b="1" spc="-10">
                <a:latin typeface="Verdana"/>
                <a:cs typeface="Verdana"/>
              </a:rPr>
              <a:t>Serialization: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need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convert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into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streams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perform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serialization.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have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50">
                <a:latin typeface="Verdana"/>
                <a:cs typeface="Verdana"/>
              </a:rPr>
              <a:t>a </a:t>
            </a:r>
            <a:r>
              <a:rPr sz="1200">
                <a:latin typeface="Verdana"/>
                <a:cs typeface="Verdana"/>
              </a:rPr>
              <a:t>primitive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convert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through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wrapper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classes.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810"/>
              </a:spcBef>
              <a:buFont typeface="Arial MT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Synchronization: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synchronization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works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Multithreading.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810"/>
              </a:spcBef>
              <a:buFont typeface="Arial MT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java.util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package: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java.util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package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utility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deal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objects.</a:t>
            </a:r>
            <a:endParaRPr sz="1200">
              <a:latin typeface="Verdana"/>
              <a:cs typeface="Verdana"/>
            </a:endParaRPr>
          </a:p>
          <a:p>
            <a:pPr marL="332740" marR="40005" indent="-320675">
              <a:lnSpc>
                <a:spcPct val="156200"/>
              </a:lnSpc>
              <a:buFont typeface="Arial MT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Collection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Framework: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collection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framework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works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only.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All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the </a:t>
            </a:r>
            <a:r>
              <a:rPr sz="1200">
                <a:latin typeface="Verdana"/>
                <a:cs typeface="Verdana"/>
              </a:rPr>
              <a:t>collection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framework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(ArrayList,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LinkedList,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Vector,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HashSet,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LinkedHashSet,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TreeSet,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PriorityQueue, ArrayDeque,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etc.)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deal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objects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only.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object 2"/>
          <p:cNvGrpSpPr/>
          <p:nvPr/>
        </p:nvGrpSpPr>
        <p:grpSpPr>
          <a:xfrm>
            <a:off x="1318850" y="410000"/>
            <a:ext cx="5113020" cy="471805"/>
            <a:chOff x="1318850" y="410000"/>
            <a:chExt cx="5113020" cy="471805"/>
          </a:xfrm>
        </p:grpSpPr>
        <p:sp>
          <p:nvSpPr>
            <p:cNvPr id="3" name="object 3"/>
            <p:cNvSpPr/>
            <p:nvPr/>
          </p:nvSpPr>
          <p:spPr>
            <a:xfrm>
              <a:off x="1318844" y="410006"/>
              <a:ext cx="5113020" cy="471805"/>
            </a:xfrm>
            <a:custGeom>
              <a:rect l="l" t="t" r="r" b="b"/>
              <a:pathLst>
                <a:path w="5113020" h="471805">
                  <a:moveTo>
                    <a:pt x="5112651" y="0"/>
                  </a:moveTo>
                  <a:lnTo>
                    <a:pt x="2556319" y="0"/>
                  </a:lnTo>
                  <a:lnTo>
                    <a:pt x="0" y="0"/>
                  </a:lnTo>
                  <a:lnTo>
                    <a:pt x="0" y="471652"/>
                  </a:lnTo>
                  <a:lnTo>
                    <a:pt x="2556319" y="471652"/>
                  </a:lnTo>
                  <a:lnTo>
                    <a:pt x="5112651" y="471652"/>
                  </a:lnTo>
                  <a:lnTo>
                    <a:pt x="5112651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75218" y="524306"/>
              <a:ext cx="3586479" cy="198120"/>
            </a:xfrm>
            <a:custGeom>
              <a:rect l="l" t="t" r="r" b="b"/>
              <a:pathLst>
                <a:path w="3586479" h="198120">
                  <a:moveTo>
                    <a:pt x="1043571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1043571" y="198120"/>
                  </a:lnTo>
                  <a:lnTo>
                    <a:pt x="1043571" y="0"/>
                  </a:lnTo>
                  <a:close/>
                </a:path>
                <a:path w="3586479" h="198120">
                  <a:moveTo>
                    <a:pt x="3586276" y="0"/>
                  </a:moveTo>
                  <a:lnTo>
                    <a:pt x="2569946" y="0"/>
                  </a:lnTo>
                  <a:lnTo>
                    <a:pt x="2569946" y="198120"/>
                  </a:lnTo>
                  <a:lnTo>
                    <a:pt x="3586276" y="198120"/>
                  </a:lnTo>
                  <a:lnTo>
                    <a:pt x="3586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4087" y="405237"/>
          <a:ext cx="5198745" cy="3926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 vert="horz" wrap="square"/>
                    <a:lstStyle/>
                    <a:p>
                      <a:pPr marL="75628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10">
                          <a:latin typeface="Times New Roman"/>
                          <a:cs typeface="Times New Roman"/>
                        </a:rPr>
                        <a:t>Primitive</a:t>
                      </a:r>
                      <a:r>
                        <a:rPr sz="1300" b="1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>
                          <a:latin typeface="Times New Roman"/>
                          <a:cs typeface="Times New Roman"/>
                        </a:rPr>
                        <a:t>Type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76962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>
                          <a:latin typeface="Times New Roman"/>
                          <a:cs typeface="Times New Roman"/>
                        </a:rPr>
                        <a:t>Wrapper</a:t>
                      </a:r>
                      <a:r>
                        <a:rPr sz="1300" b="1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>
                          <a:latin typeface="Times New Roman"/>
                          <a:cs typeface="Times New Roman"/>
                        </a:rPr>
                        <a:t>class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55"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boolean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2"/>
                        </a:rPr>
                        <a:t>Boolean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0">
                          <a:latin typeface="Verdana"/>
                          <a:cs typeface="Verdana"/>
                        </a:rPr>
                        <a:t>char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0255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3"/>
                        </a:rPr>
                        <a:t>Character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0">
                          <a:latin typeface="Verdana"/>
                          <a:cs typeface="Verdana"/>
                        </a:rPr>
                        <a:t>byte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0">
                          <a:latin typeface="Verdana"/>
                          <a:cs typeface="Verdana"/>
                          <a:hlinkClick r:id="rId4"/>
                        </a:rPr>
                        <a:t>Byte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short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5"/>
                        </a:rPr>
                        <a:t>Short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int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6"/>
                        </a:rPr>
                        <a:t>Integer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0">
                          <a:latin typeface="Verdana"/>
                          <a:cs typeface="Verdana"/>
                        </a:rPr>
                        <a:t>long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u="sng" spc="-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  <a:hlinkClick r:id="rId7"/>
                        </a:rPr>
                        <a:t>Long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float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8"/>
                        </a:rPr>
                        <a:t>Float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double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19050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  <a:hlinkClick r:id="rId9"/>
                        </a:rPr>
                        <a:t>Double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Autoboxing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30"/>
              </a:spcBef>
            </a:pPr>
            <a:r>
              <a:rPr sz="1700"/>
              <a:t>The</a:t>
            </a:r>
            <a:r>
              <a:rPr sz="1700" spc="-70"/>
              <a:t> </a:t>
            </a:r>
            <a:r>
              <a:rPr sz="1700"/>
              <a:t>automatic</a:t>
            </a:r>
            <a:r>
              <a:rPr sz="1700" spc="-65"/>
              <a:t> </a:t>
            </a:r>
            <a:r>
              <a:rPr sz="1700"/>
              <a:t>conversion</a:t>
            </a:r>
            <a:r>
              <a:rPr sz="1700" spc="-65"/>
              <a:t> </a:t>
            </a:r>
            <a:r>
              <a:rPr sz="1700"/>
              <a:t>of</a:t>
            </a:r>
            <a:r>
              <a:rPr sz="1700" spc="-65"/>
              <a:t> </a:t>
            </a:r>
            <a:r>
              <a:rPr sz="1700"/>
              <a:t>primitive</a:t>
            </a:r>
            <a:r>
              <a:rPr sz="1700" spc="-65"/>
              <a:t> </a:t>
            </a:r>
            <a:r>
              <a:rPr sz="1700"/>
              <a:t>data</a:t>
            </a:r>
            <a:r>
              <a:rPr sz="1700" spc="-70"/>
              <a:t> </a:t>
            </a:r>
            <a:r>
              <a:rPr sz="1700"/>
              <a:t>type</a:t>
            </a:r>
            <a:r>
              <a:rPr sz="1700" spc="-65"/>
              <a:t> </a:t>
            </a:r>
            <a:r>
              <a:rPr sz="1700"/>
              <a:t>into</a:t>
            </a:r>
            <a:r>
              <a:rPr sz="1700" spc="-65"/>
              <a:t> </a:t>
            </a:r>
            <a:r>
              <a:rPr sz="1700"/>
              <a:t>its</a:t>
            </a:r>
            <a:r>
              <a:rPr sz="1700" spc="-65"/>
              <a:t> </a:t>
            </a:r>
            <a:r>
              <a:rPr sz="1700" spc="-10"/>
              <a:t>corresponding </a:t>
            </a:r>
            <a:r>
              <a:rPr sz="1700"/>
              <a:t>wrapper</a:t>
            </a:r>
            <a:r>
              <a:rPr sz="1700" spc="-45"/>
              <a:t> </a:t>
            </a:r>
            <a:r>
              <a:rPr sz="1700"/>
              <a:t>class</a:t>
            </a:r>
            <a:r>
              <a:rPr sz="1700" spc="-45"/>
              <a:t> </a:t>
            </a:r>
            <a:r>
              <a:rPr sz="1700"/>
              <a:t>is</a:t>
            </a:r>
            <a:r>
              <a:rPr sz="1700" spc="-45"/>
              <a:t> </a:t>
            </a:r>
            <a:r>
              <a:rPr sz="1700"/>
              <a:t>known</a:t>
            </a:r>
            <a:r>
              <a:rPr sz="1700" spc="-45"/>
              <a:t> </a:t>
            </a:r>
            <a:r>
              <a:rPr sz="1700"/>
              <a:t>as</a:t>
            </a:r>
            <a:r>
              <a:rPr sz="1700" spc="-40"/>
              <a:t> </a:t>
            </a:r>
            <a:r>
              <a:rPr sz="1700" spc="-10"/>
              <a:t>autoboxing,</a:t>
            </a:r>
            <a:r>
              <a:rPr sz="1700" spc="-45"/>
              <a:t> </a:t>
            </a:r>
            <a:r>
              <a:rPr sz="1700"/>
              <a:t>for</a:t>
            </a:r>
            <a:r>
              <a:rPr sz="1700" spc="-45"/>
              <a:t> </a:t>
            </a:r>
            <a:r>
              <a:rPr sz="1700"/>
              <a:t>example,</a:t>
            </a:r>
            <a:r>
              <a:rPr sz="1700" spc="-45"/>
              <a:t> </a:t>
            </a:r>
            <a:r>
              <a:rPr sz="1700"/>
              <a:t>byte</a:t>
            </a:r>
            <a:r>
              <a:rPr sz="1700" spc="-45"/>
              <a:t> </a:t>
            </a:r>
            <a:r>
              <a:rPr sz="1700"/>
              <a:t>to</a:t>
            </a:r>
            <a:r>
              <a:rPr sz="1700" spc="-40"/>
              <a:t> </a:t>
            </a:r>
            <a:r>
              <a:rPr sz="1700"/>
              <a:t>Byte,</a:t>
            </a:r>
            <a:r>
              <a:rPr sz="1700" spc="-45"/>
              <a:t> </a:t>
            </a:r>
            <a:r>
              <a:rPr sz="1700"/>
              <a:t>char</a:t>
            </a:r>
            <a:r>
              <a:rPr sz="1700" spc="-45"/>
              <a:t> </a:t>
            </a:r>
            <a:r>
              <a:rPr sz="1700" spc="-25"/>
              <a:t>to </a:t>
            </a:r>
            <a:r>
              <a:rPr sz="1700"/>
              <a:t>Character,</a:t>
            </a:r>
            <a:r>
              <a:rPr sz="1700" spc="-60"/>
              <a:t> </a:t>
            </a:r>
            <a:r>
              <a:rPr sz="1700"/>
              <a:t>int</a:t>
            </a:r>
            <a:r>
              <a:rPr sz="1700" spc="-60"/>
              <a:t> </a:t>
            </a:r>
            <a:r>
              <a:rPr sz="1700"/>
              <a:t>to</a:t>
            </a:r>
            <a:r>
              <a:rPr sz="1700" spc="-55"/>
              <a:t> </a:t>
            </a:r>
            <a:r>
              <a:rPr sz="1700"/>
              <a:t>Integer,</a:t>
            </a:r>
            <a:r>
              <a:rPr sz="1700" spc="-60"/>
              <a:t> </a:t>
            </a:r>
            <a:r>
              <a:rPr sz="1700"/>
              <a:t>long</a:t>
            </a:r>
            <a:r>
              <a:rPr sz="1700" spc="-60"/>
              <a:t> </a:t>
            </a:r>
            <a:r>
              <a:rPr sz="1700"/>
              <a:t>to</a:t>
            </a:r>
            <a:r>
              <a:rPr sz="1700" spc="-55"/>
              <a:t> </a:t>
            </a:r>
            <a:r>
              <a:rPr sz="1700"/>
              <a:t>Long,</a:t>
            </a:r>
            <a:r>
              <a:rPr sz="1700" spc="-60"/>
              <a:t> </a:t>
            </a:r>
            <a:r>
              <a:rPr sz="1700"/>
              <a:t>float</a:t>
            </a:r>
            <a:r>
              <a:rPr sz="1700" spc="-55"/>
              <a:t> </a:t>
            </a:r>
            <a:r>
              <a:rPr sz="1700"/>
              <a:t>to</a:t>
            </a:r>
            <a:r>
              <a:rPr sz="1700" spc="-60"/>
              <a:t> </a:t>
            </a:r>
            <a:r>
              <a:rPr sz="1700"/>
              <a:t>Float,</a:t>
            </a:r>
            <a:r>
              <a:rPr sz="1700" spc="-60"/>
              <a:t> </a:t>
            </a:r>
            <a:r>
              <a:rPr sz="1700"/>
              <a:t>boolean</a:t>
            </a:r>
            <a:r>
              <a:rPr sz="1700" spc="-55"/>
              <a:t> </a:t>
            </a:r>
            <a:r>
              <a:rPr sz="1700"/>
              <a:t>to</a:t>
            </a:r>
            <a:r>
              <a:rPr sz="1700" spc="-60"/>
              <a:t> </a:t>
            </a:r>
            <a:r>
              <a:rPr sz="1700" spc="-10"/>
              <a:t>Boolean, </a:t>
            </a:r>
            <a:r>
              <a:rPr sz="1700"/>
              <a:t>double</a:t>
            </a:r>
            <a:r>
              <a:rPr sz="1700" spc="-60"/>
              <a:t> </a:t>
            </a:r>
            <a:r>
              <a:rPr sz="1700"/>
              <a:t>to</a:t>
            </a:r>
            <a:r>
              <a:rPr sz="1700" spc="-60"/>
              <a:t> </a:t>
            </a:r>
            <a:r>
              <a:rPr sz="1700"/>
              <a:t>Double,</a:t>
            </a:r>
            <a:r>
              <a:rPr sz="1700" spc="-60"/>
              <a:t> </a:t>
            </a:r>
            <a:r>
              <a:rPr sz="1700"/>
              <a:t>and</a:t>
            </a:r>
            <a:r>
              <a:rPr sz="1700" spc="-60"/>
              <a:t> </a:t>
            </a:r>
            <a:r>
              <a:rPr sz="1700"/>
              <a:t>short</a:t>
            </a:r>
            <a:r>
              <a:rPr sz="1700" spc="-60"/>
              <a:t> </a:t>
            </a:r>
            <a:r>
              <a:rPr sz="1700"/>
              <a:t>to</a:t>
            </a:r>
            <a:r>
              <a:rPr sz="1700" spc="-60"/>
              <a:t> </a:t>
            </a:r>
            <a:r>
              <a:rPr sz="1700" spc="-10"/>
              <a:t>Short.</a:t>
            </a:r>
            <a:endParaRPr sz="1700"/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418803"/>
            <a:ext cx="7837170" cy="3446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WrapperExample1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927100" marR="4390390">
              <a:lnSpc>
                <a:spcPct val="177100"/>
              </a:lnSpc>
            </a:pP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//Converting</a:t>
            </a:r>
            <a:r>
              <a:rPr sz="1200" b="1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int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into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Integer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a=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20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latin typeface="Verdana"/>
                <a:cs typeface="Verdana"/>
              </a:rPr>
              <a:t>Integer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i=Integer.valueOf(a);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//converting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int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into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Integer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explicitly</a:t>
            </a:r>
            <a:endParaRPr sz="1200">
              <a:latin typeface="Verdana"/>
              <a:cs typeface="Verdana"/>
            </a:endParaRPr>
          </a:p>
          <a:p>
            <a:pPr marL="927100" marR="5080">
              <a:lnSpc>
                <a:spcPct val="177100"/>
              </a:lnSpc>
            </a:pPr>
            <a:r>
              <a:rPr sz="1200" b="1">
                <a:latin typeface="Verdana"/>
                <a:cs typeface="Verdana"/>
              </a:rPr>
              <a:t>Integer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j=a;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//autoboxing,</a:t>
            </a:r>
            <a:r>
              <a:rPr sz="12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now</a:t>
            </a:r>
            <a:r>
              <a:rPr sz="1200" b="1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compiler</a:t>
            </a:r>
            <a:r>
              <a:rPr sz="12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will</a:t>
            </a:r>
            <a:r>
              <a:rPr sz="12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write</a:t>
            </a:r>
            <a:r>
              <a:rPr sz="12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Integer.valueOf(a)</a:t>
            </a:r>
            <a:r>
              <a:rPr sz="12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internally </a:t>
            </a:r>
            <a:r>
              <a:rPr sz="1200" b="1" spc="-10">
                <a:latin typeface="Verdana"/>
                <a:cs typeface="Verdana"/>
              </a:rPr>
              <a:t>System.out.println(a+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>
                <a:latin typeface="Verdana"/>
                <a:cs typeface="Verdana"/>
              </a:rPr>
              <a:t>+i+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-10">
                <a:latin typeface="Verdana"/>
                <a:cs typeface="Verdana"/>
              </a:rPr>
              <a:t>+j);</a:t>
            </a:r>
            <a:endParaRPr sz="1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Unboxing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57179"/>
            <a:ext cx="8369934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b="1">
                <a:latin typeface="Verdana"/>
                <a:cs typeface="Verdana"/>
              </a:rPr>
              <a:t>The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automatic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conversion</a:t>
            </a:r>
            <a:r>
              <a:rPr sz="1500" b="1" spc="27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of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wrapper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type</a:t>
            </a:r>
            <a:r>
              <a:rPr sz="1500" b="1" spc="27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into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its</a:t>
            </a:r>
            <a:r>
              <a:rPr sz="1500" b="1" spc="27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corresponding</a:t>
            </a:r>
            <a:r>
              <a:rPr sz="1500" b="1" spc="275">
                <a:latin typeface="Verdana"/>
                <a:cs typeface="Verdana"/>
              </a:rPr>
              <a:t> </a:t>
            </a:r>
            <a:r>
              <a:rPr sz="1500" b="1" spc="-10">
                <a:latin typeface="Verdana"/>
                <a:cs typeface="Verdana"/>
              </a:rPr>
              <a:t>primitive </a:t>
            </a:r>
            <a:r>
              <a:rPr sz="1500" b="1">
                <a:latin typeface="Verdana"/>
                <a:cs typeface="Verdana"/>
              </a:rPr>
              <a:t>type</a:t>
            </a:r>
            <a:r>
              <a:rPr sz="1500" b="1" spc="-3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is</a:t>
            </a:r>
            <a:r>
              <a:rPr sz="1500" b="1" spc="-2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known</a:t>
            </a:r>
            <a:r>
              <a:rPr sz="1500" b="1" spc="-2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as</a:t>
            </a:r>
            <a:r>
              <a:rPr sz="1500" b="1" spc="-25">
                <a:latin typeface="Verdana"/>
                <a:cs typeface="Verdana"/>
              </a:rPr>
              <a:t> </a:t>
            </a:r>
            <a:r>
              <a:rPr sz="1500" b="1" spc="-10">
                <a:latin typeface="Verdana"/>
                <a:cs typeface="Verdana"/>
              </a:rPr>
              <a:t>unboxing.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500" b="1">
                <a:latin typeface="Verdana"/>
                <a:cs typeface="Verdana"/>
              </a:rPr>
              <a:t>It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is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the</a:t>
            </a:r>
            <a:r>
              <a:rPr sz="1500" b="1" spc="-4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reverse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process</a:t>
            </a:r>
            <a:r>
              <a:rPr sz="1500" b="1" spc="-4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of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 spc="-10">
                <a:latin typeface="Verdana"/>
                <a:cs typeface="Verdana"/>
              </a:rPr>
              <a:t>autoboxing.</a:t>
            </a:r>
            <a:endParaRPr sz="1500">
              <a:latin typeface="Verdana"/>
              <a:cs typeface="Verdana"/>
            </a:endParaRPr>
          </a:p>
          <a:p>
            <a:pPr marL="12700" marR="6350">
              <a:lnSpc>
                <a:spcPct val="116700"/>
              </a:lnSpc>
              <a:spcBef>
                <a:spcPts val="1575"/>
              </a:spcBef>
              <a:tabLst>
                <a:tab pos="715645"/>
                <a:tab pos="1327785"/>
                <a:tab pos="1660525"/>
                <a:tab pos="2101850"/>
                <a:tab pos="2494280"/>
                <a:tab pos="2975610"/>
                <a:tab pos="3626485"/>
                <a:tab pos="3971925"/>
                <a:tab pos="4476115"/>
                <a:tab pos="4953635"/>
                <a:tab pos="6176010"/>
                <a:tab pos="7118984"/>
                <a:tab pos="7458709"/>
              </a:tabLst>
            </a:pPr>
            <a:r>
              <a:rPr sz="1500" b="1" spc="-10">
                <a:latin typeface="Verdana"/>
                <a:cs typeface="Verdana"/>
              </a:rPr>
              <a:t>Since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0">
                <a:latin typeface="Verdana"/>
                <a:cs typeface="Verdana"/>
              </a:rPr>
              <a:t>Java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5,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we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do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not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0">
                <a:latin typeface="Verdana"/>
                <a:cs typeface="Verdana"/>
              </a:rPr>
              <a:t>need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to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use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the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10">
                <a:latin typeface="Verdana"/>
                <a:cs typeface="Verdana"/>
              </a:rPr>
              <a:t>intValue()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10">
                <a:latin typeface="Verdana"/>
                <a:cs typeface="Verdana"/>
              </a:rPr>
              <a:t>method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25">
                <a:latin typeface="Verdana"/>
                <a:cs typeface="Verdana"/>
              </a:rPr>
              <a:t>of</a:t>
            </a:r>
            <a:r>
              <a:rPr sz="1500" b="1">
                <a:latin typeface="Verdana"/>
                <a:cs typeface="Verdana"/>
              </a:rPr>
              <a:t>	</a:t>
            </a:r>
            <a:r>
              <a:rPr sz="1500" b="1" spc="-10">
                <a:latin typeface="Verdana"/>
                <a:cs typeface="Verdana"/>
              </a:rPr>
              <a:t>wrapper </a:t>
            </a:r>
            <a:r>
              <a:rPr sz="1500" b="1">
                <a:latin typeface="Verdana"/>
                <a:cs typeface="Verdana"/>
              </a:rPr>
              <a:t>classes</a:t>
            </a:r>
            <a:r>
              <a:rPr sz="1500" b="1" spc="-5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to</a:t>
            </a:r>
            <a:r>
              <a:rPr sz="1500" b="1" spc="-5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convert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the</a:t>
            </a:r>
            <a:r>
              <a:rPr sz="1500" b="1" spc="-5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wrapper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type</a:t>
            </a:r>
            <a:r>
              <a:rPr sz="1500" b="1" spc="-5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into</a:t>
            </a:r>
            <a:r>
              <a:rPr sz="1500" b="1" spc="-50">
                <a:latin typeface="Verdana"/>
                <a:cs typeface="Verdana"/>
              </a:rPr>
              <a:t> </a:t>
            </a:r>
            <a:r>
              <a:rPr sz="1500" b="1" spc="-10">
                <a:latin typeface="Verdana"/>
                <a:cs typeface="Verdana"/>
              </a:rPr>
              <a:t>primitives.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4904"/>
            <a:ext cx="5086350" cy="312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WrapperExample2{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main(String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 marR="2954020">
              <a:lnSpc>
                <a:spcPct val="177100"/>
              </a:lnSpc>
            </a:pP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//Converting</a:t>
            </a:r>
            <a:r>
              <a:rPr sz="12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Integer</a:t>
            </a:r>
            <a:r>
              <a:rPr sz="12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2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25">
                <a:solidFill>
                  <a:srgbClr val="008200"/>
                </a:solidFill>
                <a:latin typeface="Verdana"/>
                <a:cs typeface="Verdana"/>
              </a:rPr>
              <a:t>int </a:t>
            </a:r>
            <a:r>
              <a:rPr sz="1200">
                <a:latin typeface="Verdana"/>
                <a:cs typeface="Verdana"/>
              </a:rPr>
              <a:t>Integer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Integer(</a:t>
            </a:r>
            <a:r>
              <a:rPr sz="1200" spc="-1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200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i=a.intValue();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//converting</a:t>
            </a:r>
            <a:r>
              <a:rPr sz="12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Integer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2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int</a:t>
            </a:r>
            <a:r>
              <a:rPr sz="12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explicitly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j=a;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//unboxing,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now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compiler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will</a:t>
            </a:r>
            <a:r>
              <a:rPr sz="1200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write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a.intValue()</a:t>
            </a:r>
            <a:r>
              <a:rPr sz="12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internally </a:t>
            </a:r>
            <a:r>
              <a:rPr sz="1200" spc="-10">
                <a:latin typeface="Verdana"/>
                <a:cs typeface="Verdana"/>
              </a:rPr>
              <a:t>System.out.println(a+</a:t>
            </a:r>
            <a:r>
              <a:rPr sz="1200" spc="-1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>
                <a:latin typeface="Verdana"/>
                <a:cs typeface="Verdana"/>
              </a:rPr>
              <a:t>+i+</a:t>
            </a:r>
            <a:r>
              <a:rPr sz="120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spc="-10">
                <a:latin typeface="Verdana"/>
                <a:cs typeface="Verdana"/>
              </a:rPr>
              <a:t>+j);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360743" y="3970553"/>
            <a:ext cx="8259445" cy="495300"/>
          </a:xfrm>
          <a:custGeom>
            <a:rect l="l" t="t" r="r" b="b"/>
            <a:pathLst>
              <a:path w="8259445" h="495300">
                <a:moveTo>
                  <a:pt x="6893814" y="266700"/>
                </a:moveTo>
                <a:lnTo>
                  <a:pt x="0" y="266700"/>
                </a:lnTo>
                <a:lnTo>
                  <a:pt x="0" y="495300"/>
                </a:lnTo>
                <a:lnTo>
                  <a:pt x="6893814" y="495300"/>
                </a:lnTo>
                <a:lnTo>
                  <a:pt x="6893814" y="266700"/>
                </a:lnTo>
                <a:close/>
              </a:path>
              <a:path w="8259445" h="495300">
                <a:moveTo>
                  <a:pt x="8259216" y="0"/>
                </a:moveTo>
                <a:lnTo>
                  <a:pt x="0" y="0"/>
                </a:lnTo>
                <a:lnTo>
                  <a:pt x="0" y="228600"/>
                </a:lnTo>
                <a:lnTo>
                  <a:pt x="8259216" y="228600"/>
                </a:lnTo>
                <a:lnTo>
                  <a:pt x="82592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222222"/>
                </a:solidFill>
                <a:latin typeface="Arial"/>
                <a:cs typeface="Arial"/>
              </a:rPr>
              <a:t>Package</a:t>
            </a:r>
            <a:r>
              <a:rPr sz="1800" b="1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222222"/>
                </a:solidFill>
                <a:latin typeface="Arial"/>
                <a:cs typeface="Arial"/>
              </a:rPr>
              <a:t>in</a:t>
            </a:r>
            <a:r>
              <a:rPr sz="1800" b="1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800" b="1" spc="-20">
                <a:solidFill>
                  <a:srgbClr val="222222"/>
                </a:solidFill>
                <a:latin typeface="Arial"/>
                <a:cs typeface="Arial"/>
              </a:rPr>
              <a:t>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50" y="1045105"/>
            <a:ext cx="8279765" cy="342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4705">
              <a:lnSpc>
                <a:spcPct val="116700"/>
              </a:lnSpc>
              <a:spcBef>
                <a:spcPts val="100"/>
              </a:spcBef>
            </a:pPr>
            <a:r>
              <a:rPr sz="1500" b="1">
                <a:solidFill>
                  <a:srgbClr val="222222"/>
                </a:solidFill>
                <a:latin typeface="Arial"/>
                <a:cs typeface="Arial"/>
              </a:rPr>
              <a:t>Package</a:t>
            </a:r>
            <a:r>
              <a:rPr sz="1500" b="1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b="1">
                <a:solidFill>
                  <a:srgbClr val="222222"/>
                </a:solidFill>
                <a:latin typeface="Arial"/>
                <a:cs typeface="Arial"/>
              </a:rPr>
              <a:t>in</a:t>
            </a:r>
            <a:r>
              <a:rPr sz="1500" b="1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b="1">
                <a:solidFill>
                  <a:srgbClr val="222222"/>
                </a:solidFill>
                <a:latin typeface="Arial"/>
                <a:cs typeface="Arial"/>
              </a:rPr>
              <a:t>Java</a:t>
            </a:r>
            <a:r>
              <a:rPr sz="1500" b="1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is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mechanism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 spc="-10">
                <a:solidFill>
                  <a:srgbClr val="222222"/>
                </a:solidFill>
                <a:latin typeface="Arial MT"/>
                <a:cs typeface="Arial MT"/>
              </a:rPr>
              <a:t>encapsulate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group</a:t>
            </a:r>
            <a:r>
              <a:rPr sz="1500" spc="-35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of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classes,</a:t>
            </a:r>
            <a:r>
              <a:rPr sz="1500" spc="-4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>
                <a:solidFill>
                  <a:srgbClr val="222222"/>
                </a:solidFill>
                <a:latin typeface="Arial MT"/>
                <a:cs typeface="Arial MT"/>
              </a:rPr>
              <a:t>sub</a:t>
            </a:r>
            <a:r>
              <a:rPr sz="1500" spc="-1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500" b="1" spc="-10">
                <a:solidFill>
                  <a:srgbClr val="222222"/>
                </a:solidFill>
                <a:latin typeface="Arial"/>
                <a:cs typeface="Arial"/>
              </a:rPr>
              <a:t>packages</a:t>
            </a:r>
            <a:r>
              <a:rPr sz="1500" b="1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spc="-25">
                <a:solidFill>
                  <a:srgbClr val="222222"/>
                </a:solidFill>
                <a:latin typeface="Arial MT"/>
                <a:cs typeface="Arial MT"/>
              </a:rPr>
              <a:t>and </a:t>
            </a:r>
            <a:r>
              <a:rPr sz="1500" spc="-10">
                <a:solidFill>
                  <a:srgbClr val="222222"/>
                </a:solidFill>
                <a:latin typeface="Arial MT"/>
                <a:cs typeface="Arial MT"/>
              </a:rPr>
              <a:t>interfaces.</a:t>
            </a:r>
            <a:endParaRPr sz="1500">
              <a:latin typeface="Arial MT"/>
              <a:cs typeface="Arial MT"/>
            </a:endParaRPr>
          </a:p>
          <a:p>
            <a:pPr marL="12700" marR="175260">
              <a:lnSpc>
                <a:spcPct val="116700"/>
              </a:lnSpc>
              <a:spcBef>
                <a:spcPts val="1570"/>
              </a:spcBef>
            </a:pPr>
            <a:r>
              <a:rPr sz="1500">
                <a:latin typeface="Arial MT"/>
                <a:cs typeface="Arial MT"/>
              </a:rPr>
              <a:t>A</a:t>
            </a:r>
            <a:r>
              <a:rPr sz="1500" spc="-10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Package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can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be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defined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as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grouping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of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related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types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(classes,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interfaces,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enumerations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25">
                <a:latin typeface="Arial MT"/>
                <a:cs typeface="Arial MT"/>
              </a:rPr>
              <a:t>and </a:t>
            </a:r>
            <a:r>
              <a:rPr sz="1500">
                <a:latin typeface="Arial MT"/>
                <a:cs typeface="Arial MT"/>
              </a:rPr>
              <a:t>annotations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)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providing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access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protection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namespace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management.</a:t>
            </a:r>
            <a:endParaRPr sz="1500">
              <a:latin typeface="Arial MT"/>
              <a:cs typeface="Arial MT"/>
            </a:endParaRPr>
          </a:p>
          <a:p>
            <a:pPr marL="38100" marR="523875" indent="-25400">
              <a:lnSpc>
                <a:spcPct val="204199"/>
              </a:lnSpc>
            </a:pPr>
            <a:r>
              <a:rPr sz="1500">
                <a:latin typeface="Arial MT"/>
                <a:cs typeface="Arial MT"/>
              </a:rPr>
              <a:t>Package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java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can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be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categorized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two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form,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built-</a:t>
            </a:r>
            <a:r>
              <a:rPr sz="1500">
                <a:latin typeface="Arial MT"/>
                <a:cs typeface="Arial MT"/>
              </a:rPr>
              <a:t>in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package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user-</a:t>
            </a:r>
            <a:r>
              <a:rPr sz="1500">
                <a:latin typeface="Arial MT"/>
                <a:cs typeface="Arial MT"/>
              </a:rPr>
              <a:t>defined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package. </a:t>
            </a:r>
            <a:r>
              <a:rPr sz="1500">
                <a:latin typeface="Arial MT"/>
                <a:cs typeface="Arial MT"/>
              </a:rPr>
              <a:t>Some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of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the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existing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packages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Java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are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 spc="-680">
                <a:latin typeface="Arial MT"/>
                <a:cs typeface="Arial MT"/>
              </a:rPr>
              <a:t>−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975"/>
              </a:spcBef>
              <a:buChar char="●"/>
              <a:tabLst>
                <a:tab pos="469265"/>
              </a:tabLst>
            </a:pPr>
            <a:r>
              <a:rPr sz="1500" spc="-10">
                <a:latin typeface="Arial MT"/>
                <a:cs typeface="Arial MT"/>
              </a:rPr>
              <a:t>java.lang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 spc="-630">
                <a:latin typeface="Arial MT"/>
                <a:cs typeface="Arial MT"/>
              </a:rPr>
              <a:t>−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bundles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the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fundamental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classes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300"/>
              </a:spcBef>
              <a:buChar char="●"/>
              <a:tabLst>
                <a:tab pos="469265"/>
              </a:tabLst>
            </a:pPr>
            <a:r>
              <a:rPr sz="1500">
                <a:latin typeface="Arial MT"/>
                <a:cs typeface="Arial MT"/>
              </a:rPr>
              <a:t>java.io</a:t>
            </a:r>
            <a:r>
              <a:rPr sz="1500" spc="-85">
                <a:latin typeface="Arial MT"/>
                <a:cs typeface="Arial MT"/>
              </a:rPr>
              <a:t> </a:t>
            </a:r>
            <a:r>
              <a:rPr sz="1500" spc="-630">
                <a:latin typeface="Arial MT"/>
                <a:cs typeface="Arial MT"/>
              </a:rPr>
              <a:t>−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classes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for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input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,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output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functions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are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bundled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this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package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6700"/>
              </a:lnSpc>
              <a:spcBef>
                <a:spcPts val="375"/>
              </a:spcBef>
            </a:pPr>
            <a:r>
              <a:rPr sz="1500">
                <a:latin typeface="Arial MT"/>
                <a:cs typeface="Arial MT"/>
              </a:rPr>
              <a:t>It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good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practice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to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group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related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classes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implemented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by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you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so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that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programmer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can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easily determine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that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the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classes,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interfaces,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enumerations,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annotations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are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related.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9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>
                <a:solidFill>
                  <a:srgbClr val="610B4B"/>
                </a:solidFill>
                <a:latin typeface="Arial"/>
                <a:cs typeface="Arial"/>
              </a:rPr>
              <a:t>Advantage</a:t>
            </a:r>
            <a:r>
              <a:rPr sz="15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5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5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5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5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500" b="1" spc="-1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91672"/>
            <a:ext cx="8121650" cy="200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14599"/>
              </a:lnSpc>
              <a:spcBef>
                <a:spcPts val="100"/>
              </a:spcBef>
              <a:buAutoNum type="arabicParenR"/>
              <a:tabLst>
                <a:tab pos="266700"/>
              </a:tabLst>
            </a:pPr>
            <a:r>
              <a:rPr sz="1400">
                <a:latin typeface="Verdana"/>
                <a:cs typeface="Verdana"/>
              </a:rPr>
              <a:t>Java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categorize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classes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and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interfaces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so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that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they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can</a:t>
            </a:r>
            <a:r>
              <a:rPr sz="1400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easily maintained.</a:t>
            </a:r>
            <a:endParaRPr sz="1400">
              <a:latin typeface="Verdana"/>
              <a:cs typeface="Verdana"/>
            </a:endParaRPr>
          </a:p>
          <a:p>
            <a:pPr marL="266700" indent="-254000">
              <a:lnSpc>
                <a:spcPct val="100000"/>
              </a:lnSpc>
              <a:spcBef>
                <a:spcPts val="1245"/>
              </a:spcBef>
              <a:buAutoNum type="arabicParenR"/>
              <a:tabLst>
                <a:tab pos="266700"/>
              </a:tabLst>
            </a:pPr>
            <a:r>
              <a:rPr sz="1400">
                <a:latin typeface="Verdana"/>
                <a:cs typeface="Verdana"/>
              </a:rPr>
              <a:t>Java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provides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access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protection.</a:t>
            </a:r>
            <a:endParaRPr sz="1400">
              <a:latin typeface="Verdana"/>
              <a:cs typeface="Verdana"/>
            </a:endParaRPr>
          </a:p>
          <a:p>
            <a:pPr marL="266700" indent="-254000">
              <a:lnSpc>
                <a:spcPct val="100000"/>
              </a:lnSpc>
              <a:spcBef>
                <a:spcPts val="1245"/>
              </a:spcBef>
              <a:buAutoNum type="arabicParenR"/>
              <a:tabLst>
                <a:tab pos="266700"/>
              </a:tabLst>
            </a:pPr>
            <a:r>
              <a:rPr sz="1400">
                <a:latin typeface="Verdana"/>
                <a:cs typeface="Verdana"/>
              </a:rPr>
              <a:t>Java</a:t>
            </a:r>
            <a:r>
              <a:rPr sz="1400" spc="-6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</a:t>
            </a:r>
            <a:r>
              <a:rPr sz="1400" spc="-6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removes</a:t>
            </a:r>
            <a:r>
              <a:rPr sz="1400" spc="-5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naming</a:t>
            </a:r>
            <a:r>
              <a:rPr sz="1400" spc="-6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collision.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package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keyword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create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java.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138237" y="500062"/>
            <a:ext cx="6867524" cy="41433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65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5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5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5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5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50" b="1" spc="-1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2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mypack;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Simple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64769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"Welcome</a:t>
            </a:r>
            <a:r>
              <a:rPr sz="1200" b="1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to</a:t>
            </a:r>
            <a:r>
              <a:rPr sz="1200" b="1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package"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compile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22279"/>
            <a:ext cx="710247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Verdana"/>
                <a:cs typeface="Verdana"/>
              </a:rPr>
              <a:t>If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you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are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not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using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any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IDE,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you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need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to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follow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the</a:t>
            </a:r>
            <a:r>
              <a:rPr sz="1500" spc="5">
                <a:latin typeface="Verdana"/>
                <a:cs typeface="Verdana"/>
              </a:rPr>
              <a:t> </a:t>
            </a:r>
            <a:r>
              <a:rPr sz="1500" b="1">
                <a:latin typeface="Verdana"/>
                <a:cs typeface="Verdana"/>
              </a:rPr>
              <a:t>syntax</a:t>
            </a:r>
            <a:r>
              <a:rPr sz="1500" b="1" spc="-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given</a:t>
            </a:r>
            <a:r>
              <a:rPr sz="1500" spc="-3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below:</a:t>
            </a:r>
            <a:endParaRPr sz="15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250"/>
              </a:spcBef>
            </a:pPr>
            <a:r>
              <a:rPr sz="1500">
                <a:latin typeface="Verdana"/>
                <a:cs typeface="Verdana"/>
              </a:rPr>
              <a:t>javac</a:t>
            </a:r>
            <a:r>
              <a:rPr sz="1500" spc="-4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-</a:t>
            </a:r>
            <a:r>
              <a:rPr sz="1500">
                <a:latin typeface="Verdana"/>
                <a:cs typeface="Verdana"/>
              </a:rPr>
              <a:t>d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directory</a:t>
            </a:r>
            <a:r>
              <a:rPr sz="1500" spc="-40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javafilename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500">
                <a:latin typeface="Verdana"/>
                <a:cs typeface="Verdana"/>
              </a:rPr>
              <a:t>For</a:t>
            </a:r>
            <a:r>
              <a:rPr sz="1500" spc="-10">
                <a:latin typeface="Verdana"/>
                <a:cs typeface="Verdana"/>
              </a:rPr>
              <a:t> </a:t>
            </a:r>
            <a:r>
              <a:rPr sz="1500" b="1" spc="-10">
                <a:latin typeface="Verdana"/>
                <a:cs typeface="Verdana"/>
              </a:rPr>
              <a:t>example</a:t>
            </a:r>
            <a:endParaRPr sz="15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250"/>
              </a:spcBef>
            </a:pPr>
            <a:r>
              <a:rPr sz="1500">
                <a:latin typeface="Verdana"/>
                <a:cs typeface="Verdana"/>
              </a:rPr>
              <a:t>javac</a:t>
            </a:r>
            <a:r>
              <a:rPr sz="1500" spc="-3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-</a:t>
            </a:r>
            <a:r>
              <a:rPr sz="1500">
                <a:latin typeface="Verdana"/>
                <a:cs typeface="Verdana"/>
              </a:rPr>
              <a:t>d</a:t>
            </a:r>
            <a:r>
              <a:rPr sz="1500" spc="-25">
                <a:latin typeface="Verdana"/>
                <a:cs typeface="Verdana"/>
              </a:rPr>
              <a:t> </a:t>
            </a:r>
            <a:r>
              <a:rPr sz="1500">
                <a:latin typeface="Verdana"/>
                <a:cs typeface="Verdana"/>
              </a:rPr>
              <a:t>.</a:t>
            </a:r>
            <a:r>
              <a:rPr sz="1500" spc="-25">
                <a:latin typeface="Verdana"/>
                <a:cs typeface="Verdana"/>
              </a:rPr>
              <a:t> </a:t>
            </a:r>
            <a:r>
              <a:rPr sz="1500" spc="-10">
                <a:latin typeface="Verdana"/>
                <a:cs typeface="Verdana"/>
              </a:rPr>
              <a:t>Simple.java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4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run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program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5787"/>
            <a:ext cx="7731759" cy="291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You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need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fully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qualified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name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e.g.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mypack.Simple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etc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run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class.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</a:pPr>
            <a:r>
              <a:rPr sz="1400" b="1">
                <a:latin typeface="Verdana"/>
                <a:cs typeface="Verdana"/>
              </a:rPr>
              <a:t>To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Compile:</a:t>
            </a:r>
            <a:r>
              <a:rPr sz="1400" b="1" spc="-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javac</a:t>
            </a:r>
            <a:r>
              <a:rPr sz="1400" spc="-15">
                <a:latin typeface="Verdana"/>
                <a:cs typeface="Verdana"/>
              </a:rPr>
              <a:t> </a:t>
            </a:r>
            <a:r>
              <a:rPr sz="1400" spc="-20">
                <a:latin typeface="Verdana"/>
                <a:cs typeface="Verdana"/>
              </a:rPr>
              <a:t>-</a:t>
            </a:r>
            <a:r>
              <a:rPr sz="1400">
                <a:latin typeface="Verdana"/>
                <a:cs typeface="Verdana"/>
              </a:rPr>
              <a:t>d</a:t>
            </a:r>
            <a:r>
              <a:rPr sz="1400" spc="-2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.</a:t>
            </a:r>
            <a:r>
              <a:rPr sz="1400" spc="-2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Simple.java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Verdana"/>
              <a:cs typeface="Verdana"/>
            </a:endParaRPr>
          </a:p>
          <a:p>
            <a:pPr marL="203200" marR="5080">
              <a:lnSpc>
                <a:spcPct val="174100"/>
              </a:lnSpc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20">
                <a:latin typeface="Verdana"/>
                <a:cs typeface="Verdana"/>
              </a:rPr>
              <a:t>-</a:t>
            </a:r>
            <a:r>
              <a:rPr sz="1400">
                <a:latin typeface="Verdana"/>
                <a:cs typeface="Verdana"/>
              </a:rPr>
              <a:t>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switch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that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tells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compiler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where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put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file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i.e.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represents destination.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245"/>
              </a:spcBef>
            </a:pP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.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represents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current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folder.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1400" b="1">
                <a:latin typeface="Verdana"/>
                <a:cs typeface="Verdana"/>
              </a:rPr>
              <a:t>To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Run:</a:t>
            </a:r>
            <a:r>
              <a:rPr sz="1400" b="1" spc="-1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java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mypack.Simple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How</a:t>
            </a:r>
            <a:r>
              <a:rPr sz="1900" spc="-65"/>
              <a:t> </a:t>
            </a:r>
            <a:r>
              <a:rPr sz="1900"/>
              <a:t>to</a:t>
            </a:r>
            <a:r>
              <a:rPr sz="1900" spc="-60"/>
              <a:t> </a:t>
            </a:r>
            <a:r>
              <a:rPr sz="1900"/>
              <a:t>access</a:t>
            </a:r>
            <a:r>
              <a:rPr sz="1900" spc="-60"/>
              <a:t> </a:t>
            </a:r>
            <a:r>
              <a:rPr sz="1900"/>
              <a:t>package</a:t>
            </a:r>
            <a:r>
              <a:rPr sz="1900" spc="-60"/>
              <a:t> </a:t>
            </a:r>
            <a:r>
              <a:rPr sz="1900"/>
              <a:t>from</a:t>
            </a:r>
            <a:r>
              <a:rPr sz="1900" spc="-60"/>
              <a:t> </a:t>
            </a:r>
            <a:r>
              <a:rPr sz="1900"/>
              <a:t>another</a:t>
            </a:r>
            <a:r>
              <a:rPr sz="1900" spc="-60"/>
              <a:t> </a:t>
            </a:r>
            <a:r>
              <a:rPr sz="1900" spc="-10"/>
              <a:t>package?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23296"/>
            <a:ext cx="591820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latin typeface="Verdana"/>
                <a:cs typeface="Verdana"/>
              </a:rPr>
              <a:t>There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are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three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ways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access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package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from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outside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package.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1565"/>
              </a:spcBef>
              <a:buAutoNum type="arabicPeriod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import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package.*;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import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package.classname;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fully</a:t>
            </a:r>
            <a:r>
              <a:rPr sz="1300" spc="-8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qualified</a:t>
            </a:r>
            <a:r>
              <a:rPr sz="1300" spc="-7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name.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7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1)</a:t>
            </a:r>
            <a:r>
              <a:rPr sz="1900" spc="-50"/>
              <a:t> </a:t>
            </a:r>
            <a:r>
              <a:rPr sz="1900"/>
              <a:t>Using</a:t>
            </a:r>
            <a:r>
              <a:rPr sz="1900" spc="-50"/>
              <a:t> </a:t>
            </a:r>
            <a:r>
              <a:rPr sz="1900" spc="-10"/>
              <a:t>packagename.*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206591"/>
            <a:ext cx="8251825" cy="28994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773430">
              <a:lnSpc>
                <a:spcPct val="117000"/>
              </a:lnSpc>
              <a:spcBef>
                <a:spcPts val="370"/>
              </a:spcBef>
            </a:pPr>
            <a:r>
              <a:rPr sz="2000">
                <a:solidFill>
                  <a:srgbClr val="434343"/>
                </a:solidFill>
                <a:latin typeface="Roboto"/>
                <a:cs typeface="Roboto"/>
              </a:rPr>
              <a:t>I</a:t>
            </a:r>
            <a:r>
              <a:rPr sz="1200">
                <a:latin typeface="Verdana"/>
                <a:cs typeface="Verdana"/>
              </a:rPr>
              <a:t>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you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package.*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all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interfaces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this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package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will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accessible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not </a:t>
            </a:r>
            <a:r>
              <a:rPr sz="1200" spc="-10">
                <a:latin typeface="Verdana"/>
                <a:cs typeface="Verdana"/>
              </a:rPr>
              <a:t>subpackages.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</a:pP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import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keyword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make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classes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interface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another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package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accessible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current package.</a:t>
            </a:r>
            <a:endParaRPr sz="1200">
              <a:latin typeface="Verdana"/>
              <a:cs typeface="Verdana"/>
            </a:endParaRPr>
          </a:p>
          <a:p>
            <a:pPr marL="12700" marR="6964680">
              <a:lnSpc>
                <a:spcPct val="177100"/>
              </a:lnSpc>
              <a:spcBef>
                <a:spcPts val="75"/>
              </a:spcBef>
            </a:pP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2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200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A.java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pack;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A{</a:t>
            </a:r>
            <a:endParaRPr sz="1200">
              <a:latin typeface="Verdana"/>
              <a:cs typeface="Verdana"/>
            </a:endParaRPr>
          </a:p>
          <a:p>
            <a:pPr marL="11938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msg(){System.out.println(</a:t>
            </a:r>
            <a:r>
              <a:rPr sz="1200" spc="-1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200" spc="-10">
                <a:latin typeface="Verdana"/>
                <a:cs typeface="Verdana"/>
              </a:rPr>
              <a:t>);}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4904"/>
            <a:ext cx="1452880" cy="85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2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200" spc="-4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B.java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mypack;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00" b="1" spc="-6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pack.*;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2630303"/>
            <a:ext cx="3241675" cy="182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B{</a:t>
            </a:r>
            <a:endParaRPr sz="1200">
              <a:latin typeface="Verdana"/>
              <a:cs typeface="Verdana"/>
            </a:endParaRPr>
          </a:p>
          <a:p>
            <a:pPr marL="172720" marR="5080" indent="-53340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main(String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args[]){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obj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=</a:t>
            </a:r>
            <a:r>
              <a:rPr sz="1200" spc="-10"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00" spc="-20">
                <a:latin typeface="Verdana"/>
                <a:cs typeface="Verdana"/>
              </a:rPr>
              <a:t>A();</a:t>
            </a:r>
            <a:endParaRPr sz="1200">
              <a:latin typeface="Verdana"/>
              <a:cs typeface="Verdana"/>
            </a:endParaRPr>
          </a:p>
          <a:p>
            <a:pPr marL="172720">
              <a:lnSpc>
                <a:spcPct val="100000"/>
              </a:lnSpc>
              <a:spcBef>
                <a:spcPts val="1110"/>
              </a:spcBef>
            </a:pPr>
            <a:r>
              <a:rPr sz="1200" spc="-10">
                <a:latin typeface="Verdana"/>
                <a:cs typeface="Verdana"/>
              </a:rPr>
              <a:t>obj.msg();</a:t>
            </a:r>
            <a:endParaRPr sz="1200">
              <a:latin typeface="Verdana"/>
              <a:cs typeface="Verdana"/>
            </a:endParaRPr>
          </a:p>
          <a:p>
            <a:pPr marL="11938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06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2)</a:t>
            </a:r>
            <a:r>
              <a:rPr sz="1900" spc="-50"/>
              <a:t> </a:t>
            </a:r>
            <a:r>
              <a:rPr sz="1900"/>
              <a:t>Using</a:t>
            </a:r>
            <a:r>
              <a:rPr sz="1900" spc="-50"/>
              <a:t> </a:t>
            </a:r>
            <a:r>
              <a:rPr sz="1900" spc="-10"/>
              <a:t>packagename.classname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295787"/>
            <a:ext cx="82835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Verdana"/>
                <a:cs typeface="Verdana"/>
              </a:rPr>
              <a:t>If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you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import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package.classname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then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only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declared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class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this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package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will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accessible.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291600" y="228570"/>
            <a:ext cx="3578860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A.java</a:t>
            </a:r>
            <a:endParaRPr sz="1000">
              <a:latin typeface="Verdana"/>
              <a:cs typeface="Verdana"/>
            </a:endParaRPr>
          </a:p>
          <a:p>
            <a:pPr marL="12700" marR="2495550" indent="4318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pack;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50">
                <a:latin typeface="Verdana"/>
                <a:cs typeface="Verdana"/>
              </a:rPr>
              <a:t>A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msg(){System.out.println(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000" b="1" spc="-10">
                <a:latin typeface="Verdana"/>
                <a:cs typeface="Verdana"/>
              </a:rPr>
              <a:t>);}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600" y="2162145"/>
            <a:ext cx="2785745" cy="266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mypack;</a:t>
            </a:r>
            <a:endParaRPr sz="1000">
              <a:latin typeface="Verdana"/>
              <a:cs typeface="Verdana"/>
            </a:endParaRPr>
          </a:p>
          <a:p>
            <a:pPr marL="99060" marR="1717675" indent="-86995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pack.A;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50">
                <a:latin typeface="Verdana"/>
                <a:cs typeface="Verdana"/>
              </a:rPr>
              <a:t>B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 marR="1438275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A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obj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=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A(); </a:t>
            </a:r>
            <a:r>
              <a:rPr sz="1000" b="1" spc="-10">
                <a:latin typeface="Verdana"/>
                <a:cs typeface="Verdana"/>
              </a:rPr>
              <a:t>obj.msg();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69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7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3)</a:t>
            </a:r>
            <a:r>
              <a:rPr sz="1900" spc="-65"/>
              <a:t> </a:t>
            </a:r>
            <a:r>
              <a:rPr sz="1900"/>
              <a:t>Using</a:t>
            </a:r>
            <a:r>
              <a:rPr sz="1900" spc="-65"/>
              <a:t> </a:t>
            </a:r>
            <a:r>
              <a:rPr sz="1900"/>
              <a:t>fully</a:t>
            </a:r>
            <a:r>
              <a:rPr sz="1900" spc="-60"/>
              <a:t> </a:t>
            </a:r>
            <a:r>
              <a:rPr sz="1900"/>
              <a:t>qualified</a:t>
            </a:r>
            <a:r>
              <a:rPr sz="1900" spc="-65"/>
              <a:t> </a:t>
            </a:r>
            <a:r>
              <a:rPr sz="1900" spc="-20"/>
              <a:t>name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490621" y="1383037"/>
            <a:ext cx="8187055" cy="197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5575" indent="-351790">
              <a:lnSpc>
                <a:spcPct val="115900"/>
              </a:lnSpc>
              <a:spcBef>
                <a:spcPts val="100"/>
              </a:spcBef>
              <a:buFont typeface="Arial MT"/>
              <a:buChar char="●"/>
              <a:tabLst>
                <a:tab pos="363855"/>
              </a:tabLst>
            </a:pPr>
            <a:r>
              <a:rPr sz="1600">
                <a:latin typeface="Verdana"/>
                <a:cs typeface="Verdana"/>
              </a:rPr>
              <a:t>If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you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use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fully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qualified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name</a:t>
            </a:r>
            <a:r>
              <a:rPr sz="1600" spc="-4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then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only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declared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class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of</a:t>
            </a:r>
            <a:r>
              <a:rPr sz="1600" spc="-4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this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package</a:t>
            </a:r>
            <a:r>
              <a:rPr sz="1600" spc="-50">
                <a:latin typeface="Verdana"/>
                <a:cs typeface="Verdana"/>
              </a:rPr>
              <a:t> </a:t>
            </a:r>
            <a:r>
              <a:rPr sz="1600" spc="-20">
                <a:latin typeface="Verdana"/>
                <a:cs typeface="Verdana"/>
              </a:rPr>
              <a:t>will </a:t>
            </a:r>
            <a:r>
              <a:rPr sz="1600">
                <a:latin typeface="Verdana"/>
                <a:cs typeface="Verdana"/>
              </a:rPr>
              <a:t>be</a:t>
            </a:r>
            <a:r>
              <a:rPr sz="1600" spc="-10">
                <a:latin typeface="Verdana"/>
                <a:cs typeface="Verdana"/>
              </a:rPr>
              <a:t> accessible.</a:t>
            </a:r>
            <a:endParaRPr sz="1600">
              <a:latin typeface="Verdana"/>
              <a:cs typeface="Verdana"/>
            </a:endParaRPr>
          </a:p>
          <a:p>
            <a:pPr marL="363855" indent="-35115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/>
              </a:tabLst>
            </a:pPr>
            <a:r>
              <a:rPr sz="1600">
                <a:latin typeface="Verdana"/>
                <a:cs typeface="Verdana"/>
              </a:rPr>
              <a:t>Now</a:t>
            </a:r>
            <a:r>
              <a:rPr sz="1600" spc="-3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there</a:t>
            </a:r>
            <a:r>
              <a:rPr sz="1600" spc="-2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is</a:t>
            </a:r>
            <a:r>
              <a:rPr sz="1600" spc="-2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no</a:t>
            </a:r>
            <a:r>
              <a:rPr sz="1600" spc="-2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need</a:t>
            </a:r>
            <a:r>
              <a:rPr sz="1600" spc="-3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to</a:t>
            </a:r>
            <a:r>
              <a:rPr sz="1600" spc="-2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import.</a:t>
            </a:r>
            <a:endParaRPr sz="1600">
              <a:latin typeface="Verdana"/>
              <a:cs typeface="Verdana"/>
            </a:endParaRPr>
          </a:p>
          <a:p>
            <a:pPr marL="363855" marR="5080" indent="-351790">
              <a:lnSpc>
                <a:spcPct val="113300"/>
              </a:lnSpc>
              <a:buFont typeface="Arial MT"/>
              <a:buChar char="●"/>
              <a:tabLst>
                <a:tab pos="363855"/>
              </a:tabLst>
            </a:pPr>
            <a:r>
              <a:rPr sz="1600">
                <a:latin typeface="Verdana"/>
                <a:cs typeface="Verdana"/>
              </a:rPr>
              <a:t>But</a:t>
            </a:r>
            <a:r>
              <a:rPr sz="1600" spc="-4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you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need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to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use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fully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qualified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name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every</a:t>
            </a:r>
            <a:r>
              <a:rPr sz="1600" spc="-4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time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when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you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are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accessing </a:t>
            </a:r>
            <a:r>
              <a:rPr sz="1600">
                <a:latin typeface="Verdana"/>
                <a:cs typeface="Verdana"/>
              </a:rPr>
              <a:t>the</a:t>
            </a:r>
            <a:r>
              <a:rPr sz="1600" spc="-4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class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or</a:t>
            </a:r>
            <a:r>
              <a:rPr sz="1600" spc="-3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interface.</a:t>
            </a:r>
            <a:endParaRPr sz="1600">
              <a:latin typeface="Verdana"/>
              <a:cs typeface="Verdana"/>
            </a:endParaRPr>
          </a:p>
          <a:p>
            <a:pPr marL="363855" marR="29209" indent="-351790">
              <a:lnSpc>
                <a:spcPct val="113300"/>
              </a:lnSpc>
              <a:buFont typeface="Arial MT"/>
              <a:buChar char="●"/>
              <a:tabLst>
                <a:tab pos="363855"/>
              </a:tabLst>
            </a:pPr>
            <a:r>
              <a:rPr sz="1600">
                <a:latin typeface="Verdana"/>
                <a:cs typeface="Verdana"/>
              </a:rPr>
              <a:t>It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is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generally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used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when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two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packages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have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same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class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name</a:t>
            </a:r>
            <a:r>
              <a:rPr sz="1600" spc="-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e.g.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java.util </a:t>
            </a:r>
            <a:r>
              <a:rPr sz="1600">
                <a:latin typeface="Verdana"/>
                <a:cs typeface="Verdana"/>
              </a:rPr>
              <a:t>and</a:t>
            </a:r>
            <a:r>
              <a:rPr sz="1600" spc="-8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java.sql</a:t>
            </a:r>
            <a:r>
              <a:rPr sz="1600" spc="-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packages</a:t>
            </a:r>
            <a:r>
              <a:rPr sz="1600" spc="-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contain</a:t>
            </a:r>
            <a:r>
              <a:rPr sz="1600" spc="-7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Date</a:t>
            </a:r>
            <a:r>
              <a:rPr sz="1600" spc="-75">
                <a:latin typeface="Verdana"/>
                <a:cs typeface="Verdana"/>
              </a:rPr>
              <a:t> </a:t>
            </a:r>
            <a:r>
              <a:rPr sz="1600" spc="-10">
                <a:latin typeface="Verdana"/>
                <a:cs typeface="Verdana"/>
              </a:rPr>
              <a:t>class.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>
                <a:solidFill>
                  <a:srgbClr val="610B4B"/>
                </a:solidFill>
              </a:rPr>
              <a:t>Example</a:t>
            </a:r>
            <a:r>
              <a:rPr sz="1650" spc="-35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of</a:t>
            </a:r>
            <a:r>
              <a:rPr sz="1650" spc="-25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package</a:t>
            </a:r>
            <a:r>
              <a:rPr sz="1650" spc="-25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by</a:t>
            </a:r>
            <a:r>
              <a:rPr sz="1650" spc="-20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import</a:t>
            </a:r>
            <a:r>
              <a:rPr sz="1650" spc="-25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fully</a:t>
            </a:r>
            <a:r>
              <a:rPr sz="1650" spc="-25">
                <a:solidFill>
                  <a:srgbClr val="610B4B"/>
                </a:solidFill>
              </a:rPr>
              <a:t> </a:t>
            </a:r>
            <a:r>
              <a:rPr sz="1650">
                <a:solidFill>
                  <a:srgbClr val="610B4B"/>
                </a:solidFill>
              </a:rPr>
              <a:t>qualified</a:t>
            </a:r>
            <a:r>
              <a:rPr sz="1650" spc="-20">
                <a:solidFill>
                  <a:srgbClr val="610B4B"/>
                </a:solidFill>
              </a:rPr>
              <a:t> name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384725" y="1335411"/>
            <a:ext cx="2717165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100" b="1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100" b="1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A.java</a:t>
            </a:r>
            <a:endParaRPr sz="1100">
              <a:latin typeface="Verdana"/>
              <a:cs typeface="Verdana"/>
            </a:endParaRPr>
          </a:p>
          <a:p>
            <a:pPr marL="12700" marR="1575435">
              <a:lnSpc>
                <a:spcPct val="181800"/>
              </a:lnSpc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100" b="1" spc="-9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pack;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5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msg()</a:t>
            </a:r>
            <a:endParaRPr sz="1100">
              <a:latin typeface="Verdana"/>
              <a:cs typeface="Verdana"/>
            </a:endParaRPr>
          </a:p>
          <a:p>
            <a:pPr marL="155575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latin typeface="Verdana"/>
                <a:cs typeface="Verdana"/>
              </a:rPr>
              <a:t>System.out.println(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100" b="1" spc="-1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411"/>
            <a:ext cx="4541520" cy="296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100" b="1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100" b="1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B.java</a:t>
            </a:r>
            <a:endParaRPr sz="1100">
              <a:latin typeface="Verdana"/>
              <a:cs typeface="Verdana"/>
            </a:endParaRPr>
          </a:p>
          <a:p>
            <a:pPr marL="12700" marR="3161030">
              <a:lnSpc>
                <a:spcPct val="181800"/>
              </a:lnSpc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100" b="1" spc="-9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mypack;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B{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main(String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args[])</a:t>
            </a:r>
            <a:endParaRPr sz="1100">
              <a:latin typeface="Verdana"/>
              <a:cs typeface="Verdana"/>
            </a:endParaRPr>
          </a:p>
          <a:p>
            <a:pPr marL="155575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55575" marR="5080">
              <a:lnSpc>
                <a:spcPct val="181800"/>
              </a:lnSpc>
            </a:pPr>
            <a:r>
              <a:rPr sz="1100" b="1">
                <a:latin typeface="Verdana"/>
                <a:cs typeface="Verdana"/>
              </a:rPr>
              <a:t>pack.A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obj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=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1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pack.A();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//using</a:t>
            </a:r>
            <a:r>
              <a:rPr sz="11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fully</a:t>
            </a:r>
            <a:r>
              <a:rPr sz="1100" b="1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qualified</a:t>
            </a:r>
            <a:r>
              <a:rPr sz="1100" b="1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20">
                <a:solidFill>
                  <a:srgbClr val="008200"/>
                </a:solidFill>
                <a:latin typeface="Verdana"/>
                <a:cs typeface="Verdana"/>
              </a:rPr>
              <a:t>name </a:t>
            </a:r>
            <a:r>
              <a:rPr sz="1100" b="1" spc="-10">
                <a:latin typeface="Verdana"/>
                <a:cs typeface="Verdana"/>
              </a:rPr>
              <a:t>obj.msg();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00" b="1" spc="-10">
                <a:latin typeface="Arial"/>
                <a:cs typeface="Arial"/>
              </a:rPr>
              <a:t>Output:Hello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Multithreading</a:t>
            </a:r>
            <a:r>
              <a:rPr b="1" spc="-6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55">
                <a:latin typeface="Arial"/>
                <a:cs typeface="Arial"/>
              </a:rPr>
              <a:t> </a:t>
            </a:r>
            <a:r>
              <a:rPr b="1" spc="-20">
                <a:latin typeface="Arial"/>
                <a:cs typeface="Arial"/>
              </a:rPr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633" y="1423296"/>
            <a:ext cx="78790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434343"/>
              </a:buClr>
              <a:buFont typeface="Arial"/>
              <a:buChar char="●"/>
              <a:tabLst>
                <a:tab pos="340360"/>
              </a:tabLst>
            </a:pPr>
            <a:r>
              <a:rPr sz="1300" b="1" spc="-10">
                <a:latin typeface="Verdana"/>
                <a:cs typeface="Verdana"/>
              </a:rPr>
              <a:t>Multithreading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Java</a:t>
            </a:r>
            <a:r>
              <a:rPr sz="1300" b="1" spc="-35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process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executing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multiple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threads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simultaneously.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633" y="2134496"/>
            <a:ext cx="68503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A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lightweight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20">
                <a:latin typeface="Verdana"/>
                <a:cs typeface="Verdana"/>
              </a:rPr>
              <a:t>sub-</a:t>
            </a:r>
            <a:r>
              <a:rPr sz="1300" b="1">
                <a:latin typeface="Verdana"/>
                <a:cs typeface="Verdana"/>
              </a:rPr>
              <a:t>process,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smallest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unit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processing.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33" y="2839346"/>
            <a:ext cx="73342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0360"/>
              </a:tabLst>
            </a:pPr>
            <a:r>
              <a:rPr sz="1300" b="1" spc="-10">
                <a:latin typeface="Verdana"/>
                <a:cs typeface="Verdana"/>
              </a:rPr>
              <a:t>Multiprocessing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multithreading,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both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are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achieve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multitasking.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633" y="3513716"/>
            <a:ext cx="82111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However,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we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multithreading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than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multiprocessing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because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threads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shared </a:t>
            </a:r>
            <a:r>
              <a:rPr sz="1300" b="1">
                <a:latin typeface="Verdana"/>
                <a:cs typeface="Verdana"/>
              </a:rPr>
              <a:t>memory</a:t>
            </a:r>
            <a:r>
              <a:rPr sz="1300" b="1" spc="-9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area.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Advantages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Multithreading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99420"/>
            <a:ext cx="824357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1)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doesn't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block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user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because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are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independent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you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perform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multiple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operations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same </a:t>
            </a:r>
            <a:r>
              <a:rPr sz="1000" b="1" spc="-10">
                <a:latin typeface="Verdana"/>
                <a:cs typeface="Verdana"/>
              </a:rPr>
              <a:t>time.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212220"/>
            <a:ext cx="45586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2)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You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can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perform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many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operations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together,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so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saves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time.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821820"/>
            <a:ext cx="7336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3)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are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independent,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doesn't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affect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other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exception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occurs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single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Multitasking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2012195"/>
            <a:ext cx="776414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Multitasking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executing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multiple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tasks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simultaneously.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multitasking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utilize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CPU. </a:t>
            </a:r>
            <a:r>
              <a:rPr sz="1000" b="1">
                <a:latin typeface="Verdana"/>
                <a:cs typeface="Verdana"/>
              </a:rPr>
              <a:t>Multitasking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achieved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two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ways: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469265"/>
              </a:tabLst>
            </a:pPr>
            <a:r>
              <a:rPr sz="1000" b="1" spc="-10">
                <a:latin typeface="Verdana"/>
                <a:cs typeface="Verdana"/>
              </a:rPr>
              <a:t>Process-</a:t>
            </a:r>
            <a:r>
              <a:rPr sz="1000" b="1">
                <a:latin typeface="Verdana"/>
                <a:cs typeface="Verdana"/>
              </a:rPr>
              <a:t>based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Multitasking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(Multiprocessing)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469265"/>
              </a:tabLst>
            </a:pPr>
            <a:r>
              <a:rPr sz="1000" b="1" spc="-10">
                <a:latin typeface="Verdana"/>
                <a:cs typeface="Verdana"/>
              </a:rPr>
              <a:t>Thread-</a:t>
            </a:r>
            <a:r>
              <a:rPr sz="1000" b="1">
                <a:latin typeface="Verdana"/>
                <a:cs typeface="Verdana"/>
              </a:rPr>
              <a:t>based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Multitasking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(Multithreading)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1)</a:t>
            </a:r>
            <a:r>
              <a:rPr sz="16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Process-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based</a:t>
            </a:r>
            <a:r>
              <a:rPr sz="16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Multitasking (Multiprocessing)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646" y="1869320"/>
            <a:ext cx="7986395" cy="12160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Each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has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address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memory.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other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words,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each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allocates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separate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memory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area.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A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heavyweight.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Cost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communication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between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high.</a:t>
            </a:r>
            <a:endParaRPr sz="1000">
              <a:latin typeface="Verdana"/>
              <a:cs typeface="Verdana"/>
            </a:endParaRPr>
          </a:p>
          <a:p>
            <a:pPr marL="317500" marR="5080" indent="-305435">
              <a:lnSpc>
                <a:spcPct val="156300"/>
              </a:lnSpc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Switching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from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one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process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requires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some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time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for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saving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loading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registers</a:t>
            </a:r>
            <a:r>
              <a:rPr sz="1000" b="1">
                <a:latin typeface="Verdana"/>
                <a:cs typeface="Verdana"/>
              </a:rPr>
              <a:t>,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memory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maps, </a:t>
            </a:r>
            <a:r>
              <a:rPr sz="1000" b="1">
                <a:latin typeface="Verdana"/>
                <a:cs typeface="Verdana"/>
              </a:rPr>
              <a:t>updating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lists,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etc.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2)</a:t>
            </a:r>
            <a:r>
              <a:rPr sz="16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Thread-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based</a:t>
            </a:r>
            <a:r>
              <a:rPr sz="16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Multitasking</a:t>
            </a:r>
            <a:r>
              <a:rPr sz="16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(Multithreading)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646" y="1869320"/>
            <a:ext cx="3915410" cy="7397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Threads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share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same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address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space.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A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lightweight.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Cost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communication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between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low.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What</a:t>
            </a:r>
            <a:r>
              <a:rPr sz="1900" spc="-55"/>
              <a:t> </a:t>
            </a:r>
            <a:r>
              <a:rPr sz="1900"/>
              <a:t>is</a:t>
            </a:r>
            <a:r>
              <a:rPr sz="1900" spc="-80"/>
              <a:t> </a:t>
            </a:r>
            <a:r>
              <a:rPr sz="1900"/>
              <a:t>Thread</a:t>
            </a:r>
            <a:r>
              <a:rPr sz="1900" spc="-50"/>
              <a:t> </a:t>
            </a:r>
            <a:r>
              <a:rPr sz="1900"/>
              <a:t>in</a:t>
            </a:r>
            <a:r>
              <a:rPr sz="1900" spc="-50"/>
              <a:t> </a:t>
            </a:r>
            <a:r>
              <a:rPr sz="1900" spc="-20"/>
              <a:t>java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513633" y="1728766"/>
            <a:ext cx="6931659" cy="1168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A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lightweight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subprocess,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smallest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unit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2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processing.</a:t>
            </a:r>
            <a:endParaRPr sz="1300">
              <a:latin typeface="Verdana"/>
              <a:cs typeface="Verdana"/>
            </a:endParaRPr>
          </a:p>
          <a:p>
            <a:pPr marL="396875" indent="-38417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96875"/>
              </a:tabLst>
            </a:pPr>
            <a:r>
              <a:rPr sz="1300" b="1">
                <a:latin typeface="Verdana"/>
                <a:cs typeface="Verdana"/>
              </a:rPr>
              <a:t>It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separate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path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execution.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Threads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are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independent.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If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there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occurs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exception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one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thread,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doesn't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affect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other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threads.</a:t>
            </a:r>
            <a:endParaRPr sz="1300">
              <a:latin typeface="Verdana"/>
              <a:cs typeface="Verdana"/>
            </a:endParaRPr>
          </a:p>
          <a:p>
            <a:pPr marL="396875" indent="-38417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96875"/>
              </a:tabLst>
            </a:pPr>
            <a:r>
              <a:rPr sz="1300" b="1">
                <a:latin typeface="Verdana"/>
                <a:cs typeface="Verdana"/>
              </a:rPr>
              <a:t>It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shared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memory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area.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800606" y="492322"/>
            <a:ext cx="3898038" cy="4158875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8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Thread</a:t>
            </a:r>
            <a:r>
              <a:rPr sz="1900" b="1" spc="-8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class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1933" y="1451070"/>
            <a:ext cx="7988300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Java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provides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class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achieve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programming.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Font typeface="Arial"/>
              <a:buChar char="●"/>
            </a:pPr>
            <a:endParaRPr sz="1300">
              <a:latin typeface="Verdana"/>
              <a:cs typeface="Verdana"/>
            </a:endParaRPr>
          </a:p>
          <a:p>
            <a:pPr marL="340360" marR="5080" indent="-328295">
              <a:lnSpc>
                <a:spcPct val="115399"/>
              </a:lnSpc>
              <a:spcBef>
                <a:spcPts val="5"/>
              </a:spcBef>
              <a:buClr>
                <a:srgbClr val="434343"/>
              </a:buClr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class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provides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constructors</a:t>
            </a:r>
            <a:r>
              <a:rPr sz="1300" b="1" spc="-45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methods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create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perform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operations </a:t>
            </a:r>
            <a:r>
              <a:rPr sz="1300" b="1">
                <a:latin typeface="Verdana"/>
                <a:cs typeface="Verdana"/>
              </a:rPr>
              <a:t>on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thread.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933" y="3095720"/>
            <a:ext cx="68433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434343"/>
              </a:buClr>
              <a:buFont typeface="Arial"/>
              <a:buChar char="●"/>
              <a:tabLst>
                <a:tab pos="340360"/>
              </a:tabLst>
            </a:pPr>
            <a:r>
              <a:rPr sz="1300" b="1">
                <a:latin typeface="Verdana"/>
                <a:cs typeface="Verdana"/>
              </a:rPr>
              <a:t>Thread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class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extends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Object</a:t>
            </a:r>
            <a:r>
              <a:rPr sz="1300" b="1" spc="-5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300" b="1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class</a:t>
            </a:r>
            <a:r>
              <a:rPr sz="1300" b="1" spc="-5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implements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Runnable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interface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Life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cycle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of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a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Thread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(Thread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States)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391672"/>
            <a:ext cx="8103870" cy="17526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345"/>
              </a:spcBef>
              <a:buFont typeface="Arial"/>
              <a:buChar char="●"/>
              <a:tabLst>
                <a:tab pos="347980"/>
              </a:tabLst>
            </a:pPr>
            <a:r>
              <a:rPr sz="1400" b="1">
                <a:latin typeface="Verdana"/>
                <a:cs typeface="Verdana"/>
              </a:rPr>
              <a:t>A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thread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can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be</a:t>
            </a:r>
            <a:r>
              <a:rPr sz="1400" b="1" spc="-1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in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one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of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1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five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states.</a:t>
            </a:r>
            <a:endParaRPr sz="1400">
              <a:latin typeface="Verdana"/>
              <a:cs typeface="Verdana"/>
            </a:endParaRPr>
          </a:p>
          <a:p>
            <a:pPr marL="348615" marR="663575" indent="-336550">
              <a:lnSpc>
                <a:spcPts val="1950"/>
              </a:lnSpc>
              <a:spcBef>
                <a:spcPts val="85"/>
              </a:spcBef>
              <a:buFont typeface="Arial"/>
              <a:buChar char="●"/>
              <a:tabLst>
                <a:tab pos="348615"/>
              </a:tabLst>
            </a:pPr>
            <a:r>
              <a:rPr sz="1400" b="1">
                <a:latin typeface="Verdana"/>
                <a:cs typeface="Verdana"/>
              </a:rPr>
              <a:t>According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to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sun,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there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is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only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4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states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in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thread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life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cycle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in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java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 spc="-20">
                <a:latin typeface="Verdana"/>
                <a:cs typeface="Verdana"/>
              </a:rPr>
              <a:t>new, </a:t>
            </a:r>
            <a:r>
              <a:rPr sz="1400" b="1">
                <a:latin typeface="Verdana"/>
                <a:cs typeface="Verdana"/>
              </a:rPr>
              <a:t>runnable,</a:t>
            </a:r>
            <a:r>
              <a:rPr sz="1400" b="1" spc="-60">
                <a:latin typeface="Verdana"/>
                <a:cs typeface="Verdana"/>
              </a:rPr>
              <a:t> </a:t>
            </a:r>
            <a:r>
              <a:rPr sz="1400" b="1" spc="-20">
                <a:latin typeface="Verdana"/>
                <a:cs typeface="Verdana"/>
              </a:rPr>
              <a:t>non-</a:t>
            </a:r>
            <a:r>
              <a:rPr sz="1400" b="1">
                <a:latin typeface="Verdana"/>
                <a:cs typeface="Verdana"/>
              </a:rPr>
              <a:t>runnable</a:t>
            </a:r>
            <a:r>
              <a:rPr sz="1400" b="1" spc="-6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and</a:t>
            </a:r>
            <a:r>
              <a:rPr sz="1400" b="1" spc="-60"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terminated.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160"/>
              </a:spcBef>
              <a:buFont typeface="Arial"/>
              <a:buChar char="●"/>
              <a:tabLst>
                <a:tab pos="347980"/>
              </a:tabLst>
            </a:pPr>
            <a:r>
              <a:rPr sz="1400" b="1">
                <a:latin typeface="Verdana"/>
                <a:cs typeface="Verdana"/>
              </a:rPr>
              <a:t>There</a:t>
            </a:r>
            <a:r>
              <a:rPr sz="1400" b="1" spc="-4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is</a:t>
            </a:r>
            <a:r>
              <a:rPr sz="1400" b="1" spc="-4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no</a:t>
            </a:r>
            <a:r>
              <a:rPr sz="1400" b="1" spc="-4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running</a:t>
            </a:r>
            <a:r>
              <a:rPr sz="1400" b="1" spc="-40"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state.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Font typeface="Arial"/>
              <a:buChar char="●"/>
              <a:tabLst>
                <a:tab pos="347980"/>
              </a:tabLst>
            </a:pPr>
            <a:r>
              <a:rPr sz="1400" b="1">
                <a:latin typeface="Verdana"/>
                <a:cs typeface="Verdana"/>
              </a:rPr>
              <a:t>But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for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better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understanding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threads,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we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are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explaining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it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in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5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states.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Font typeface="Arial"/>
              <a:buChar char="●"/>
              <a:tabLst>
                <a:tab pos="347980"/>
              </a:tabLst>
            </a:pP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life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cycle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of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thread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in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java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is</a:t>
            </a:r>
            <a:r>
              <a:rPr sz="1400" b="1" spc="-2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controlled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by</a:t>
            </a:r>
            <a:r>
              <a:rPr sz="1400" b="1" spc="-20">
                <a:latin typeface="Verdana"/>
                <a:cs typeface="Verdana"/>
              </a:rPr>
              <a:t> JVM.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Font typeface="Arial"/>
              <a:buChar char="●"/>
              <a:tabLst>
                <a:tab pos="347980"/>
              </a:tabLst>
            </a:pPr>
            <a:r>
              <a:rPr sz="1400" b="1">
                <a:latin typeface="Verdana"/>
                <a:cs typeface="Verdana"/>
              </a:rPr>
              <a:t>The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java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thread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states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are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as</a:t>
            </a:r>
            <a:r>
              <a:rPr sz="1400" b="1" spc="-30">
                <a:latin typeface="Verdana"/>
                <a:cs typeface="Verdana"/>
              </a:rPr>
              <a:t> </a:t>
            </a:r>
            <a:r>
              <a:rPr sz="1400" b="1" spc="-10">
                <a:latin typeface="Verdana"/>
                <a:cs typeface="Verdana"/>
              </a:rPr>
              <a:t>follows: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49911" y="1461904"/>
            <a:ext cx="2529205" cy="1357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495" indent="-3917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04495"/>
              </a:tabLst>
            </a:pPr>
            <a:r>
              <a:rPr sz="1200" b="1" spc="-25">
                <a:latin typeface="Verdana"/>
                <a:cs typeface="Verdana"/>
              </a:rPr>
              <a:t>New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404495"/>
              </a:tabLst>
            </a:pPr>
            <a:r>
              <a:rPr sz="1200" b="1" spc="-10">
                <a:latin typeface="Verdana"/>
                <a:cs typeface="Verdana"/>
              </a:rPr>
              <a:t>Runnable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 spc="-10">
                <a:latin typeface="Verdana"/>
                <a:cs typeface="Verdana"/>
              </a:rPr>
              <a:t>Running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 spc="-10">
                <a:latin typeface="Verdana"/>
                <a:cs typeface="Verdana"/>
              </a:rPr>
              <a:t>Non-</a:t>
            </a:r>
            <a:r>
              <a:rPr sz="1200" b="1">
                <a:latin typeface="Verdana"/>
                <a:cs typeface="Verdana"/>
              </a:rPr>
              <a:t>Runnable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(Blocked)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 spc="-10">
                <a:latin typeface="Verdana"/>
                <a:cs typeface="Verdana"/>
              </a:rPr>
              <a:t>Terminated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962274" y="54350"/>
            <a:ext cx="7322750" cy="4778675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680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1)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New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916945"/>
            <a:ext cx="79876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new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you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create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instance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class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but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before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invocation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start()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method.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269497"/>
            <a:ext cx="1188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2)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697995"/>
            <a:ext cx="829373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runnable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after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invocation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start()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method,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but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scheduler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has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not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selected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5">
                <a:latin typeface="Verdana"/>
                <a:cs typeface="Verdana"/>
              </a:rPr>
              <a:t> be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running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241046"/>
            <a:ext cx="10852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3)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Running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3688595"/>
            <a:ext cx="49301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running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if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scheduler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has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selected</a:t>
            </a:r>
            <a:r>
              <a:rPr sz="1000" b="1" spc="-25">
                <a:latin typeface="Verdana"/>
                <a:cs typeface="Verdana"/>
              </a:rPr>
              <a:t> it.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2632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4)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Non-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(Blocked)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916945"/>
            <a:ext cx="57778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when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still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alive,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but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currently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not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eligible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0">
                <a:latin typeface="Verdana"/>
                <a:cs typeface="Verdana"/>
              </a:rPr>
              <a:t> run.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269497"/>
            <a:ext cx="13411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5)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Terminated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717045"/>
            <a:ext cx="4848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A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terminated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or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dead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when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run()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exits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75" y="584749"/>
            <a:ext cx="26181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How</a:t>
            </a:r>
            <a:r>
              <a:rPr spc="-45"/>
              <a:t> </a:t>
            </a:r>
            <a:r>
              <a:rPr/>
              <a:t>to</a:t>
            </a:r>
            <a:r>
              <a:rPr spc="-45"/>
              <a:t> </a:t>
            </a:r>
            <a:r>
              <a:rPr/>
              <a:t>create</a:t>
            </a:r>
            <a:r>
              <a:rPr spc="-45"/>
              <a:t> </a:t>
            </a:r>
            <a:r>
              <a:rPr spc="-1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910595"/>
            <a:ext cx="312991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There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are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two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ways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create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00">
              <a:latin typeface="Verdana"/>
              <a:cs typeface="Verdana"/>
            </a:endParaRPr>
          </a:p>
          <a:p>
            <a:pPr marL="469265" indent="-36449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By</a:t>
            </a:r>
            <a:r>
              <a:rPr sz="1000" b="1" spc="-4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extending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class</a:t>
            </a:r>
            <a:endParaRPr sz="1000">
              <a:latin typeface="Verdana"/>
              <a:cs typeface="Verdana"/>
            </a:endParaRPr>
          </a:p>
          <a:p>
            <a:pPr marL="469265" indent="-36449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By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implementing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Runnable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interface.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000000"/>
                </a:solidFill>
                <a:latin typeface="Verdana"/>
                <a:cs typeface="Verdana"/>
              </a:rPr>
              <a:t>Thread</a:t>
            </a:r>
            <a:r>
              <a:rPr sz="2000" b="1" spc="-11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000" b="1" spc="-10">
                <a:solidFill>
                  <a:srgbClr val="000000"/>
                </a:solidFill>
                <a:latin typeface="Verdana"/>
                <a:cs typeface="Verdana"/>
              </a:rPr>
              <a:t>class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7311"/>
            <a:ext cx="740029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Verdana"/>
                <a:cs typeface="Verdana"/>
              </a:rPr>
              <a:t>Thread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provide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constructors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methods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create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perform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operations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on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thread.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b="1">
                <a:latin typeface="Verdana"/>
                <a:cs typeface="Verdana"/>
              </a:rPr>
              <a:t>Thread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extends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Object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implements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Runnable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interface.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Commonly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used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Constructors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class: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646" y="2783720"/>
            <a:ext cx="2661920" cy="9779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75"/>
              </a:spcBef>
              <a:buFont typeface="Arial"/>
              <a:buChar char="●"/>
              <a:tabLst>
                <a:tab pos="317500"/>
              </a:tabLst>
            </a:pPr>
            <a:r>
              <a:rPr sz="1000" b="1" spc="-10">
                <a:latin typeface="Verdana"/>
                <a:cs typeface="Verdana"/>
              </a:rPr>
              <a:t>Thread()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Thread(String</a:t>
            </a:r>
            <a:r>
              <a:rPr sz="1000" b="1" spc="-6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name)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Thread(Runnable</a:t>
            </a:r>
            <a:r>
              <a:rPr sz="1000" b="1" spc="-7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r)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Thread(Runnable</a:t>
            </a:r>
            <a:r>
              <a:rPr sz="1000" b="1" spc="-6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r,String</a:t>
            </a:r>
            <a:r>
              <a:rPr sz="1000" b="1" spc="-5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name)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473699" y="4058799"/>
            <a:ext cx="5905500" cy="182880"/>
          </a:xfrm>
          <a:custGeom>
            <a:rect l="l" t="t" r="r" b="b"/>
            <a:pathLst>
              <a:path w="5905500" h="182879">
                <a:moveTo>
                  <a:pt x="5905202" y="182879"/>
                </a:moveTo>
                <a:lnTo>
                  <a:pt x="0" y="182879"/>
                </a:lnTo>
                <a:lnTo>
                  <a:pt x="0" y="0"/>
                </a:lnTo>
                <a:lnTo>
                  <a:pt x="5905202" y="0"/>
                </a:lnTo>
                <a:lnTo>
                  <a:pt x="5905202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Commonly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used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methods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999" y="1461904"/>
            <a:ext cx="8140065" cy="2786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run():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perform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action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6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start():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starts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execution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thread.JVM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calls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run()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method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93065" marR="5080" indent="-381000">
              <a:lnSpc>
                <a:spcPct val="156200"/>
              </a:lnSpc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sleep(long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miliseconds):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Causes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currently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executing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sleep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(temporarily </a:t>
            </a:r>
            <a:r>
              <a:rPr sz="1200">
                <a:latin typeface="Verdana"/>
                <a:cs typeface="Verdana"/>
              </a:rPr>
              <a:t>cease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execution)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number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milliseconds.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join():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waits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die.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join(long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miliseconds):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waits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die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miliseconds.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getPriority():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returns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priority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int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setPriority(int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priority):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changes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priority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getName():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returns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name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3930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setName(String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name):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changes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name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16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interface: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70134"/>
            <a:ext cx="8255634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Runnable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interface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should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implemented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any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class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whose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instances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are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intended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be </a:t>
            </a:r>
            <a:r>
              <a:rPr sz="1200" b="1">
                <a:latin typeface="Verdana"/>
                <a:cs typeface="Verdana"/>
              </a:rPr>
              <a:t>executed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b="1">
                <a:latin typeface="Verdana"/>
                <a:cs typeface="Verdana"/>
              </a:rPr>
              <a:t>Runnable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interface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have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only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one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method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named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run().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999" y="2735078"/>
            <a:ext cx="489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/>
              </a:tabLst>
            </a:pPr>
            <a:r>
              <a:rPr sz="1200" spc="-25">
                <a:latin typeface="Verdana"/>
                <a:cs typeface="Verdana"/>
              </a:rPr>
              <a:t>1.</a:t>
            </a:r>
            <a:r>
              <a:rPr sz="1200">
                <a:latin typeface="Verdana"/>
                <a:cs typeface="Verdana"/>
              </a:rPr>
              <a:t>	</a:t>
            </a: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run():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perform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action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Starting</a:t>
            </a:r>
            <a:r>
              <a:rPr sz="18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a</a:t>
            </a:r>
            <a:r>
              <a:rPr sz="18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610B4B"/>
                </a:solidFill>
                <a:latin typeface="Arial"/>
                <a:cs typeface="Arial"/>
              </a:rPr>
              <a:t>thread: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6296"/>
            <a:ext cx="6722109" cy="170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>
                <a:latin typeface="Verdana"/>
                <a:cs typeface="Verdana"/>
              </a:rPr>
              <a:t>start()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method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of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Thread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class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is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used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start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newly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created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thread.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>
                <a:latin typeface="Verdana"/>
                <a:cs typeface="Verdana"/>
              </a:rPr>
              <a:t>It</a:t>
            </a:r>
            <a:r>
              <a:rPr sz="1300" spc="-5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performs</a:t>
            </a:r>
            <a:r>
              <a:rPr sz="1300" spc="-5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following</a:t>
            </a:r>
            <a:r>
              <a:rPr sz="1300" spc="-5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tasks: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00">
              <a:latin typeface="Verdana"/>
              <a:cs typeface="Verdana"/>
            </a:endParaRPr>
          </a:p>
          <a:p>
            <a:pPr marL="469265" indent="-327660">
              <a:lnSpc>
                <a:spcPct val="100000"/>
              </a:lnSpc>
              <a:buFont typeface="Arial MT"/>
              <a:buChar char="●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A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new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thread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starts(with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new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callstack).</a:t>
            </a:r>
            <a:endParaRPr sz="1300">
              <a:latin typeface="Verdana"/>
              <a:cs typeface="Verdana"/>
            </a:endParaRPr>
          </a:p>
          <a:p>
            <a:pPr marL="469265" indent="-327660">
              <a:lnSpc>
                <a:spcPct val="100000"/>
              </a:lnSpc>
              <a:spcBef>
                <a:spcPts val="915"/>
              </a:spcBef>
              <a:buFont typeface="Arial MT"/>
              <a:buChar char="●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The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thread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moves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from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New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state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Runnable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state.</a:t>
            </a:r>
            <a:endParaRPr sz="1300">
              <a:latin typeface="Verdana"/>
              <a:cs typeface="Verdana"/>
            </a:endParaRPr>
          </a:p>
          <a:p>
            <a:pPr marL="469265" indent="-327660">
              <a:lnSpc>
                <a:spcPct val="100000"/>
              </a:lnSpc>
              <a:spcBef>
                <a:spcPts val="915"/>
              </a:spcBef>
              <a:buFont typeface="Arial MT"/>
              <a:buChar char="●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When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the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thread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gets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chance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execute,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its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target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run()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method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will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 spc="-25">
                <a:latin typeface="Verdana"/>
                <a:cs typeface="Verdana"/>
              </a:rPr>
              <a:t>run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extending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5920"/>
            <a:ext cx="306260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b="1" spc="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000" b="1" spc="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running..."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 marR="1497965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Multi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Multi(); t1.start();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4435355"/>
            <a:ext cx="116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5124" y="4371855"/>
            <a:ext cx="7131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>
                <a:latin typeface="Arial"/>
                <a:cs typeface="Arial"/>
              </a:rPr>
              <a:t>Output: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1006" y="4371855"/>
            <a:ext cx="16846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latin typeface="Arial"/>
                <a:cs typeface="Arial"/>
              </a:rPr>
              <a:t>thread</a:t>
            </a:r>
            <a:r>
              <a:rPr sz="1500" b="1" spc="-4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is</a:t>
            </a:r>
            <a:r>
              <a:rPr sz="1500" b="1" spc="-45">
                <a:latin typeface="Arial"/>
                <a:cs typeface="Arial"/>
              </a:rPr>
              <a:t> </a:t>
            </a:r>
            <a:r>
              <a:rPr sz="1500" b="1" spc="-10">
                <a:latin typeface="Arial"/>
                <a:cs typeface="Arial"/>
              </a:rPr>
              <a:t>running..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7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implementing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interface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39269"/>
            <a:ext cx="3062605" cy="321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Multi</a:t>
            </a:r>
            <a:r>
              <a:rPr sz="1000" b="1" spc="295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Runnable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b="1" spc="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000" b="1" spc="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running..."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 marR="94488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Multi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Multi();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t1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Thread(m1); t1.start();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4514930"/>
            <a:ext cx="116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5124" y="4451430"/>
            <a:ext cx="25304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latin typeface="Arial"/>
                <a:cs typeface="Arial"/>
              </a:rPr>
              <a:t>Output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:</a:t>
            </a:r>
            <a:r>
              <a:rPr sz="1500" b="1" spc="-2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thread</a:t>
            </a:r>
            <a:r>
              <a:rPr sz="1500" b="1" spc="-2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is</a:t>
            </a:r>
            <a:r>
              <a:rPr sz="1500" b="1" spc="-25">
                <a:latin typeface="Arial"/>
                <a:cs typeface="Arial"/>
              </a:rPr>
              <a:t> </a:t>
            </a:r>
            <a:r>
              <a:rPr sz="1500" b="1" spc="-10">
                <a:latin typeface="Arial"/>
                <a:cs typeface="Arial"/>
              </a:rPr>
              <a:t>running...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Sleep</a:t>
            </a:r>
            <a:r>
              <a:rPr spc="-55"/>
              <a:t> </a:t>
            </a:r>
            <a:r>
              <a:rPr/>
              <a:t>method</a:t>
            </a:r>
            <a:r>
              <a:rPr spc="-50"/>
              <a:t> </a:t>
            </a:r>
            <a:r>
              <a:rPr/>
              <a:t>in</a:t>
            </a:r>
            <a:r>
              <a:rPr spc="-55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6729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sleep()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class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for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amount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time.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824997"/>
            <a:ext cx="3128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Syntax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sleep()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r>
              <a:rPr sz="16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in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269370"/>
            <a:ext cx="627507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class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provides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two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methods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for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static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void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sleep(long</a:t>
            </a:r>
            <a:r>
              <a:rPr sz="1000" b="1" spc="-10">
                <a:latin typeface="Verdana"/>
                <a:cs typeface="Verdana"/>
              </a:rPr>
              <a:t> miliseconds)throws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InterruptedException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"/>
              <a:buChar char="●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static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void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sleep(long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miliseconds,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int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nanos)throws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InterruptedException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433294"/>
            <a:ext cx="2887345" cy="417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TestSleepMethod1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1000" b="1">
                <a:latin typeface="Verdana"/>
                <a:cs typeface="Verdana"/>
              </a:rPr>
              <a:t>(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i=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1</a:t>
            </a:r>
            <a:r>
              <a:rPr sz="1000" b="1" spc="-10">
                <a:latin typeface="Verdana"/>
                <a:cs typeface="Verdana"/>
              </a:rPr>
              <a:t>;i&lt;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00" b="1" spc="-10">
                <a:latin typeface="Verdana"/>
                <a:cs typeface="Verdana"/>
              </a:rPr>
              <a:t>;i++)</a:t>
            </a:r>
            <a:endParaRPr sz="1000">
              <a:latin typeface="Verdana"/>
              <a:cs typeface="Verdana"/>
            </a:endParaRPr>
          </a:p>
          <a:p>
            <a:pPr marL="14224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86055">
              <a:lnSpc>
                <a:spcPct val="100000"/>
              </a:lnSpc>
              <a:spcBef>
                <a:spcPts val="900"/>
              </a:spcBef>
            </a:pP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000" b="1" spc="-2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401955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Thread.sleep(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401955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229235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00" b="1" spc="-10">
                <a:latin typeface="Verdana"/>
                <a:cs typeface="Verdana"/>
              </a:rPr>
              <a:t>(InterruptedException</a:t>
            </a:r>
            <a:r>
              <a:rPr sz="1000" b="1" spc="12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e)</a:t>
            </a:r>
            <a:endParaRPr sz="1000">
              <a:latin typeface="Verdana"/>
              <a:cs typeface="Verdana"/>
            </a:endParaRPr>
          </a:p>
          <a:p>
            <a:pPr marL="48895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618490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System.out.println(e);</a:t>
            </a:r>
            <a:endParaRPr sz="1000">
              <a:latin typeface="Verdana"/>
              <a:cs typeface="Verdana"/>
            </a:endParaRPr>
          </a:p>
          <a:p>
            <a:pPr marL="53213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85420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System.out.println(i);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412120"/>
            <a:ext cx="357314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99060" marR="5080" algn="just">
              <a:lnSpc>
                <a:spcPct val="175000"/>
              </a:lnSpc>
            </a:pPr>
            <a:r>
              <a:rPr sz="1000" b="1">
                <a:latin typeface="Verdana"/>
                <a:cs typeface="Verdana"/>
              </a:rPr>
              <a:t>TestSleepMethod1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TestSleepMethod1(); </a:t>
            </a:r>
            <a:r>
              <a:rPr sz="1000" b="1">
                <a:latin typeface="Verdana"/>
                <a:cs typeface="Verdana"/>
              </a:rPr>
              <a:t>TestSleepMethod1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t2=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TestSleepMethod1(); t1.start();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t2.start();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Output</a:t>
            </a:r>
            <a:r>
              <a:rPr sz="3000" spc="-16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50">
                <a:solidFill>
                  <a:srgbClr val="2A3890"/>
                </a:solidFill>
                <a:latin typeface="Roboto"/>
                <a:cs typeface="Roboto"/>
              </a:rPr>
              <a:t>: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978" y="1297820"/>
            <a:ext cx="965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978" y="205982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978" y="2440820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041" y="2821820"/>
            <a:ext cx="10033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b="1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b="1" spc="-5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spc="-5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5721" y="1855795"/>
            <a:ext cx="392620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543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As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you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know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well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that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at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time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only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one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is </a:t>
            </a:r>
            <a:r>
              <a:rPr sz="1000" b="1" spc="-10">
                <a:latin typeface="Verdana"/>
                <a:cs typeface="Verdana"/>
              </a:rPr>
              <a:t>executed.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5721" y="2312995"/>
            <a:ext cx="39287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If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you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sleep</a:t>
            </a:r>
            <a:r>
              <a:rPr sz="1000" b="1" spc="2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for</a:t>
            </a:r>
            <a:r>
              <a:rPr sz="1000" b="1" spc="2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229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time,the 	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1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scheduler</a:t>
            </a:r>
            <a:r>
              <a:rPr sz="1000" b="1" spc="114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picks</a:t>
            </a:r>
            <a:r>
              <a:rPr sz="1000" b="1" spc="114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up</a:t>
            </a:r>
            <a:r>
              <a:rPr sz="1000" b="1" spc="1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</a:t>
            </a:r>
            <a:r>
              <a:rPr sz="1000" b="1" spc="1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1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120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so 	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Naming</a:t>
            </a:r>
            <a:r>
              <a:rPr spc="-130"/>
              <a:t> </a:t>
            </a:r>
            <a:r>
              <a:rPr/>
              <a:t>Thread</a:t>
            </a:r>
            <a:r>
              <a:rPr spc="-95"/>
              <a:t> </a:t>
            </a:r>
            <a:r>
              <a:rPr/>
              <a:t>and</a:t>
            </a:r>
            <a:r>
              <a:rPr spc="-95"/>
              <a:t> </a:t>
            </a:r>
            <a:r>
              <a:rPr/>
              <a:t>Current</a:t>
            </a:r>
            <a:r>
              <a:rPr spc="-130"/>
              <a:t> </a:t>
            </a:r>
            <a:r>
              <a:rPr spc="-1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521848"/>
            <a:ext cx="17792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Naming</a:t>
            </a:r>
            <a:r>
              <a:rPr sz="1900" b="1" spc="-10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spc="-10">
                <a:solidFill>
                  <a:srgbClr val="610B37"/>
                </a:solidFill>
                <a:latin typeface="Arial"/>
                <a:cs typeface="Arial"/>
              </a:rPr>
              <a:t>Thread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646" y="2012195"/>
            <a:ext cx="78854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5435">
              <a:lnSpc>
                <a:spcPct val="112500"/>
              </a:lnSpc>
              <a:spcBef>
                <a:spcPts val="100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class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provides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change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get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name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thread.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default,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each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has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50">
                <a:latin typeface="Verdana"/>
                <a:cs typeface="Verdana"/>
              </a:rPr>
              <a:t>a </a:t>
            </a:r>
            <a:r>
              <a:rPr sz="1000" b="1">
                <a:latin typeface="Verdana"/>
                <a:cs typeface="Verdana"/>
              </a:rPr>
              <a:t>name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i.e. </a:t>
            </a:r>
            <a:r>
              <a:rPr sz="1000" b="1" spc="-10">
                <a:latin typeface="Verdana"/>
                <a:cs typeface="Verdana"/>
              </a:rPr>
              <a:t>thread-</a:t>
            </a:r>
            <a:r>
              <a:rPr sz="1000" b="1">
                <a:latin typeface="Verdana"/>
                <a:cs typeface="Verdana"/>
              </a:rPr>
              <a:t>0, </a:t>
            </a:r>
            <a:r>
              <a:rPr sz="1000" b="1" spc="-10">
                <a:latin typeface="Verdana"/>
                <a:cs typeface="Verdana"/>
              </a:rPr>
              <a:t>thread-</a:t>
            </a:r>
            <a:r>
              <a:rPr sz="1000" b="1">
                <a:latin typeface="Verdana"/>
                <a:cs typeface="Verdana"/>
              </a:rPr>
              <a:t>1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 so </a:t>
            </a:r>
            <a:r>
              <a:rPr sz="1000" b="1" spc="-25">
                <a:latin typeface="Verdana"/>
                <a:cs typeface="Verdana"/>
              </a:rPr>
              <a:t>on.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150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By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can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change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name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setName()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method.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150"/>
              </a:spcBef>
              <a:buFont typeface="Arial"/>
              <a:buChar char="●"/>
              <a:tabLst>
                <a:tab pos="317500"/>
              </a:tabLst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syntax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setName()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getName()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are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given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below: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436" y="3107570"/>
            <a:ext cx="5847080" cy="5016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775"/>
              </a:spcBef>
              <a:buFont typeface="Verdana"/>
              <a:buAutoNum type="arabicPeriod"/>
              <a:tabLst>
                <a:tab pos="367665"/>
                <a:tab pos="2971165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getName():</a:t>
            </a:r>
            <a:r>
              <a:rPr sz="1000" b="1">
                <a:latin typeface="Verdana"/>
                <a:cs typeface="Verdana"/>
              </a:rPr>
              <a:t>	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used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return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name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thread.</a:t>
            </a:r>
            <a:endParaRPr sz="1000">
              <a:latin typeface="Verdana"/>
              <a:cs typeface="Verdana"/>
            </a:endParaRPr>
          </a:p>
          <a:p>
            <a:pPr marL="367665" indent="-354965">
              <a:lnSpc>
                <a:spcPct val="100000"/>
              </a:lnSpc>
              <a:spcBef>
                <a:spcPts val="675"/>
              </a:spcBef>
              <a:buFont typeface="Verdana"/>
              <a:buAutoNum type="arabicPeriod"/>
              <a:tabLst>
                <a:tab pos="367665"/>
                <a:tab pos="3003550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void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setName(String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name):</a:t>
            </a:r>
            <a:r>
              <a:rPr sz="1000" b="1">
                <a:latin typeface="Verdana"/>
                <a:cs typeface="Verdana"/>
              </a:rPr>
              <a:t>	is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used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change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name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70469"/>
            <a:ext cx="4780280" cy="432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TestMultiNaming1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Thread{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"running..."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99060" marR="1083945" indent="-43815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args[]){ </a:t>
            </a:r>
            <a:r>
              <a:rPr sz="1000" b="1">
                <a:latin typeface="Verdana"/>
                <a:cs typeface="Verdana"/>
              </a:rPr>
              <a:t>TestMultiNaming1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TestMultiNaming1(); </a:t>
            </a:r>
            <a:r>
              <a:rPr sz="1000" b="1">
                <a:latin typeface="Verdana"/>
                <a:cs typeface="Verdana"/>
              </a:rPr>
              <a:t>TestMultiNaming1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t2=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TestMultiNaming1(); 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"Name</a:t>
            </a:r>
            <a:r>
              <a:rPr sz="1000" b="1" spc="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000" b="1" spc="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t1:"</a:t>
            </a:r>
            <a:r>
              <a:rPr sz="1000" b="1" spc="-10">
                <a:latin typeface="Verdana"/>
                <a:cs typeface="Verdana"/>
              </a:rPr>
              <a:t>+t1.getName()); 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"Name</a:t>
            </a:r>
            <a:r>
              <a:rPr sz="1000" b="1" spc="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000" b="1" spc="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t2:"</a:t>
            </a:r>
            <a:r>
              <a:rPr sz="1000" b="1" spc="-10">
                <a:latin typeface="Verdana"/>
                <a:cs typeface="Verdana"/>
              </a:rPr>
              <a:t>+t2.getName()); t1.start();</a:t>
            </a:r>
            <a:endParaRPr sz="1000">
              <a:latin typeface="Verdana"/>
              <a:cs typeface="Verdana"/>
            </a:endParaRPr>
          </a:p>
          <a:p>
            <a:pPr marL="99060" marR="2499995">
              <a:lnSpc>
                <a:spcPct val="181300"/>
              </a:lnSpc>
            </a:pPr>
            <a:r>
              <a:rPr sz="1000" b="1" spc="-10">
                <a:latin typeface="Verdana"/>
                <a:cs typeface="Verdana"/>
              </a:rPr>
              <a:t>t2.start();</a:t>
            </a:r>
            <a:r>
              <a:rPr sz="1000" b="1" spc="500">
                <a:latin typeface="Verdana"/>
                <a:cs typeface="Verdana"/>
              </a:rPr>
              <a:t>  </a:t>
            </a:r>
            <a:r>
              <a:rPr sz="1000" b="1" spc="-10">
                <a:latin typeface="Verdana"/>
                <a:cs typeface="Verdana"/>
              </a:rPr>
              <a:t>t1.setName(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"Sonoo</a:t>
            </a:r>
            <a:r>
              <a:rPr sz="1000" b="1" spc="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Jaiswal"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69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"After</a:t>
            </a:r>
            <a:r>
              <a:rPr sz="1000" b="1" spc="1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changing</a:t>
            </a:r>
            <a:r>
              <a:rPr sz="1000" b="1" spc="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name</a:t>
            </a:r>
            <a:r>
              <a:rPr sz="1000" b="1" spc="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000" b="1" spc="1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t1:"</a:t>
            </a:r>
            <a:r>
              <a:rPr sz="1000" b="1" spc="-10">
                <a:latin typeface="Verdana"/>
                <a:cs typeface="Verdana"/>
              </a:rPr>
              <a:t>+t1.getName());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294264"/>
            <a:ext cx="8051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>
                <a:solidFill>
                  <a:srgbClr val="000000"/>
                </a:solidFill>
                <a:latin typeface="Arial"/>
                <a:cs typeface="Arial"/>
              </a:rPr>
              <a:t>Output: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6279" y="1802645"/>
            <a:ext cx="261937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Arial"/>
                <a:cs typeface="Arial"/>
              </a:rPr>
              <a:t>Name</a:t>
            </a:r>
            <a:r>
              <a:rPr sz="1000" b="1" spc="5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of</a:t>
            </a:r>
            <a:r>
              <a:rPr sz="1000" b="1" spc="10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t1:Thread-</a:t>
            </a:r>
            <a:r>
              <a:rPr sz="1000" b="1" spc="-5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17145" marR="1365885">
              <a:lnSpc>
                <a:spcPct val="250000"/>
              </a:lnSpc>
            </a:pPr>
            <a:r>
              <a:rPr sz="1000" b="1">
                <a:latin typeface="Arial"/>
                <a:cs typeface="Arial"/>
              </a:rPr>
              <a:t>Name</a:t>
            </a:r>
            <a:r>
              <a:rPr sz="1000" b="1" spc="5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of</a:t>
            </a:r>
            <a:r>
              <a:rPr sz="1000" b="1" spc="10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t2:Thread-</a:t>
            </a:r>
            <a:r>
              <a:rPr sz="1000" b="1" spc="-50">
                <a:latin typeface="Arial"/>
                <a:cs typeface="Arial"/>
              </a:rPr>
              <a:t>1 </a:t>
            </a:r>
            <a:r>
              <a:rPr sz="1000" b="1">
                <a:latin typeface="Arial"/>
                <a:cs typeface="Arial"/>
              </a:rPr>
              <a:t>id</a:t>
            </a:r>
            <a:r>
              <a:rPr sz="1000" b="1" spc="-15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of</a:t>
            </a:r>
            <a:r>
              <a:rPr sz="1000" b="1" spc="-10">
                <a:latin typeface="Arial"/>
                <a:cs typeface="Arial"/>
              </a:rPr>
              <a:t> </a:t>
            </a:r>
            <a:r>
              <a:rPr sz="1000" b="1" spc="-20">
                <a:latin typeface="Arial"/>
                <a:cs typeface="Arial"/>
              </a:rPr>
              <a:t>t1:8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</a:pPr>
            <a:r>
              <a:rPr sz="1000" b="1" spc="-10">
                <a:latin typeface="Arial"/>
                <a:cs typeface="Arial"/>
              </a:rPr>
              <a:t>running...</a:t>
            </a:r>
            <a:endParaRPr sz="1000">
              <a:latin typeface="Arial"/>
              <a:cs typeface="Arial"/>
            </a:endParaRPr>
          </a:p>
          <a:p>
            <a:pPr marL="17145" marR="5080" indent="-5080">
              <a:lnSpc>
                <a:spcPct val="250000"/>
              </a:lnSpc>
            </a:pPr>
            <a:r>
              <a:rPr sz="1000" b="1">
                <a:latin typeface="Arial"/>
                <a:cs typeface="Arial"/>
              </a:rPr>
              <a:t>After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changeling</a:t>
            </a:r>
            <a:r>
              <a:rPr sz="1000" b="1" spc="-25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name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of</a:t>
            </a:r>
            <a:r>
              <a:rPr sz="1000" b="1" spc="-25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t1:Sonoo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Jaiswal running...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Priority</a:t>
            </a:r>
            <a:r>
              <a:rPr spc="-70"/>
              <a:t> </a:t>
            </a:r>
            <a:r>
              <a:rPr/>
              <a:t>of</a:t>
            </a:r>
            <a:r>
              <a:rPr spc="-65"/>
              <a:t> </a:t>
            </a:r>
            <a:r>
              <a:rPr/>
              <a:t>a</a:t>
            </a:r>
            <a:r>
              <a:rPr spc="-105"/>
              <a:t> </a:t>
            </a:r>
            <a:r>
              <a:rPr/>
              <a:t>Thread</a:t>
            </a:r>
            <a:r>
              <a:rPr spc="-65"/>
              <a:t> </a:t>
            </a:r>
            <a:r>
              <a:rPr/>
              <a:t>(Thread</a:t>
            </a:r>
            <a:r>
              <a:rPr spc="-70"/>
              <a:t> </a:t>
            </a:r>
            <a:r>
              <a:rPr spc="-10"/>
              <a:t>Priority):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646" y="1221620"/>
            <a:ext cx="7795895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00"/>
              </a:spcBef>
              <a:buFont typeface="Arial MT"/>
              <a:buChar char="●"/>
              <a:tabLst>
                <a:tab pos="317500"/>
              </a:tabLst>
            </a:pPr>
            <a:r>
              <a:rPr sz="1000">
                <a:latin typeface="Verdana"/>
                <a:cs typeface="Verdana"/>
              </a:rPr>
              <a:t>Each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have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priority.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17500"/>
              </a:tabLst>
            </a:pPr>
            <a:r>
              <a:rPr sz="1000" spc="-10">
                <a:latin typeface="Verdana"/>
                <a:cs typeface="Verdana"/>
              </a:rPr>
              <a:t>Priorities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represented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number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between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1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10.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17500"/>
              </a:tabLst>
            </a:pPr>
            <a:r>
              <a:rPr sz="1000">
                <a:latin typeface="Verdana"/>
                <a:cs typeface="Verdana"/>
              </a:rPr>
              <a:t>In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most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cases,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schedular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schedules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according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their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priority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(known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preemptive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scheduling).</a:t>
            </a:r>
            <a:endParaRPr sz="10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17500"/>
              </a:tabLst>
            </a:pPr>
            <a:r>
              <a:rPr sz="1000">
                <a:latin typeface="Verdana"/>
                <a:cs typeface="Verdana"/>
              </a:rPr>
              <a:t>But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not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guaranteed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because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depends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JVM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specification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which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scheduling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chooses.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433072"/>
            <a:ext cx="388175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3</a:t>
            </a:r>
            <a:r>
              <a:rPr sz="1900" spc="-6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constants</a:t>
            </a:r>
            <a:r>
              <a:rPr sz="1900" spc="-6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defined</a:t>
            </a:r>
            <a:r>
              <a:rPr sz="1900" spc="-6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in</a:t>
            </a:r>
            <a:r>
              <a:rPr sz="1900" spc="-9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Thread</a:t>
            </a:r>
            <a:r>
              <a:rPr sz="1900" spc="-6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 spc="-10">
                <a:solidFill>
                  <a:srgbClr val="610B37"/>
                </a:solidFill>
                <a:latin typeface="Arial MT"/>
                <a:cs typeface="Arial MT"/>
              </a:rPr>
              <a:t>class: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436" y="2898020"/>
            <a:ext cx="4938395" cy="15398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367665"/>
              </a:tabLst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static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int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MIN_PRIORITY</a:t>
            </a:r>
            <a:endParaRPr sz="1000">
              <a:latin typeface="Verdana"/>
              <a:cs typeface="Verdana"/>
            </a:endParaRPr>
          </a:p>
          <a:p>
            <a:pPr marL="3676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67665"/>
              </a:tabLst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static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int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NORM_PRIORITY</a:t>
            </a:r>
            <a:endParaRPr sz="1000">
              <a:latin typeface="Verdana"/>
              <a:cs typeface="Verdana"/>
            </a:endParaRPr>
          </a:p>
          <a:p>
            <a:pPr marL="3676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67665"/>
              </a:tabLst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static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int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MAX_PRIORITY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00">
              <a:latin typeface="Verdana"/>
              <a:cs typeface="Verdana"/>
            </a:endParaRPr>
          </a:p>
          <a:p>
            <a:pPr marL="367665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Default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priority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5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(NORM_PRIORITY).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000">
              <a:latin typeface="Verdana"/>
              <a:cs typeface="Verdana"/>
            </a:endParaRPr>
          </a:p>
          <a:p>
            <a:pPr marL="367665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The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value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MIN_PRIORITY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1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value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MAX_PRIORITY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10.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35675" y="144831"/>
            <a:ext cx="5733415" cy="432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4605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6050" marR="5080">
              <a:lnSpc>
                <a:spcPct val="181300"/>
              </a:lnSpc>
            </a:pP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name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is:"</a:t>
            </a:r>
            <a:r>
              <a:rPr sz="1000" spc="-10">
                <a:latin typeface="Verdana"/>
                <a:cs typeface="Verdana"/>
              </a:rPr>
              <a:t>+Thread.currentThread().getName()); 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priority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is:"</a:t>
            </a:r>
            <a:r>
              <a:rPr sz="1000" spc="-10">
                <a:latin typeface="Verdana"/>
                <a:cs typeface="Verdana"/>
              </a:rPr>
              <a:t>+Thread.currentThread().getPriority());</a:t>
            </a:r>
            <a:endParaRPr sz="10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main(String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01600" marR="2524760">
              <a:lnSpc>
                <a:spcPct val="181300"/>
              </a:lnSpc>
            </a:pPr>
            <a:r>
              <a:rPr sz="1000" spc="-10">
                <a:latin typeface="Verdana"/>
                <a:cs typeface="Verdana"/>
              </a:rPr>
              <a:t>TestMultiPriority1 </a:t>
            </a:r>
            <a:r>
              <a:rPr sz="1000">
                <a:latin typeface="Verdana"/>
                <a:cs typeface="Verdana"/>
              </a:rPr>
              <a:t>m1=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TestMultiPriority1(); TestMultiPriority1 </a:t>
            </a:r>
            <a:r>
              <a:rPr sz="1000">
                <a:latin typeface="Verdana"/>
                <a:cs typeface="Verdana"/>
              </a:rPr>
              <a:t>m2=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TestMultiPriority1(); m1.setPriority(Thread.MIN_PRIORITY); m2.setPriority(Thread.MAX_PRIORITY); m1.start();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69"/>
              </a:spcBef>
            </a:pPr>
            <a:r>
              <a:rPr sz="1000" spc="-10">
                <a:latin typeface="Verdana"/>
                <a:cs typeface="Verdana"/>
              </a:rPr>
              <a:t>m2.start();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solidFill>
                  <a:srgbClr val="000000"/>
                </a:solidFill>
                <a:latin typeface="Arial"/>
                <a:cs typeface="Arial"/>
              </a:rPr>
              <a:t>Output: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8013" y="969179"/>
            <a:ext cx="2286635" cy="143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Arial MT"/>
                <a:cs typeface="Arial MT"/>
              </a:rPr>
              <a:t>running</a:t>
            </a:r>
            <a:r>
              <a:rPr sz="1200" spc="-1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thread</a:t>
            </a:r>
            <a:r>
              <a:rPr sz="1200" spc="-10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name</a:t>
            </a:r>
            <a:r>
              <a:rPr sz="1200" spc="-10">
                <a:latin typeface="Arial MT"/>
                <a:cs typeface="Arial MT"/>
              </a:rPr>
              <a:t> is:Thread-</a:t>
            </a:r>
            <a:r>
              <a:rPr sz="1200" spc="-5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  <a:p>
            <a:pPr marL="54610" marR="5080">
              <a:lnSpc>
                <a:spcPct val="224000"/>
              </a:lnSpc>
            </a:pPr>
            <a:r>
              <a:rPr sz="1200">
                <a:latin typeface="Arial MT"/>
                <a:cs typeface="Arial MT"/>
              </a:rPr>
              <a:t>running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thread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priority</a:t>
            </a:r>
            <a:r>
              <a:rPr sz="1200" spc="-20">
                <a:latin typeface="Arial MT"/>
                <a:cs typeface="Arial MT"/>
              </a:rPr>
              <a:t> </a:t>
            </a:r>
            <a:r>
              <a:rPr sz="1200" spc="-10">
                <a:latin typeface="Arial MT"/>
                <a:cs typeface="Arial MT"/>
              </a:rPr>
              <a:t>is:10 </a:t>
            </a:r>
            <a:r>
              <a:rPr sz="1200">
                <a:latin typeface="Arial MT"/>
                <a:cs typeface="Arial MT"/>
              </a:rPr>
              <a:t>running</a:t>
            </a:r>
            <a:r>
              <a:rPr sz="1200" spc="-1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thread</a:t>
            </a:r>
            <a:r>
              <a:rPr sz="1200" spc="-10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name</a:t>
            </a:r>
            <a:r>
              <a:rPr sz="1200" spc="-10">
                <a:latin typeface="Arial MT"/>
                <a:cs typeface="Arial MT"/>
              </a:rPr>
              <a:t> is:Thread-</a:t>
            </a:r>
            <a:r>
              <a:rPr sz="1200" spc="-50">
                <a:latin typeface="Arial MT"/>
                <a:cs typeface="Arial MT"/>
              </a:rPr>
              <a:t>1 </a:t>
            </a:r>
            <a:r>
              <a:rPr sz="1200">
                <a:latin typeface="Arial MT"/>
                <a:cs typeface="Arial MT"/>
              </a:rPr>
              <a:t>running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thread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priority</a:t>
            </a:r>
            <a:r>
              <a:rPr sz="1200" spc="-20">
                <a:latin typeface="Arial MT"/>
                <a:cs typeface="Arial MT"/>
              </a:rPr>
              <a:t> is:1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Daemon</a:t>
            </a:r>
            <a:r>
              <a:rPr spc="-100"/>
              <a:t> </a:t>
            </a:r>
            <a:r>
              <a:rPr/>
              <a:t>Thread</a:t>
            </a:r>
            <a:r>
              <a:rPr spc="-60"/>
              <a:t> </a:t>
            </a:r>
            <a:r>
              <a:rPr/>
              <a:t>in</a:t>
            </a:r>
            <a:r>
              <a:rPr spc="-65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274" y="1333634"/>
            <a:ext cx="8082280" cy="28098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0"/>
              </a:spcBef>
              <a:buFont typeface="Arial MT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Daemon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thread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java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service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that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services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  <a:p>
            <a:pPr marL="332740" marR="76835" indent="-320675">
              <a:lnSpc>
                <a:spcPts val="2170"/>
              </a:lnSpc>
              <a:spcBef>
                <a:spcPts val="170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Its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depend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mercy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i.e.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when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all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dies,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JVM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terminates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this </a:t>
            </a:r>
            <a:r>
              <a:rPr sz="1200">
                <a:latin typeface="Verdana"/>
                <a:cs typeface="Verdana"/>
              </a:rPr>
              <a:t>thread</a:t>
            </a:r>
            <a:r>
              <a:rPr sz="1200" spc="-7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automatically.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550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There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are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many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daemon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running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automatically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e.g.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gc,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finalizer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etc.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You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see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all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detail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by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typing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jconsole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command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prompt.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jconsole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tool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information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about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loaded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classes,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memory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usage,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running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etc</a:t>
            </a:r>
            <a:endParaRPr sz="1200">
              <a:latin typeface="Verdana"/>
              <a:cs typeface="Verdana"/>
            </a:endParaRPr>
          </a:p>
          <a:p>
            <a:pPr marL="332740" marR="272415" indent="-320675">
              <a:lnSpc>
                <a:spcPts val="2250"/>
              </a:lnSpc>
              <a:spcBef>
                <a:spcPts val="135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It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services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threads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background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supporting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tasks.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has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no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role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than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to </a:t>
            </a:r>
            <a:r>
              <a:rPr sz="1200">
                <a:latin typeface="Verdana"/>
                <a:cs typeface="Verdana"/>
              </a:rPr>
              <a:t>serve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threads.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Its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depends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threads.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810"/>
              </a:spcBef>
              <a:buFont typeface="Arial MT"/>
              <a:buChar char="●"/>
              <a:tabLst>
                <a:tab pos="332740"/>
              </a:tabLst>
            </a:pPr>
            <a:r>
              <a:rPr sz="1200">
                <a:latin typeface="Verdana"/>
                <a:cs typeface="Verdana"/>
              </a:rPr>
              <a:t>It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low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priority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thread.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297820"/>
            <a:ext cx="47898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java.lang.Thread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class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provides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two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methods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daemon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thread.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968" y="2212220"/>
            <a:ext cx="163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latin typeface="Verdana"/>
                <a:cs typeface="Verdana"/>
              </a:rPr>
              <a:t>2)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968" y="1678820"/>
            <a:ext cx="524002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095"/>
              </a:tabLst>
            </a:pPr>
            <a:r>
              <a:rPr sz="1000" spc="-25">
                <a:latin typeface="Verdana"/>
                <a:cs typeface="Verdana"/>
              </a:rPr>
              <a:t>1)</a:t>
            </a:r>
            <a:r>
              <a:rPr sz="1000">
                <a:latin typeface="Verdana"/>
                <a:cs typeface="Verdana"/>
              </a:rPr>
              <a:t>	public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void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setDaemon(boolean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status)</a:t>
            </a:r>
            <a:endParaRPr sz="1000">
              <a:latin typeface="Verdana"/>
              <a:cs typeface="Verdana"/>
            </a:endParaRPr>
          </a:p>
          <a:p>
            <a:pPr marL="468630" marR="5080" indent="490855">
              <a:lnSpc>
                <a:spcPct val="175000"/>
              </a:lnSpc>
            </a:pPr>
            <a:r>
              <a:rPr sz="1000">
                <a:latin typeface="Verdana"/>
                <a:cs typeface="Verdana"/>
              </a:rPr>
              <a:t>used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mark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current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daemon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user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thread. </a:t>
            </a:r>
            <a:r>
              <a:rPr sz="1000">
                <a:latin typeface="Verdana"/>
                <a:cs typeface="Verdana"/>
              </a:rPr>
              <a:t>public</a:t>
            </a:r>
            <a:r>
              <a:rPr sz="1000" spc="-7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boolean</a:t>
            </a:r>
            <a:r>
              <a:rPr sz="1000" spc="-6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isDaemon()</a:t>
            </a:r>
            <a:endParaRPr sz="1000">
              <a:latin typeface="Verdana"/>
              <a:cs typeface="Verdana"/>
            </a:endParaRPr>
          </a:p>
          <a:p>
            <a:pPr marL="915035">
              <a:lnSpc>
                <a:spcPct val="100000"/>
              </a:lnSpc>
              <a:spcBef>
                <a:spcPts val="900"/>
              </a:spcBef>
            </a:pPr>
            <a:r>
              <a:rPr sz="1000">
                <a:latin typeface="Verdana"/>
                <a:cs typeface="Verdana"/>
              </a:rPr>
              <a:t>used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check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current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daemon.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51894"/>
            <a:ext cx="3321685" cy="376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TestDaemonThread1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Thread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00" spc="-10">
                <a:latin typeface="Verdana"/>
                <a:cs typeface="Verdana"/>
              </a:rPr>
              <a:t>(Thread.currentThread().isDaemon())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6050" marR="360045" indent="44450">
              <a:lnSpc>
                <a:spcPct val="181300"/>
              </a:lnSpc>
            </a:pP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//checking</a:t>
            </a:r>
            <a:r>
              <a:rPr sz="1000" spc="-5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for</a:t>
            </a:r>
            <a:r>
              <a:rPr sz="1000" spc="-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daemon</a:t>
            </a:r>
            <a:r>
              <a:rPr sz="1000" spc="-5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thread </a:t>
            </a: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"daemon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work"</a:t>
            </a:r>
            <a:r>
              <a:rPr sz="1000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Else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"user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work"</a:t>
            </a:r>
            <a:r>
              <a:rPr sz="1000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29356" y="529220"/>
            <a:ext cx="460819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main(String[]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args)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7150" marR="5080">
              <a:lnSpc>
                <a:spcPct val="181300"/>
              </a:lnSpc>
            </a:pPr>
            <a:r>
              <a:rPr sz="1000" spc="-10">
                <a:latin typeface="Verdana"/>
                <a:cs typeface="Verdana"/>
              </a:rPr>
              <a:t>TestDaemonThread1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t1=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000" spc="-10">
                <a:latin typeface="Verdana"/>
                <a:cs typeface="Verdana"/>
              </a:rPr>
              <a:t>TestDaemonThread1();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//creating thread </a:t>
            </a:r>
            <a:r>
              <a:rPr sz="1000" spc="-10">
                <a:latin typeface="Verdana"/>
                <a:cs typeface="Verdana"/>
              </a:rPr>
              <a:t>TestDaemonThread1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t2=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TestDaemonThread1(); TestDaemonThread1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t3=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TestDaemonThread1();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3879" y="2186570"/>
            <a:ext cx="3107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t1.setDaemon(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000" spc="-10">
                <a:latin typeface="Verdana"/>
                <a:cs typeface="Verdana"/>
              </a:rPr>
              <a:t>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//now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t1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is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daemon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thread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39020"/>
            <a:ext cx="189357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t1.start();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//starting</a:t>
            </a:r>
            <a:r>
              <a:rPr sz="1000" spc="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threads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t2.start();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t3.start();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Output</a:t>
            </a:r>
            <a:r>
              <a:rPr sz="3000" spc="-16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50">
                <a:solidFill>
                  <a:srgbClr val="2A3890"/>
                </a:solidFill>
                <a:latin typeface="Roboto"/>
                <a:cs typeface="Roboto"/>
              </a:rPr>
              <a:t>: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7820"/>
            <a:ext cx="11830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Arial MT"/>
                <a:cs typeface="Arial MT"/>
              </a:rPr>
              <a:t>daemon</a:t>
            </a:r>
            <a:r>
              <a:rPr sz="1000" spc="-30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thread</a:t>
            </a:r>
            <a:r>
              <a:rPr sz="1000" spc="-30">
                <a:latin typeface="Arial MT"/>
                <a:cs typeface="Arial MT"/>
              </a:rPr>
              <a:t> </a:t>
            </a:r>
            <a:r>
              <a:rPr sz="1000" spc="-20">
                <a:latin typeface="Arial MT"/>
                <a:cs typeface="Arial MT"/>
              </a:rPr>
              <a:t>work</a:t>
            </a:r>
            <a:endParaRPr sz="1000">
              <a:latin typeface="Arial MT"/>
              <a:cs typeface="Arial MT"/>
            </a:endParaRPr>
          </a:p>
          <a:p>
            <a:pPr marL="12700" marR="216535">
              <a:lnSpc>
                <a:spcPct val="250000"/>
              </a:lnSpc>
            </a:pPr>
            <a:r>
              <a:rPr sz="1000">
                <a:latin typeface="Arial MT"/>
                <a:cs typeface="Arial MT"/>
              </a:rPr>
              <a:t>user</a:t>
            </a:r>
            <a:r>
              <a:rPr sz="1000" spc="-20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thread</a:t>
            </a:r>
            <a:r>
              <a:rPr sz="1000" spc="-15">
                <a:latin typeface="Arial MT"/>
                <a:cs typeface="Arial MT"/>
              </a:rPr>
              <a:t> </a:t>
            </a:r>
            <a:r>
              <a:rPr sz="1000" spc="-20">
                <a:latin typeface="Arial MT"/>
                <a:cs typeface="Arial MT"/>
              </a:rPr>
              <a:t>work </a:t>
            </a:r>
            <a:r>
              <a:rPr sz="1000">
                <a:latin typeface="Arial MT"/>
                <a:cs typeface="Arial MT"/>
              </a:rPr>
              <a:t>user</a:t>
            </a:r>
            <a:r>
              <a:rPr sz="1000" spc="-20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thread</a:t>
            </a:r>
            <a:r>
              <a:rPr sz="1000" spc="-15">
                <a:latin typeface="Arial MT"/>
                <a:cs typeface="Arial MT"/>
              </a:rPr>
              <a:t> </a:t>
            </a:r>
            <a:r>
              <a:rPr sz="1000" spc="-20">
                <a:latin typeface="Arial MT"/>
                <a:cs typeface="Arial MT"/>
              </a:rPr>
              <a:t>work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Synchronization</a:t>
            </a:r>
            <a:r>
              <a:rPr spc="-55"/>
              <a:t> </a:t>
            </a:r>
            <a:r>
              <a:rPr/>
              <a:t>in</a:t>
            </a:r>
            <a:r>
              <a:rPr spc="-55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6994525" cy="307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Synchronization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capability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to</a:t>
            </a:r>
            <a:r>
              <a:rPr sz="1000" i="1" spc="-45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control</a:t>
            </a:r>
            <a:r>
              <a:rPr sz="1000" i="1" spc="-40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the</a:t>
            </a:r>
            <a:r>
              <a:rPr sz="1000" i="1" spc="-45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access</a:t>
            </a:r>
            <a:r>
              <a:rPr sz="1000" i="1" spc="-40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of</a:t>
            </a:r>
            <a:r>
              <a:rPr sz="1000" i="1" spc="-45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multiple</a:t>
            </a:r>
            <a:r>
              <a:rPr sz="1000" i="1" spc="-40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threads</a:t>
            </a:r>
            <a:r>
              <a:rPr sz="1000" i="1" spc="-45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to</a:t>
            </a:r>
            <a:r>
              <a:rPr sz="1000" i="1" spc="-40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any</a:t>
            </a:r>
            <a:r>
              <a:rPr sz="1000" i="1" spc="-45">
                <a:latin typeface="Verdana"/>
                <a:cs typeface="Verdana"/>
              </a:rPr>
              <a:t> </a:t>
            </a:r>
            <a:r>
              <a:rPr sz="1000" i="1">
                <a:latin typeface="Verdana"/>
                <a:cs typeface="Verdana"/>
              </a:rPr>
              <a:t>shared</a:t>
            </a:r>
            <a:r>
              <a:rPr sz="1000" i="1" spc="-40">
                <a:latin typeface="Verdana"/>
                <a:cs typeface="Verdana"/>
              </a:rPr>
              <a:t> </a:t>
            </a:r>
            <a:r>
              <a:rPr sz="1000" i="1" spc="-10">
                <a:latin typeface="Verdana"/>
                <a:cs typeface="Verdana"/>
              </a:rPr>
              <a:t>resource</a:t>
            </a:r>
            <a:r>
              <a:rPr sz="1000" spc="-10">
                <a:latin typeface="Verdana"/>
                <a:cs typeface="Verdana"/>
              </a:rPr>
              <a:t>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ts val="2400"/>
              </a:lnSpc>
              <a:spcBef>
                <a:spcPts val="254"/>
              </a:spcBef>
            </a:pPr>
            <a:r>
              <a:rPr sz="1000">
                <a:latin typeface="Verdana"/>
                <a:cs typeface="Verdana"/>
              </a:rPr>
              <a:t>Java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better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option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where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want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allow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only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access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shared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resource.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mainly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used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to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prevent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interference.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To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prevent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consistency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problem.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spc="-10">
                <a:solidFill>
                  <a:srgbClr val="610B37"/>
                </a:solidFill>
                <a:latin typeface="Arial MT"/>
                <a:cs typeface="Arial MT"/>
              </a:rPr>
              <a:t>Types</a:t>
            </a:r>
            <a:r>
              <a:rPr sz="1900" spc="-7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>
                <a:solidFill>
                  <a:srgbClr val="610B37"/>
                </a:solidFill>
                <a:latin typeface="Arial MT"/>
                <a:cs typeface="Arial MT"/>
              </a:rPr>
              <a:t>of</a:t>
            </a:r>
            <a:r>
              <a:rPr sz="1900" spc="-65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1900" spc="-10">
                <a:solidFill>
                  <a:srgbClr val="610B37"/>
                </a:solidFill>
                <a:latin typeface="Arial MT"/>
                <a:cs typeface="Arial MT"/>
              </a:rPr>
              <a:t>Synchronization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000">
                <a:latin typeface="Verdana"/>
                <a:cs typeface="Verdana"/>
              </a:rPr>
              <a:t>There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two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types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Process</a:t>
            </a:r>
            <a:r>
              <a:rPr sz="1000" spc="-7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Thread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Here,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will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discuss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only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1047"/>
            <a:ext cx="2573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Thread</a:t>
            </a:r>
            <a:r>
              <a:rPr sz="1900" spc="-95"/>
              <a:t> </a:t>
            </a:r>
            <a:r>
              <a:rPr sz="1900" spc="-10"/>
              <a:t>Synchronization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983620"/>
            <a:ext cx="624522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There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two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types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mutual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exclusive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inter-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communication.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Mutual</a:t>
            </a:r>
            <a:r>
              <a:rPr sz="1000" spc="-6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Exclusive</a:t>
            </a:r>
            <a:endParaRPr sz="1000">
              <a:latin typeface="Verdana"/>
              <a:cs typeface="Verdana"/>
            </a:endParaRPr>
          </a:p>
          <a:p>
            <a:pPr marL="926465" lvl="1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26465"/>
              </a:tabLst>
            </a:pPr>
            <a:r>
              <a:rPr sz="1000">
                <a:latin typeface="Verdana"/>
                <a:cs typeface="Verdana"/>
              </a:rPr>
              <a:t>Synchronized</a:t>
            </a:r>
            <a:r>
              <a:rPr sz="1000" spc="-7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method.</a:t>
            </a:r>
            <a:endParaRPr sz="1000">
              <a:latin typeface="Verdana"/>
              <a:cs typeface="Verdana"/>
            </a:endParaRPr>
          </a:p>
          <a:p>
            <a:pPr marL="926465" lvl="1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26465"/>
              </a:tabLst>
            </a:pPr>
            <a:r>
              <a:rPr sz="1000">
                <a:latin typeface="Verdana"/>
                <a:cs typeface="Verdana"/>
              </a:rPr>
              <a:t>Synchronized</a:t>
            </a:r>
            <a:r>
              <a:rPr sz="1000" spc="-7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block.</a:t>
            </a:r>
            <a:endParaRPr sz="1000">
              <a:latin typeface="Verdana"/>
              <a:cs typeface="Verdana"/>
            </a:endParaRPr>
          </a:p>
          <a:p>
            <a:pPr marL="926465" lvl="1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26465"/>
              </a:tabLst>
            </a:pPr>
            <a:r>
              <a:rPr sz="1000">
                <a:latin typeface="Verdana"/>
                <a:cs typeface="Verdana"/>
              </a:rPr>
              <a:t>static</a:t>
            </a:r>
            <a:r>
              <a:rPr sz="1000" spc="-6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synchronization.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 spc="-10">
                <a:latin typeface="Verdana"/>
                <a:cs typeface="Verdana"/>
              </a:rPr>
              <a:t>Cooperation (Inter-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10">
                <a:latin typeface="Verdana"/>
                <a:cs typeface="Verdana"/>
              </a:rPr>
              <a:t> communication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10">
                <a:latin typeface="Verdana"/>
                <a:cs typeface="Verdana"/>
              </a:rPr>
              <a:t> java)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1047"/>
            <a:ext cx="18351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Mutual</a:t>
            </a:r>
            <a:r>
              <a:rPr sz="1900" spc="-90"/>
              <a:t> </a:t>
            </a:r>
            <a:r>
              <a:rPr sz="1900" spc="-10"/>
              <a:t>Exclusive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983620"/>
            <a:ext cx="578485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Mutual</a:t>
            </a:r>
            <a:r>
              <a:rPr sz="1000" spc="-5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Exclusive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helps</a:t>
            </a:r>
            <a:r>
              <a:rPr sz="1000" spc="-5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keep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from</a:t>
            </a:r>
            <a:r>
              <a:rPr sz="1000" spc="-5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interfering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with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one</a:t>
            </a:r>
            <a:r>
              <a:rPr sz="1000" spc="-5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another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while</a:t>
            </a:r>
            <a:r>
              <a:rPr sz="1000" spc="-5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sharing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data.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This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done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ways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java: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by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synchronized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method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by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synchronized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block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by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static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synchronization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638974" y="2964662"/>
            <a:ext cx="4800599" cy="1400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Deadlock</a:t>
            </a:r>
            <a:r>
              <a:rPr spc="-65"/>
              <a:t> </a:t>
            </a:r>
            <a:r>
              <a:rPr/>
              <a:t>in</a:t>
            </a:r>
            <a:r>
              <a:rPr spc="-60"/>
              <a:t> </a:t>
            </a:r>
            <a:r>
              <a:rPr spc="-20"/>
              <a:t>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424820"/>
            <a:ext cx="79552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Deadlock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part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multithreading.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12500"/>
              </a:lnSpc>
              <a:spcBef>
                <a:spcPts val="1025"/>
              </a:spcBef>
            </a:pPr>
            <a:r>
              <a:rPr sz="1000">
                <a:latin typeface="Verdana"/>
                <a:cs typeface="Verdana"/>
              </a:rPr>
              <a:t>Deadlock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occur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situation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when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lock,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acquired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another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second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lock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acquired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first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thread.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Since,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both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each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other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release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lock,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condition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called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deadlock.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379539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TestDeadlockExample1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91135" marR="982980" indent="-89535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main(String[]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args)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final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resource1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=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"ratan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jaiswal"</a:t>
            </a:r>
            <a:r>
              <a:rPr sz="1000" spc="-10">
                <a:latin typeface="Verdana"/>
                <a:cs typeface="Verdana"/>
              </a:rPr>
              <a:t>;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final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resource2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=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"vimal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jaiswal"</a:t>
            </a:r>
            <a:r>
              <a:rPr sz="1000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90500" marR="833119">
              <a:lnSpc>
                <a:spcPct val="181300"/>
              </a:lnSpc>
            </a:pP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t1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tries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lock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resource1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then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resource2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t1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=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Thread()</a:t>
            </a:r>
            <a:endParaRPr sz="10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969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280035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run()</a:t>
            </a:r>
            <a:endParaRPr sz="1000">
              <a:latin typeface="Verdana"/>
              <a:cs typeface="Verdana"/>
            </a:endParaRPr>
          </a:p>
          <a:p>
            <a:pPr marL="368935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02920" marR="5080" indent="-4445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(resource1)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 </a:t>
            </a: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1: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locked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resource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1"</a:t>
            </a:r>
            <a:r>
              <a:rPr sz="1000" spc="-2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875666" y="1612145"/>
            <a:ext cx="1904364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try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41275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Thread.sleep(</a:t>
            </a:r>
            <a:r>
              <a:rPr sz="100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000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279400">
              <a:lnSpc>
                <a:spcPct val="100000"/>
              </a:lnSpc>
              <a:spcBef>
                <a:spcPts val="975"/>
              </a:spcBef>
            </a:pPr>
            <a:r>
              <a:rPr sz="1000">
                <a:latin typeface="Verdana"/>
                <a:cs typeface="Verdana"/>
              </a:rPr>
              <a:t>}</a:t>
            </a:r>
            <a:r>
              <a:rPr sz="1000" spc="-1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(Exception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e)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{}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033" y="2717045"/>
            <a:ext cx="3661410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(resource2)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68935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1: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locked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resource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2"</a:t>
            </a:r>
            <a:r>
              <a:rPr sz="1000" spc="-2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235585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R="3470910" algn="r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R="3502025" algn="r">
              <a:lnSpc>
                <a:spcPct val="100000"/>
              </a:lnSpc>
              <a:spcBef>
                <a:spcPts val="975"/>
              </a:spcBef>
            </a:pPr>
            <a:r>
              <a:rPr sz="1000" spc="-25">
                <a:latin typeface="Verdana"/>
                <a:cs typeface="Verdana"/>
              </a:rPr>
              <a:t>};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73987" y="1335920"/>
            <a:ext cx="366141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t2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tries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lock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resource2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then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resource1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>
                <a:latin typeface="Verdana"/>
                <a:cs typeface="Verdana"/>
              </a:rPr>
              <a:t>Thread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t2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=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Thread()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91135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run()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68935" marR="5080" indent="-8890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(resource2)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 </a:t>
            </a: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2: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locked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resource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2"</a:t>
            </a:r>
            <a:r>
              <a:rPr sz="1000" spc="-2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1035" y="2993270"/>
            <a:ext cx="194945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try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2385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Thread.sleep(</a:t>
            </a:r>
            <a:r>
              <a:rPr sz="100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000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323850">
              <a:lnSpc>
                <a:spcPct val="100000"/>
              </a:lnSpc>
              <a:spcBef>
                <a:spcPts val="975"/>
              </a:spcBef>
            </a:pPr>
            <a:r>
              <a:rPr sz="1000">
                <a:latin typeface="Verdana"/>
                <a:cs typeface="Verdana"/>
              </a:rPr>
              <a:t>}</a:t>
            </a:r>
            <a:r>
              <a:rPr sz="1000" spc="-1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(Exception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e)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{}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612145"/>
            <a:ext cx="3839845" cy="266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(resource1)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4737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System.out.println(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000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2: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locked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00FF"/>
                </a:solidFill>
                <a:latin typeface="Verdana"/>
                <a:cs typeface="Verdana"/>
              </a:rPr>
              <a:t>resource</a:t>
            </a:r>
            <a:r>
              <a:rPr sz="1000" spc="-2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20">
                <a:solidFill>
                  <a:srgbClr val="0000FF"/>
                </a:solidFill>
                <a:latin typeface="Verdana"/>
                <a:cs typeface="Verdana"/>
              </a:rPr>
              <a:t>1"</a:t>
            </a:r>
            <a:r>
              <a:rPr sz="1000" spc="-2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45847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368935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R="3470910" algn="r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R="3502025" algn="r">
              <a:lnSpc>
                <a:spcPct val="100000"/>
              </a:lnSpc>
              <a:spcBef>
                <a:spcPts val="975"/>
              </a:spcBef>
            </a:pPr>
            <a:r>
              <a:rPr sz="1000" spc="-25">
                <a:latin typeface="Verdana"/>
                <a:cs typeface="Verdana"/>
              </a:rPr>
              <a:t>};</a:t>
            </a:r>
            <a:endParaRPr sz="1000">
              <a:latin typeface="Verdana"/>
              <a:cs typeface="Verdana"/>
            </a:endParaRPr>
          </a:p>
          <a:p>
            <a:pPr marL="235585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t1.start();</a:t>
            </a:r>
            <a:endParaRPr sz="10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975"/>
              </a:spcBef>
            </a:pPr>
            <a:r>
              <a:rPr sz="1000" spc="-10">
                <a:latin typeface="Verdana"/>
                <a:cs typeface="Verdana"/>
              </a:rPr>
              <a:t>t2.start();</a:t>
            </a:r>
            <a:endParaRPr sz="10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294264"/>
            <a:ext cx="8051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>
                <a:latin typeface="Arial"/>
                <a:cs typeface="Arial"/>
              </a:rPr>
              <a:t>Output: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871" y="2183645"/>
            <a:ext cx="16059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Arial MT"/>
                <a:cs typeface="Arial MT"/>
              </a:rPr>
              <a:t>Thread</a:t>
            </a:r>
            <a:r>
              <a:rPr sz="1000" spc="-30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1: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locked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resource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 spc="-5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>
                <a:latin typeface="Arial MT"/>
                <a:cs typeface="Arial MT"/>
              </a:rPr>
              <a:t>Thread</a:t>
            </a:r>
            <a:r>
              <a:rPr sz="1000" spc="-30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2: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locked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>
                <a:latin typeface="Arial MT"/>
                <a:cs typeface="Arial MT"/>
              </a:rPr>
              <a:t>resource</a:t>
            </a:r>
            <a:r>
              <a:rPr sz="1000" spc="-25">
                <a:latin typeface="Arial MT"/>
                <a:cs typeface="Arial MT"/>
              </a:rPr>
              <a:t> </a:t>
            </a:r>
            <a:r>
              <a:rPr sz="1000" spc="-5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Inter-</a:t>
            </a:r>
            <a:r>
              <a:rPr/>
              <a:t>thread</a:t>
            </a:r>
            <a:r>
              <a:rPr spc="-55"/>
              <a:t> </a:t>
            </a:r>
            <a:r>
              <a:rPr spc="-10"/>
              <a:t>communication</a:t>
            </a:r>
            <a:r>
              <a:rPr spc="-55"/>
              <a:t> </a:t>
            </a:r>
            <a:r>
              <a:rPr/>
              <a:t>in</a:t>
            </a:r>
            <a:r>
              <a:rPr spc="-55"/>
              <a:t> </a:t>
            </a:r>
            <a:r>
              <a:rPr spc="-2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8253730" cy="177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Verdana"/>
                <a:cs typeface="Verdana"/>
              </a:rPr>
              <a:t>Inter-</a:t>
            </a:r>
            <a:r>
              <a:rPr sz="1000" b="1">
                <a:latin typeface="Verdana"/>
                <a:cs typeface="Verdana"/>
              </a:rPr>
              <a:t>thread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communication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Co-</a:t>
            </a:r>
            <a:r>
              <a:rPr sz="1000" b="1">
                <a:latin typeface="Verdana"/>
                <a:cs typeface="Verdana"/>
              </a:rPr>
              <a:t>operation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about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allowing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synchronized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communicate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with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each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other.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12500"/>
              </a:lnSpc>
              <a:spcBef>
                <a:spcPts val="1025"/>
              </a:spcBef>
            </a:pPr>
            <a:r>
              <a:rPr sz="1000" spc="-10">
                <a:latin typeface="Verdana"/>
                <a:cs typeface="Verdana"/>
              </a:rPr>
              <a:t>Cooperation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(Inter-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communication)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mechanism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which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paused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running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critical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section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another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allowed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enter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(or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lock)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same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critical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section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executed.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It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implemented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following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methods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Object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class</a:t>
            </a:r>
            <a:r>
              <a:rPr sz="1000" spc="-10">
                <a:latin typeface="Verdana"/>
                <a:cs typeface="Verdana"/>
              </a:rPr>
              <a:t>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/>
              </a:tabLst>
            </a:pPr>
            <a:r>
              <a:rPr sz="1000" spc="-10">
                <a:latin typeface="Verdana"/>
                <a:cs typeface="Verdana"/>
              </a:rPr>
              <a:t>wait()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 MT"/>
              <a:buChar char="●"/>
              <a:tabLst>
                <a:tab pos="469265"/>
              </a:tabLst>
            </a:pPr>
            <a:r>
              <a:rPr sz="1000" spc="-10">
                <a:latin typeface="Verdana"/>
                <a:cs typeface="Verdana"/>
              </a:rPr>
              <a:t>notify()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 MT"/>
              <a:buChar char="●"/>
              <a:tabLst>
                <a:tab pos="469265"/>
              </a:tabLst>
            </a:pPr>
            <a:r>
              <a:rPr sz="1000" spc="-10">
                <a:latin typeface="Verdana"/>
                <a:cs typeface="Verdana"/>
              </a:rPr>
              <a:t>notifyAll()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4096"/>
            <a:ext cx="12179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610B4B"/>
                </a:solidFill>
              </a:rPr>
              <a:t>1)</a:t>
            </a:r>
            <a:r>
              <a:rPr sz="1300" spc="-30">
                <a:solidFill>
                  <a:srgbClr val="610B4B"/>
                </a:solidFill>
              </a:rPr>
              <a:t> </a:t>
            </a:r>
            <a:r>
              <a:rPr sz="1300">
                <a:solidFill>
                  <a:srgbClr val="610B4B"/>
                </a:solidFill>
              </a:rPr>
              <a:t>wait()</a:t>
            </a:r>
            <a:r>
              <a:rPr sz="1300" spc="-25">
                <a:solidFill>
                  <a:srgbClr val="610B4B"/>
                </a:solidFill>
              </a:rPr>
              <a:t> </a:t>
            </a:r>
            <a:r>
              <a:rPr sz="1300" spc="-10">
                <a:solidFill>
                  <a:srgbClr val="610B4B"/>
                </a:solidFill>
              </a:rPr>
              <a:t>method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384725" y="1840745"/>
            <a:ext cx="7928609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Causes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current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release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lock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until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either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another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invokes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notify()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method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or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notifyAll() </a:t>
            </a:r>
            <a:r>
              <a:rPr sz="1000">
                <a:latin typeface="Verdana"/>
                <a:cs typeface="Verdana"/>
              </a:rPr>
              <a:t>method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object,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specified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amount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time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has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elapsed.</a:t>
            </a:r>
            <a:endParaRPr sz="10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final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void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wait()throws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InterruptedException</a:t>
            </a:r>
            <a:endParaRPr sz="1000">
              <a:latin typeface="Verdana"/>
              <a:cs typeface="Verdana"/>
            </a:endParaRPr>
          </a:p>
          <a:p>
            <a:pPr marL="1384300">
              <a:lnSpc>
                <a:spcPct val="100000"/>
              </a:lnSpc>
              <a:spcBef>
                <a:spcPts val="900"/>
              </a:spcBef>
            </a:pPr>
            <a:r>
              <a:rPr sz="1000">
                <a:latin typeface="Verdana"/>
                <a:cs typeface="Verdana"/>
              </a:rPr>
              <a:t>waits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until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notified.</a:t>
            </a:r>
            <a:endParaRPr sz="1000">
              <a:latin typeface="Verdana"/>
              <a:cs typeface="Verdana"/>
            </a:endParaRPr>
          </a:p>
          <a:p>
            <a:pPr marL="1384300" marR="3661410" indent="-1181100">
              <a:lnSpc>
                <a:spcPct val="175000"/>
              </a:lnSpc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final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void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wait(long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timeout)throws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InterruptedException </a:t>
            </a:r>
            <a:r>
              <a:rPr sz="1000">
                <a:latin typeface="Verdana"/>
                <a:cs typeface="Verdana"/>
              </a:rPr>
              <a:t>waits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specified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amount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time.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4096"/>
            <a:ext cx="13188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610B4B"/>
                </a:solidFill>
              </a:rPr>
              <a:t>2)</a:t>
            </a:r>
            <a:r>
              <a:rPr sz="1300" spc="-35">
                <a:solidFill>
                  <a:srgbClr val="610B4B"/>
                </a:solidFill>
              </a:rPr>
              <a:t> </a:t>
            </a:r>
            <a:r>
              <a:rPr sz="1300">
                <a:solidFill>
                  <a:srgbClr val="610B4B"/>
                </a:solidFill>
              </a:rPr>
              <a:t>notify()</a:t>
            </a:r>
            <a:r>
              <a:rPr sz="1300" spc="-30">
                <a:solidFill>
                  <a:srgbClr val="610B4B"/>
                </a:solidFill>
              </a:rPr>
              <a:t> </a:t>
            </a:r>
            <a:r>
              <a:rPr sz="1300" spc="-10">
                <a:solidFill>
                  <a:srgbClr val="610B4B"/>
                </a:solidFill>
              </a:rPr>
              <a:t>method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384725" y="1859795"/>
            <a:ext cx="51943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Wakes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up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single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object's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monitor.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200000"/>
              </a:lnSpc>
            </a:pPr>
            <a:r>
              <a:rPr sz="1000">
                <a:latin typeface="Verdana"/>
                <a:cs typeface="Verdana"/>
              </a:rPr>
              <a:t>If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object,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them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chosen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awakened.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choice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arbitrary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occurs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discretion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implementation.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078995"/>
            <a:ext cx="2461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Syntax:</a:t>
            </a:r>
            <a:endParaRPr sz="10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final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void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notify()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4096"/>
            <a:ext cx="15024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610B4B"/>
                </a:solidFill>
              </a:rPr>
              <a:t>3)</a:t>
            </a:r>
            <a:r>
              <a:rPr sz="1300" spc="-40">
                <a:solidFill>
                  <a:srgbClr val="610B4B"/>
                </a:solidFill>
              </a:rPr>
              <a:t> </a:t>
            </a:r>
            <a:r>
              <a:rPr sz="1300">
                <a:solidFill>
                  <a:srgbClr val="610B4B"/>
                </a:solidFill>
              </a:rPr>
              <a:t>notifyAll()</a:t>
            </a:r>
            <a:r>
              <a:rPr sz="1300" spc="-40">
                <a:solidFill>
                  <a:srgbClr val="610B4B"/>
                </a:solidFill>
              </a:rPr>
              <a:t> </a:t>
            </a:r>
            <a:r>
              <a:rPr sz="1300" spc="-10">
                <a:solidFill>
                  <a:srgbClr val="610B4B"/>
                </a:solidFill>
              </a:rPr>
              <a:t>method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384725" y="1859795"/>
            <a:ext cx="4019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Wakes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up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threads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waiting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on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object's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monitor.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302" y="2469395"/>
            <a:ext cx="25736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Syntax:</a:t>
            </a:r>
            <a:endParaRPr sz="1000">
              <a:latin typeface="Verdana"/>
              <a:cs typeface="Verdana"/>
            </a:endParaRPr>
          </a:p>
          <a:p>
            <a:pPr marL="882015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public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final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void</a:t>
            </a:r>
            <a:r>
              <a:rPr sz="1000" spc="-4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notifyAll()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652696"/>
            <a:ext cx="32391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Difference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between</a:t>
            </a:r>
            <a:r>
              <a:rPr sz="1600" spc="-2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wait</a:t>
            </a:r>
            <a:r>
              <a:rPr sz="1600" spc="-2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and</a:t>
            </a:r>
            <a:r>
              <a:rPr sz="1600" spc="-2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sleep?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2500" y="1428750"/>
            <a:ext cx="7239000" cy="457200"/>
            <a:chOff x="952500" y="1428750"/>
            <a:chExt cx="7239000" cy="457200"/>
          </a:xfrm>
        </p:grpSpPr>
        <p:sp>
          <p:nvSpPr>
            <p:cNvPr id="4" name="object 4"/>
            <p:cNvSpPr/>
            <p:nvPr/>
          </p:nvSpPr>
          <p:spPr>
            <a:xfrm>
              <a:off x="952500" y="1428762"/>
              <a:ext cx="7239000" cy="457200"/>
            </a:xfrm>
            <a:custGeom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36195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361950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6014" y="1543062"/>
              <a:ext cx="4055110" cy="198120"/>
            </a:xfrm>
            <a:custGeom>
              <a:rect l="l" t="t" r="r" b="b"/>
              <a:pathLst>
                <a:path w="4055109" h="198119">
                  <a:moveTo>
                    <a:pt x="412457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412457" y="198120"/>
                  </a:lnTo>
                  <a:lnTo>
                    <a:pt x="412457" y="0"/>
                  </a:lnTo>
                  <a:close/>
                </a:path>
                <a:path w="4055109" h="198119">
                  <a:moveTo>
                    <a:pt x="4054894" y="0"/>
                  </a:moveTo>
                  <a:lnTo>
                    <a:pt x="3596563" y="0"/>
                  </a:lnTo>
                  <a:lnTo>
                    <a:pt x="3596563" y="198120"/>
                  </a:lnTo>
                  <a:lnTo>
                    <a:pt x="4054894" y="198120"/>
                  </a:lnTo>
                  <a:lnTo>
                    <a:pt x="40548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47737" y="1423987"/>
          <a:ext cx="7324725" cy="281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6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10">
                          <a:latin typeface="Times New Roman"/>
                          <a:cs typeface="Times New Roman"/>
                        </a:rPr>
                        <a:t>wait()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10">
                          <a:latin typeface="Times New Roman"/>
                          <a:cs typeface="Times New Roman"/>
                        </a:rPr>
                        <a:t>sleep()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wait()</a:t>
                      </a:r>
                      <a:r>
                        <a:rPr sz="10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0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releases</a:t>
                      </a:r>
                      <a:r>
                        <a:rPr sz="10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20">
                          <a:latin typeface="Verdana"/>
                          <a:cs typeface="Verdana"/>
                        </a:rPr>
                        <a:t>lock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sleep()</a:t>
                      </a:r>
                      <a:r>
                        <a:rPr sz="10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0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doesn't</a:t>
                      </a:r>
                      <a:r>
                        <a:rPr sz="10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release</a:t>
                      </a:r>
                      <a:r>
                        <a:rPr sz="10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lock.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Object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class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Thread</a:t>
                      </a:r>
                      <a:r>
                        <a:rPr sz="10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class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20">
                          <a:latin typeface="Verdana"/>
                          <a:cs typeface="Verdana"/>
                        </a:rPr>
                        <a:t>non-</a:t>
                      </a:r>
                      <a:r>
                        <a:rPr sz="1000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0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method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method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20">
                          <a:latin typeface="Verdana"/>
                          <a:cs typeface="Verdana"/>
                        </a:rPr>
                        <a:t>non-</a:t>
                      </a:r>
                      <a:r>
                        <a:rPr sz="1000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0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method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static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method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should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be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notified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by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notify()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or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>
                          <a:latin typeface="Verdana"/>
                          <a:cs typeface="Verdana"/>
                        </a:rPr>
                        <a:t>notifyAll()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spc="-10">
                          <a:latin typeface="Verdana"/>
                          <a:cs typeface="Verdana"/>
                        </a:rPr>
                        <a:t>methods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>
                          <a:latin typeface="Verdana"/>
                          <a:cs typeface="Verdana"/>
                        </a:rPr>
                        <a:t>after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amount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time,</a:t>
                      </a:r>
                      <a:r>
                        <a:rPr sz="10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>
                          <a:latin typeface="Verdana"/>
                          <a:cs typeface="Verdana"/>
                        </a:rPr>
                        <a:t>sleep</a:t>
                      </a:r>
                      <a:r>
                        <a:rPr sz="10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25">
                          <a:latin typeface="Verdana"/>
                          <a:cs typeface="Verdana"/>
                        </a:rPr>
                        <a:t>is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spc="-10">
                          <a:latin typeface="Verdana"/>
                          <a:cs typeface="Verdana"/>
                        </a:rPr>
                        <a:t>completed.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 spc="-10"/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225" y="1910595"/>
            <a:ext cx="496570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In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Java</a:t>
            </a:r>
            <a:r>
              <a:rPr sz="1000">
                <a:latin typeface="Verdana"/>
                <a:cs typeface="Verdana"/>
              </a:rPr>
              <a:t>,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basically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represents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sequence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char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values.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An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array</a:t>
            </a:r>
            <a:r>
              <a:rPr sz="1000" spc="-25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characters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works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same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string.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example: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Verdana"/>
              <a:buAutoNum type="arabicPeriod"/>
              <a:tabLst>
                <a:tab pos="469265"/>
              </a:tabLst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char</a:t>
            </a:r>
            <a:r>
              <a:rPr sz="1000">
                <a:latin typeface="Verdana"/>
                <a:cs typeface="Verdana"/>
              </a:rPr>
              <a:t>[]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ch={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'j'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'a'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'v'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'a'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't'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'p'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'o'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'i'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'n'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't'</a:t>
            </a:r>
            <a:r>
              <a:rPr sz="1000" spc="-10">
                <a:latin typeface="Verdana"/>
                <a:cs typeface="Verdana"/>
              </a:rPr>
              <a:t>};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String(ch);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Verdana"/>
              <a:buAutoNum type="arabicPeriod"/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same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as: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Verdana"/>
              <a:cs typeface="Verdana"/>
            </a:endParaRPr>
          </a:p>
          <a:p>
            <a:pPr marL="469265" lvl="1" indent="-354965">
              <a:lnSpc>
                <a:spcPct val="100000"/>
              </a:lnSpc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"javatpoint"</a:t>
            </a:r>
            <a:r>
              <a:rPr sz="1000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1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What</a:t>
            </a:r>
            <a:r>
              <a:rPr sz="1900" spc="-50"/>
              <a:t> </a:t>
            </a:r>
            <a:r>
              <a:rPr sz="1900"/>
              <a:t>is</a:t>
            </a:r>
            <a:r>
              <a:rPr sz="1900" spc="-45"/>
              <a:t> </a:t>
            </a:r>
            <a:r>
              <a:rPr sz="1900"/>
              <a:t>String</a:t>
            </a:r>
            <a:r>
              <a:rPr sz="1900" spc="-50"/>
              <a:t> </a:t>
            </a:r>
            <a:r>
              <a:rPr sz="1900"/>
              <a:t>in</a:t>
            </a:r>
            <a:r>
              <a:rPr sz="1900" spc="-45"/>
              <a:t> </a:t>
            </a:r>
            <a:r>
              <a:rPr sz="1900" spc="-20"/>
              <a:t>java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4721860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Generally,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sequence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characters.</a:t>
            </a:r>
            <a:endParaRPr sz="1000">
              <a:latin typeface="Verdana"/>
              <a:cs typeface="Verdana"/>
            </a:endParaRPr>
          </a:p>
          <a:p>
            <a:pPr marL="12700" marR="5080" indent="44450">
              <a:lnSpc>
                <a:spcPts val="2400"/>
              </a:lnSpc>
              <a:spcBef>
                <a:spcPts val="75"/>
              </a:spcBef>
            </a:pPr>
            <a:r>
              <a:rPr sz="1000">
                <a:latin typeface="Verdana"/>
                <a:cs typeface="Verdana"/>
              </a:rPr>
              <a:t>But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Java,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represents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sequence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of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characters.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java.lang.String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class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used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object.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83797"/>
            <a:ext cx="2712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How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to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create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a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string</a:t>
            </a:r>
            <a:r>
              <a:rPr sz="1600" spc="-3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object?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831345"/>
            <a:ext cx="281813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There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are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two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ways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object: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By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literal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By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new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keyword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1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1)</a:t>
            </a:r>
            <a:r>
              <a:rPr sz="1900" spc="-55"/>
              <a:t> </a:t>
            </a:r>
            <a:r>
              <a:rPr sz="1900"/>
              <a:t>String</a:t>
            </a:r>
            <a:r>
              <a:rPr sz="1900" spc="-50"/>
              <a:t> </a:t>
            </a:r>
            <a:r>
              <a:rPr sz="1900" spc="-10"/>
              <a:t>Literal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8014334" cy="217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Java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literal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using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double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quotes.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Example:</a:t>
            </a:r>
            <a:endParaRPr sz="1000">
              <a:latin typeface="Verdana"/>
              <a:cs typeface="Verdana"/>
            </a:endParaRPr>
          </a:p>
          <a:p>
            <a:pPr marL="469265" indent="-35496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000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Verdana"/>
              <a:buAutoNum type="arabicPeriod"/>
            </a:pP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Each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time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you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literal,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JVM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checks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"string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constant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pool"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first.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If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already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exists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pool,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50">
                <a:latin typeface="Verdana"/>
                <a:cs typeface="Verdana"/>
              </a:rPr>
              <a:t>a </a:t>
            </a:r>
            <a:r>
              <a:rPr sz="1000" spc="-10">
                <a:latin typeface="Verdana"/>
                <a:cs typeface="Verdana"/>
              </a:rPr>
              <a:t>reference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pooled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instance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returned.</a:t>
            </a:r>
            <a:endParaRPr sz="1000">
              <a:latin typeface="Verdana"/>
              <a:cs typeface="Verdana"/>
            </a:endParaRPr>
          </a:p>
          <a:p>
            <a:pPr marL="12700" marR="2033905">
              <a:lnSpc>
                <a:spcPct val="200000"/>
              </a:lnSpc>
            </a:pPr>
            <a:r>
              <a:rPr sz="1000">
                <a:latin typeface="Verdana"/>
                <a:cs typeface="Verdana"/>
              </a:rPr>
              <a:t>If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doesn't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exist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pool,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new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instance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placed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pool.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example:</a:t>
            </a:r>
            <a:endParaRPr sz="1000">
              <a:latin typeface="Verdana"/>
              <a:cs typeface="Verdana"/>
            </a:endParaRPr>
          </a:p>
          <a:p>
            <a:pPr marL="469265" lvl="1" indent="-3549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s1=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000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469265" lvl="1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/>
              </a:tabLst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s2=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000" spc="-10">
                <a:latin typeface="Verdana"/>
                <a:cs typeface="Verdana"/>
              </a:rPr>
              <a:t>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//It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doesn't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create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a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new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instance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1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2)</a:t>
            </a:r>
            <a:r>
              <a:rPr sz="1900" spc="-30"/>
              <a:t> </a:t>
            </a:r>
            <a:r>
              <a:rPr sz="1900"/>
              <a:t>By</a:t>
            </a:r>
            <a:r>
              <a:rPr sz="1900" spc="-25"/>
              <a:t> </a:t>
            </a:r>
            <a:r>
              <a:rPr sz="1900"/>
              <a:t>new</a:t>
            </a:r>
            <a:r>
              <a:rPr sz="1900" spc="-25"/>
              <a:t> </a:t>
            </a:r>
            <a:r>
              <a:rPr sz="1900" spc="-10"/>
              <a:t>keyword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12120"/>
            <a:ext cx="8223884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  <a:tabLst>
                <a:tab pos="469265"/>
              </a:tabLst>
            </a:pPr>
            <a:r>
              <a:rPr sz="1000" spc="-25">
                <a:latin typeface="Verdana"/>
                <a:cs typeface="Verdana"/>
              </a:rPr>
              <a:t>1.</a:t>
            </a:r>
            <a:r>
              <a:rPr sz="1000">
                <a:latin typeface="Verdana"/>
                <a:cs typeface="Verdana"/>
              </a:rPr>
              <a:t>	String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String(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000" spc="-10">
                <a:latin typeface="Verdana"/>
                <a:cs typeface="Verdana"/>
              </a:rPr>
              <a:t>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//creates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two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objects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and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one</a:t>
            </a:r>
            <a:r>
              <a:rPr sz="100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reference</a:t>
            </a:r>
            <a:r>
              <a:rPr sz="1000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variable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In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such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case,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JVM</a:t>
            </a:r>
            <a:r>
              <a:rPr sz="1000" spc="-3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will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new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normal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20">
                <a:latin typeface="Verdana"/>
                <a:cs typeface="Verdana"/>
              </a:rPr>
              <a:t>(non-</a:t>
            </a:r>
            <a:r>
              <a:rPr sz="1000">
                <a:latin typeface="Verdana"/>
                <a:cs typeface="Verdana"/>
              </a:rPr>
              <a:t>pool)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heap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memory,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literal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"Welcome"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will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placed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in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string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constant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pool.</a:t>
            </a:r>
            <a:endParaRPr sz="1000">
              <a:latin typeface="Verdana"/>
              <a:cs typeface="Verdana"/>
            </a:endParaRPr>
          </a:p>
          <a:p>
            <a:pPr marL="57150">
              <a:lnSpc>
                <a:spcPct val="100000"/>
              </a:lnSpc>
              <a:spcBef>
                <a:spcPts val="1200"/>
              </a:spcBef>
            </a:pPr>
            <a:r>
              <a:rPr sz="1000">
                <a:latin typeface="Verdana"/>
                <a:cs typeface="Verdana"/>
              </a:rPr>
              <a:t>The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variable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will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refer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object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heap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20">
                <a:latin typeface="Verdana"/>
                <a:cs typeface="Verdana"/>
              </a:rPr>
              <a:t>(non-</a:t>
            </a:r>
            <a:r>
              <a:rPr sz="1000" spc="-10">
                <a:latin typeface="Verdana"/>
                <a:cs typeface="Verdana"/>
              </a:rPr>
              <a:t>pool).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755765" y="375027"/>
            <a:ext cx="470979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StringExample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main(String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1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s1=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"java"</a:t>
            </a:r>
            <a:r>
              <a:rPr sz="1000" spc="-10">
                <a:latin typeface="Verdana"/>
                <a:cs typeface="Verdana"/>
              </a:rPr>
              <a:t>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//creating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string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java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string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literal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char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ch[]={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's'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't'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'r'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'i'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'n'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'g'</a:t>
            </a:r>
            <a:r>
              <a:rPr sz="1000" spc="-10">
                <a:latin typeface="Verdana"/>
                <a:cs typeface="Verdana"/>
              </a:rPr>
              <a:t>,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's'</a:t>
            </a:r>
            <a:r>
              <a:rPr sz="1000" spc="-10">
                <a:latin typeface="Verdana"/>
                <a:cs typeface="Verdana"/>
              </a:rPr>
              <a:t>};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s2=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String(ch);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//converting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char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array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string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81300"/>
              </a:lnSpc>
            </a:pPr>
            <a:r>
              <a:rPr sz="1000">
                <a:latin typeface="Verdana"/>
                <a:cs typeface="Verdana"/>
              </a:rPr>
              <a:t>String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s3=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String(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"example"</a:t>
            </a:r>
            <a:r>
              <a:rPr sz="1000" spc="-10">
                <a:latin typeface="Verdana"/>
                <a:cs typeface="Verdana"/>
              </a:rPr>
              <a:t>);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//creating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java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string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00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>
                <a:solidFill>
                  <a:srgbClr val="008200"/>
                </a:solidFill>
                <a:latin typeface="Verdana"/>
                <a:cs typeface="Verdana"/>
              </a:rPr>
              <a:t>new</a:t>
            </a:r>
            <a:r>
              <a:rPr sz="100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spc="-10">
                <a:solidFill>
                  <a:srgbClr val="008200"/>
                </a:solidFill>
                <a:latin typeface="Verdana"/>
                <a:cs typeface="Verdana"/>
              </a:rPr>
              <a:t>keyword </a:t>
            </a:r>
            <a:r>
              <a:rPr sz="1000" spc="-10">
                <a:latin typeface="Verdana"/>
                <a:cs typeface="Verdana"/>
              </a:rPr>
              <a:t>System.out.println(s1);</a:t>
            </a:r>
            <a:endParaRPr sz="1000">
              <a:latin typeface="Verdana"/>
              <a:cs typeface="Verdana"/>
            </a:endParaRPr>
          </a:p>
          <a:p>
            <a:pPr marL="12700" marR="3178175">
              <a:lnSpc>
                <a:spcPct val="181300"/>
              </a:lnSpc>
            </a:pPr>
            <a:r>
              <a:rPr sz="1000" spc="-10">
                <a:latin typeface="Verdana"/>
                <a:cs typeface="Verdana"/>
              </a:rPr>
              <a:t>System.out.println(s2); System.out.println(s3);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81162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3903682"/>
            <a:ext cx="9144000" cy="1240155"/>
            <a:chOff x="0" y="3903682"/>
            <a:chExt cx="9144000" cy="1240155"/>
          </a:xfrm>
        </p:grpSpPr>
        <p:sp>
          <p:nvSpPr>
            <p:cNvPr id="5" name="object 5"/>
            <p:cNvSpPr/>
            <p:nvPr/>
          </p:nvSpPr>
          <p:spPr>
            <a:xfrm>
              <a:off x="8154757" y="3903682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891594"/>
              <a:ext cx="9144000" cy="252095"/>
            </a:xfrm>
            <a:custGeom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49399" y="566500"/>
            <a:ext cx="8183245" cy="457200"/>
            <a:chOff x="649399" y="566500"/>
            <a:chExt cx="8183245" cy="457200"/>
          </a:xfrm>
        </p:grpSpPr>
        <p:sp>
          <p:nvSpPr>
            <p:cNvPr id="8" name="object 8"/>
            <p:cNvSpPr/>
            <p:nvPr/>
          </p:nvSpPr>
          <p:spPr>
            <a:xfrm>
              <a:off x="649389" y="566508"/>
              <a:ext cx="8183245" cy="457200"/>
            </a:xfrm>
            <a:custGeom>
              <a:rect l="l" t="t" r="r" b="b"/>
              <a:pathLst>
                <a:path w="8183245" h="457200">
                  <a:moveTo>
                    <a:pt x="8182927" y="0"/>
                  </a:moveTo>
                  <a:lnTo>
                    <a:pt x="5185359" y="0"/>
                  </a:lnTo>
                  <a:lnTo>
                    <a:pt x="962634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962634" y="457200"/>
                  </a:lnTo>
                  <a:lnTo>
                    <a:pt x="5185359" y="457200"/>
                  </a:lnTo>
                  <a:lnTo>
                    <a:pt x="8182927" y="457200"/>
                  </a:lnTo>
                  <a:lnTo>
                    <a:pt x="8182927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3689" y="680808"/>
              <a:ext cx="6001385" cy="198120"/>
            </a:xfrm>
            <a:custGeom>
              <a:rect l="l" t="t" r="r" b="b"/>
              <a:pathLst>
                <a:path w="6001384" h="198119">
                  <a:moveTo>
                    <a:pt x="242989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242989" y="198120"/>
                  </a:lnTo>
                  <a:lnTo>
                    <a:pt x="242989" y="0"/>
                  </a:lnTo>
                  <a:close/>
                </a:path>
                <a:path w="6001384" h="198119">
                  <a:moveTo>
                    <a:pt x="1512747" y="0"/>
                  </a:moveTo>
                  <a:lnTo>
                    <a:pt x="962634" y="0"/>
                  </a:lnTo>
                  <a:lnTo>
                    <a:pt x="962634" y="198120"/>
                  </a:lnTo>
                  <a:lnTo>
                    <a:pt x="1512747" y="198120"/>
                  </a:lnTo>
                  <a:lnTo>
                    <a:pt x="1512747" y="0"/>
                  </a:lnTo>
                  <a:close/>
                </a:path>
                <a:path w="6001384" h="198119">
                  <a:moveTo>
                    <a:pt x="6001334" y="0"/>
                  </a:moveTo>
                  <a:lnTo>
                    <a:pt x="5185359" y="0"/>
                  </a:lnTo>
                  <a:lnTo>
                    <a:pt x="5185359" y="198120"/>
                  </a:lnTo>
                  <a:lnTo>
                    <a:pt x="6001334" y="198120"/>
                  </a:lnTo>
                  <a:lnTo>
                    <a:pt x="60013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44637" y="561737"/>
          <a:ext cx="8268970" cy="4321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25">
                          <a:latin typeface="Times New Roman"/>
                          <a:cs typeface="Times New Roman"/>
                        </a:rPr>
                        <a:t>No.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10">
                          <a:latin typeface="Times New Roman"/>
                          <a:cs typeface="Times New Roman"/>
                        </a:rPr>
                        <a:t>Method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 gridSpan="3">
                  <a:txBody>
                    <a:bodyPr vert="horz" wrap="square"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b="1" spc="-10">
                          <a:latin typeface="Times New Roman"/>
                          <a:cs typeface="Times New Roman"/>
                        </a:rPr>
                        <a:t>Description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720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1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char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charAt(int</a:t>
                      </a:r>
                      <a:r>
                        <a:rPr sz="1000" b="1" spc="-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index)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gridSpan="3"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char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value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particular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index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2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int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length()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gridSpan="3"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length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3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static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format(String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format,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Object...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args)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gridSpan="3"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formatted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string.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4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static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format(Locale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l,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format,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Object...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args)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gridSpan="3"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formatted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with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given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locale.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R="59753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5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String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substring(int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beginIndex)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gridSpan="3"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substring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given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begin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index.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2185">
                <a:tc gridSpan="3"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7CCBE"/>
                      </a:solidFill>
                      <a:prstDash val="solid"/>
                    </a:lnT>
                  </a:tcPr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 vert="horz" wrap="square"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7CCBE"/>
                      </a:solidFill>
                      <a:prstDash val="solid"/>
                    </a:lnT>
                    <a:solidFill>
                      <a:srgbClr val="D13368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7CCB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6347700" y="4016824"/>
            <a:ext cx="2411095" cy="152400"/>
          </a:xfrm>
          <a:custGeom>
            <a:rect l="l" t="t" r="r" b="b"/>
            <a:pathLst>
              <a:path w="2411095" h="152400">
                <a:moveTo>
                  <a:pt x="2410632" y="152400"/>
                </a:moveTo>
                <a:lnTo>
                  <a:pt x="0" y="152400"/>
                </a:lnTo>
                <a:lnTo>
                  <a:pt x="0" y="0"/>
                </a:lnTo>
                <a:lnTo>
                  <a:pt x="2410632" y="0"/>
                </a:lnTo>
                <a:lnTo>
                  <a:pt x="2410632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47700" y="4435924"/>
            <a:ext cx="2179955" cy="152400"/>
          </a:xfrm>
          <a:custGeom>
            <a:rect l="l" t="t" r="r" b="b"/>
            <a:pathLst>
              <a:path w="2179954" h="152400">
                <a:moveTo>
                  <a:pt x="2179419" y="152400"/>
                </a:moveTo>
                <a:lnTo>
                  <a:pt x="0" y="152400"/>
                </a:lnTo>
                <a:lnTo>
                  <a:pt x="0" y="0"/>
                </a:lnTo>
                <a:lnTo>
                  <a:pt x="2179419" y="0"/>
                </a:lnTo>
                <a:lnTo>
                  <a:pt x="2179419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47700" y="4702624"/>
            <a:ext cx="1468120" cy="152400"/>
          </a:xfrm>
          <a:custGeom>
            <a:rect l="l" t="t" r="r" b="b"/>
            <a:pathLst>
              <a:path w="1468120" h="152400">
                <a:moveTo>
                  <a:pt x="1467678" y="152400"/>
                </a:moveTo>
                <a:lnTo>
                  <a:pt x="0" y="152400"/>
                </a:lnTo>
                <a:lnTo>
                  <a:pt x="0" y="0"/>
                </a:lnTo>
                <a:lnTo>
                  <a:pt x="1467678" y="0"/>
                </a:lnTo>
                <a:lnTo>
                  <a:pt x="1467678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6937" y="87762"/>
          <a:ext cx="8740140" cy="494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6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4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6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String</a:t>
                      </a:r>
                      <a:r>
                        <a:rPr sz="1000" b="1" spc="-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substring(int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beginIndex,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int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endIndex)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substring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given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begin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index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end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index.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7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boolean</a:t>
                      </a:r>
                      <a:r>
                        <a:rPr sz="1000" b="1" spc="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contains(CharSequence</a:t>
                      </a:r>
                      <a:r>
                        <a:rPr sz="1000" b="1" spc="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2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s)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true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or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false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after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matching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sequence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char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value.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8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static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join(CharSequence</a:t>
                      </a:r>
                      <a:r>
                        <a:rPr sz="1000" b="1" spc="-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delimiter,</a:t>
                      </a:r>
                      <a:r>
                        <a:rPr sz="1000" b="1" spc="-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CharSequence...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elements)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joined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string.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50">
                          <a:latin typeface="Verdana"/>
                          <a:cs typeface="Verdana"/>
                        </a:rPr>
                        <a:t>9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static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join(CharSequence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delimiter,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Iterable&lt;?</a:t>
                      </a:r>
                      <a:r>
                        <a:rPr sz="1000" b="1" spc="-1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extends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CharSequence&gt;</a:t>
                      </a:r>
                      <a:r>
                        <a:rPr sz="1000" b="1" spc="-6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elements)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joined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string.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10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boolean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equals(Object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another)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checks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equality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with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given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object.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11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boolean</a:t>
                      </a:r>
                      <a:r>
                        <a:rPr sz="1000" b="1" spc="-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isEmpty()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checks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if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empty.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12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7"/>
                        </a:rPr>
                        <a:t>String</a:t>
                      </a:r>
                      <a:r>
                        <a:rPr sz="1000" b="1" spc="-5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7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7"/>
                        </a:rPr>
                        <a:t>concat(String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7"/>
                        </a:rPr>
                        <a:t> </a:t>
                      </a:r>
                      <a:r>
                        <a:rPr sz="1000" b="1" spc="-2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7"/>
                        </a:rPr>
                        <a:t>str)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concatenates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string.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13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String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replace(char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old,</a:t>
                      </a:r>
                      <a:r>
                        <a:rPr sz="1000" b="1" spc="-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char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 </a:t>
                      </a:r>
                      <a:r>
                        <a:rPr sz="1000" b="1" spc="-2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8"/>
                        </a:rPr>
                        <a:t>new)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replaces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all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occurrences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the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char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value.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object 2"/>
          <p:cNvGrpSpPr/>
          <p:nvPr/>
        </p:nvGrpSpPr>
        <p:grpSpPr>
          <a:xfrm>
            <a:off x="0" y="-4762"/>
            <a:ext cx="9144000" cy="5148580"/>
            <a:chOff x="0" y="-4762"/>
            <a:chExt cx="9144000" cy="5148580"/>
          </a:xfrm>
        </p:grpSpPr>
        <p:sp>
          <p:nvSpPr>
            <p:cNvPr id="3" name="object 3"/>
            <p:cNvSpPr/>
            <p:nvPr/>
          </p:nvSpPr>
          <p:spPr>
            <a:xfrm>
              <a:off x="791578" y="0"/>
              <a:ext cx="8250555" cy="4538980"/>
            </a:xfrm>
            <a:custGeom>
              <a:rect l="l" t="t" r="r" b="b"/>
              <a:pathLst>
                <a:path w="8250555" h="4538980">
                  <a:moveTo>
                    <a:pt x="9525" y="0"/>
                  </a:moveTo>
                  <a:lnTo>
                    <a:pt x="0" y="0"/>
                  </a:lnTo>
                  <a:lnTo>
                    <a:pt x="0" y="4538662"/>
                  </a:lnTo>
                  <a:lnTo>
                    <a:pt x="9525" y="4538662"/>
                  </a:lnTo>
                  <a:lnTo>
                    <a:pt x="9525" y="0"/>
                  </a:lnTo>
                  <a:close/>
                </a:path>
                <a:path w="8250555" h="4538980">
                  <a:moveTo>
                    <a:pt x="1020775" y="0"/>
                  </a:moveTo>
                  <a:lnTo>
                    <a:pt x="1011250" y="0"/>
                  </a:lnTo>
                  <a:lnTo>
                    <a:pt x="1011250" y="4538662"/>
                  </a:lnTo>
                  <a:lnTo>
                    <a:pt x="1020775" y="4538662"/>
                  </a:lnTo>
                  <a:lnTo>
                    <a:pt x="1020775" y="0"/>
                  </a:lnTo>
                  <a:close/>
                </a:path>
                <a:path w="8250555" h="4538980">
                  <a:moveTo>
                    <a:pt x="5503303" y="0"/>
                  </a:moveTo>
                  <a:lnTo>
                    <a:pt x="5493778" y="0"/>
                  </a:lnTo>
                  <a:lnTo>
                    <a:pt x="5493778" y="4538662"/>
                  </a:lnTo>
                  <a:lnTo>
                    <a:pt x="5503303" y="4538662"/>
                  </a:lnTo>
                  <a:lnTo>
                    <a:pt x="5503303" y="0"/>
                  </a:lnTo>
                  <a:close/>
                </a:path>
                <a:path w="8250555" h="4538980">
                  <a:moveTo>
                    <a:pt x="8250174" y="0"/>
                  </a:moveTo>
                  <a:lnTo>
                    <a:pt x="8240649" y="0"/>
                  </a:lnTo>
                  <a:lnTo>
                    <a:pt x="8240649" y="4538662"/>
                  </a:lnTo>
                  <a:lnTo>
                    <a:pt x="8250174" y="4538662"/>
                  </a:lnTo>
                  <a:lnTo>
                    <a:pt x="8250174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1599" y="0"/>
              <a:ext cx="8250555" cy="4533900"/>
            </a:xfrm>
            <a:custGeom>
              <a:rect l="l" t="t" r="r" b="b"/>
              <a:pathLst>
                <a:path w="8250555" h="4533900">
                  <a:moveTo>
                    <a:pt x="0" y="0"/>
                  </a:moveTo>
                  <a:lnTo>
                    <a:pt x="8250149" y="0"/>
                  </a:lnTo>
                </a:path>
                <a:path w="8250555" h="4533900">
                  <a:moveTo>
                    <a:pt x="0" y="685799"/>
                  </a:moveTo>
                  <a:lnTo>
                    <a:pt x="8250149" y="685799"/>
                  </a:lnTo>
                </a:path>
                <a:path w="8250555" h="4533900">
                  <a:moveTo>
                    <a:pt x="0" y="1371599"/>
                  </a:moveTo>
                  <a:lnTo>
                    <a:pt x="8250149" y="1371599"/>
                  </a:lnTo>
                </a:path>
                <a:path w="8250555" h="4533900">
                  <a:moveTo>
                    <a:pt x="0" y="2057399"/>
                  </a:moveTo>
                  <a:lnTo>
                    <a:pt x="8250149" y="2057399"/>
                  </a:lnTo>
                </a:path>
                <a:path w="8250555" h="4533900">
                  <a:moveTo>
                    <a:pt x="0" y="2743199"/>
                  </a:moveTo>
                  <a:lnTo>
                    <a:pt x="8250149" y="2743199"/>
                  </a:lnTo>
                </a:path>
                <a:path w="8250555" h="4533900">
                  <a:moveTo>
                    <a:pt x="0" y="3162299"/>
                  </a:moveTo>
                  <a:lnTo>
                    <a:pt x="8250149" y="3162299"/>
                  </a:lnTo>
                </a:path>
                <a:path w="8250555" h="4533900">
                  <a:moveTo>
                    <a:pt x="0" y="3848099"/>
                  </a:moveTo>
                  <a:lnTo>
                    <a:pt x="8250149" y="3848099"/>
                  </a:lnTo>
                </a:path>
                <a:path w="8250555" h="4533900">
                  <a:moveTo>
                    <a:pt x="0" y="4533899"/>
                  </a:moveTo>
                  <a:lnTo>
                    <a:pt x="8250149" y="4533899"/>
                  </a:lnTo>
                </a:path>
              </a:pathLst>
            </a:custGeom>
            <a:ln w="9524">
              <a:solidFill>
                <a:srgbClr val="C7CC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6824" y="3924300"/>
              <a:ext cx="2266315" cy="152400"/>
            </a:xfrm>
            <a:custGeom>
              <a:rect l="l" t="t" r="r" b="b"/>
              <a:pathLst>
                <a:path w="2266315" h="152400">
                  <a:moveTo>
                    <a:pt x="2265706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2265706" y="0"/>
                  </a:lnTo>
                  <a:lnTo>
                    <a:pt x="2265706" y="152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0350" y="584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14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1600" y="58420"/>
            <a:ext cx="389445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String</a:t>
            </a:r>
            <a:r>
              <a:rPr sz="1000" b="1" spc="-5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replace(CharSequence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 old,</a:t>
            </a:r>
            <a:r>
              <a:rPr sz="1000" b="1" spc="-5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CharSequence </a:t>
            </a:r>
            <a:r>
              <a:rPr sz="1000" b="1" spc="-2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new)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4124" y="58420"/>
            <a:ext cx="220472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replaces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all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occurrences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the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4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CharSequence.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0350" y="7442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15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1600" y="744220"/>
            <a:ext cx="339915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static</a:t>
            </a:r>
            <a:r>
              <a:rPr sz="1000" b="1" spc="15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String</a:t>
            </a:r>
            <a:r>
              <a:rPr sz="1000" b="1" spc="2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equalsIgnoreCase(String</a:t>
            </a:r>
            <a:r>
              <a:rPr sz="1000" b="1" spc="2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another)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4124" y="744220"/>
            <a:ext cx="199771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string.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It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>
                <a:latin typeface="Verdana"/>
                <a:cs typeface="Verdana"/>
              </a:rPr>
              <a:t>doesn't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check</a:t>
            </a:r>
            <a:r>
              <a:rPr sz="1000" b="1" spc="-4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case.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350" y="14300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1600" y="1430020"/>
            <a:ext cx="1969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String[]</a:t>
            </a:r>
            <a:r>
              <a:rPr sz="1000" b="1" spc="-50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split(String</a:t>
            </a:r>
            <a:r>
              <a:rPr sz="1000" b="1" spc="-50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regex)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44124" y="1430020"/>
            <a:ext cx="220027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split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matching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regex.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0350" y="21158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17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1600" y="2115820"/>
            <a:ext cx="2615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String[]</a:t>
            </a:r>
            <a:r>
              <a:rPr sz="1000" b="1" spc="-50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split(String</a:t>
            </a:r>
            <a:r>
              <a:rPr sz="1000" b="1" spc="-45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regex,</a:t>
            </a:r>
            <a:r>
              <a:rPr sz="1000" b="1" spc="-45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int</a:t>
            </a:r>
            <a:r>
              <a:rPr sz="1000" b="1" spc="-45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4"/>
              </a:rPr>
              <a:t>limit)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4124" y="2115820"/>
            <a:ext cx="220027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split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matching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>
                <a:latin typeface="Verdana"/>
                <a:cs typeface="Verdana"/>
              </a:rPr>
              <a:t>regex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limit.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0350" y="28016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18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61600" y="2801620"/>
            <a:ext cx="1069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5"/>
              </a:rPr>
              <a:t>String</a:t>
            </a:r>
            <a:r>
              <a:rPr sz="1000" b="1" spc="-40">
                <a:solidFill>
                  <a:srgbClr val="008000"/>
                </a:solidFill>
                <a:latin typeface="Verdana"/>
                <a:cs typeface="Verdana"/>
                <a:hlinkClick r:id="rId5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5"/>
              </a:rPr>
              <a:t>intern()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44124" y="2801620"/>
            <a:ext cx="19227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interned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string.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0350" y="32207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19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1600" y="3220720"/>
            <a:ext cx="1351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int</a:t>
            </a:r>
            <a:r>
              <a:rPr sz="1000" b="1" spc="-35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indexOf(int</a:t>
            </a:r>
            <a:r>
              <a:rPr sz="1000" b="1" spc="-35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 spc="-25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ch)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44124" y="3220720"/>
            <a:ext cx="229108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value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10">
                <a:latin typeface="Verdana"/>
                <a:cs typeface="Verdana"/>
              </a:rPr>
              <a:t>index.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0350" y="3906520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>
                <a:latin typeface="Verdana"/>
                <a:cs typeface="Verdana"/>
              </a:rPr>
              <a:t>20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61600" y="3906520"/>
            <a:ext cx="24314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int</a:t>
            </a:r>
            <a:r>
              <a:rPr sz="1000" b="1" spc="-30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indexOf(int</a:t>
            </a:r>
            <a:r>
              <a:rPr sz="1000" b="1" spc="-30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ch,</a:t>
            </a:r>
            <a:r>
              <a:rPr sz="1000" b="1" spc="-30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int</a:t>
            </a:r>
            <a:r>
              <a:rPr sz="1000" b="1" spc="-30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 </a:t>
            </a:r>
            <a:r>
              <a:rPr sz="1000" b="1" spc="-10">
                <a:solidFill>
                  <a:srgbClr val="008000"/>
                </a:solidFill>
                <a:latin typeface="Verdana"/>
                <a:cs typeface="Verdana"/>
                <a:hlinkClick r:id="rId6"/>
              </a:rPr>
              <a:t>fromIndex)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44124" y="3906520"/>
            <a:ext cx="22910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value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56824" y="4191000"/>
            <a:ext cx="2270125" cy="152400"/>
          </a:xfrm>
          <a:custGeom>
            <a:rect l="l" t="t" r="r" b="b"/>
            <a:pathLst>
              <a:path w="2270125" h="152400">
                <a:moveTo>
                  <a:pt x="2269982" y="152400"/>
                </a:moveTo>
                <a:lnTo>
                  <a:pt x="0" y="152400"/>
                </a:lnTo>
                <a:lnTo>
                  <a:pt x="0" y="0"/>
                </a:lnTo>
                <a:lnTo>
                  <a:pt x="2269982" y="0"/>
                </a:lnTo>
                <a:lnTo>
                  <a:pt x="2269982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44124" y="4173220"/>
            <a:ext cx="2294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index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starting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with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given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index.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137" y="90487"/>
          <a:ext cx="8691245" cy="3881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21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int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indexOf(String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substring)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substring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index.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22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int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indexOf(String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substring,</a:t>
                      </a:r>
                      <a:r>
                        <a:rPr sz="1000" b="1" spc="-4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000" b="1" spc="-2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int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2"/>
                        </a:rPr>
                        <a:t>fromIndex)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substring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index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starting</a:t>
                      </a:r>
                      <a:r>
                        <a:rPr sz="10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with</a:t>
                      </a:r>
                      <a:r>
                        <a:rPr sz="10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given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index.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23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String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toLowerCase()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lowercase.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24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String</a:t>
                      </a:r>
                      <a:r>
                        <a:rPr sz="1000" b="1" spc="2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toLowerCase(Locale</a:t>
                      </a:r>
                      <a:r>
                        <a:rPr sz="1000" b="1" spc="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 </a:t>
                      </a:r>
                      <a:r>
                        <a:rPr sz="1000" b="1" spc="-2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3"/>
                        </a:rPr>
                        <a:t>l)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lowercase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using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locale.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25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toUpperCase()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uppercase.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26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String</a:t>
                      </a:r>
                      <a:r>
                        <a:rPr sz="1000" b="1" spc="2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toUpperCase(Locale</a:t>
                      </a:r>
                      <a:r>
                        <a:rPr sz="1000" b="1" spc="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 </a:t>
                      </a:r>
                      <a:r>
                        <a:rPr sz="1000" b="1" spc="-2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4"/>
                        </a:rPr>
                        <a:t>l)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uppercase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using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locale.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27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String</a:t>
                      </a:r>
                      <a:r>
                        <a:rPr sz="1000" b="1" spc="-3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5"/>
                        </a:rPr>
                        <a:t>trim()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removes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beginning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ending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spaces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of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this</a:t>
                      </a:r>
                      <a:r>
                        <a:rPr sz="10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string.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165">
                <a:tc>
                  <a:txBody>
                    <a:bodyPr vert="horz" wrap="square"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spc="-25">
                          <a:latin typeface="Verdana"/>
                          <a:cs typeface="Verdana"/>
                        </a:rPr>
                        <a:t>28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static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String</a:t>
                      </a:r>
                      <a:r>
                        <a:rPr sz="1000" b="1" spc="-4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 </a:t>
                      </a:r>
                      <a:r>
                        <a:rPr sz="1000" b="1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valueOf(int</a:t>
                      </a:r>
                      <a:r>
                        <a:rPr sz="1000" b="1" spc="-35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 </a:t>
                      </a:r>
                      <a:r>
                        <a:rPr sz="1000" b="1" spc="-10">
                          <a:solidFill>
                            <a:srgbClr val="008000"/>
                          </a:solidFill>
                          <a:latin typeface="Verdana"/>
                          <a:cs typeface="Verdana"/>
                          <a:hlinkClick r:id="rId6"/>
                        </a:rPr>
                        <a:t>value)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>
                          <a:latin typeface="Verdana"/>
                          <a:cs typeface="Verdana"/>
                        </a:rPr>
                        <a:t>converts</a:t>
                      </a:r>
                      <a:r>
                        <a:rPr sz="10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given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type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into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string.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It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>
                          <a:latin typeface="Verdana"/>
                          <a:cs typeface="Verdana"/>
                        </a:rPr>
                        <a:t>an</a:t>
                      </a:r>
                      <a:r>
                        <a:rPr sz="1000" b="1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>
                          <a:latin typeface="Verdana"/>
                          <a:cs typeface="Verdana"/>
                        </a:rPr>
                        <a:t>overloaded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b="1" spc="-10">
                          <a:latin typeface="Verdana"/>
                          <a:cs typeface="Verdana"/>
                        </a:rPr>
                        <a:t>method.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5888990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Testimmutablestring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>
              <a:lnSpc>
                <a:spcPct val="100000"/>
              </a:lnSpc>
              <a:spcBef>
                <a:spcPts val="975"/>
              </a:spcBef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508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s.concat(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000" b="1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Tendulkar"</a:t>
            </a:r>
            <a:r>
              <a:rPr sz="1000" b="1" spc="-10">
                <a:latin typeface="Verdana"/>
                <a:cs typeface="Verdana"/>
              </a:rPr>
              <a:t>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//concat()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method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appends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string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at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000" b="1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25">
                <a:solidFill>
                  <a:srgbClr val="008200"/>
                </a:solidFill>
                <a:latin typeface="Verdana"/>
                <a:cs typeface="Verdana"/>
              </a:rPr>
              <a:t>end </a:t>
            </a:r>
            <a:r>
              <a:rPr sz="1000" b="1" spc="-10">
                <a:latin typeface="Verdana"/>
                <a:cs typeface="Verdana"/>
              </a:rPr>
              <a:t>System.out.println(s);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//will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print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Sachin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because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strings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are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immutable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objects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4060070"/>
            <a:ext cx="483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Arial"/>
                <a:cs typeface="Arial"/>
              </a:rPr>
              <a:t>Output: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256" y="4060070"/>
            <a:ext cx="4413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Arial"/>
                <a:cs typeface="Arial"/>
              </a:rPr>
              <a:t>Sachin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/>
              <a:t>String</a:t>
            </a:r>
            <a:r>
              <a:rPr sz="1900" spc="-75"/>
              <a:t> </a:t>
            </a:r>
            <a:r>
              <a:rPr sz="1900"/>
              <a:t>compare</a:t>
            </a:r>
            <a:r>
              <a:rPr sz="1900" spc="-70"/>
              <a:t> </a:t>
            </a:r>
            <a:r>
              <a:rPr sz="1900"/>
              <a:t>by</a:t>
            </a:r>
            <a:r>
              <a:rPr sz="1900" spc="-75"/>
              <a:t> </a:t>
            </a:r>
            <a:r>
              <a:rPr sz="1900"/>
              <a:t>equals()</a:t>
            </a:r>
            <a:r>
              <a:rPr sz="1900" spc="-70"/>
              <a:t> </a:t>
            </a:r>
            <a:r>
              <a:rPr sz="1900" spc="-10"/>
              <a:t>method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8119109" cy="106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equals()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original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content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string.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values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for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equality.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class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provides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two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methods: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boolean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equals(Object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another)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this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object.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 MT"/>
              <a:buChar char="●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public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boolean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equalsIgnoreCase(String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another)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this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another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string,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ignoring</a:t>
            </a:r>
            <a:r>
              <a:rPr sz="1000" b="1" spc="-1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case.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646" y="2674881"/>
            <a:ext cx="901700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434343"/>
                </a:solidFill>
                <a:latin typeface="Roboto"/>
                <a:cs typeface="Roboto"/>
              </a:rPr>
              <a:t>Hello</a:t>
            </a:r>
            <a:r>
              <a:rPr sz="1800" b="1" spc="1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spc="-50">
                <a:solidFill>
                  <a:srgbClr val="434343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spc="-10">
                <a:solidFill>
                  <a:srgbClr val="434343"/>
                </a:solidFill>
                <a:latin typeface="Roboto"/>
                <a:cs typeface="Roboto"/>
              </a:rPr>
              <a:t>HELLO</a:t>
            </a:r>
            <a:r>
              <a:rPr sz="1800" b="1" spc="-7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spc="-50">
                <a:solidFill>
                  <a:srgbClr val="434343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marL="69215">
              <a:lnSpc>
                <a:spcPct val="100000"/>
              </a:lnSpc>
              <a:spcBef>
                <a:spcPts val="1890"/>
              </a:spcBef>
            </a:pPr>
            <a:r>
              <a:rPr sz="1800" b="1">
                <a:solidFill>
                  <a:srgbClr val="434343"/>
                </a:solidFill>
                <a:latin typeface="Roboto"/>
                <a:cs typeface="Roboto"/>
              </a:rPr>
              <a:t>hello</a:t>
            </a:r>
            <a:r>
              <a:rPr sz="1800" b="1" spc="1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spc="-50">
                <a:solidFill>
                  <a:srgbClr val="434343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399970"/>
            <a:ext cx="3172460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Teststringcomparison1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 marR="1594485">
              <a:lnSpc>
                <a:spcPct val="1812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s1=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s2=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68072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s3=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String(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);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s4=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"Saurav"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5080" algn="just">
              <a:lnSpc>
                <a:spcPct val="181300"/>
              </a:lnSpc>
            </a:pPr>
            <a:r>
              <a:rPr sz="1000" b="1" spc="-10">
                <a:latin typeface="Verdana"/>
                <a:cs typeface="Verdana"/>
              </a:rPr>
              <a:t>System.out.println(s1.equals(s2));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//true </a:t>
            </a:r>
            <a:r>
              <a:rPr sz="1000" b="1" spc="-10">
                <a:latin typeface="Verdana"/>
                <a:cs typeface="Verdana"/>
              </a:rPr>
              <a:t>System.out.println(s1.equals(s3));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//true </a:t>
            </a:r>
            <a:r>
              <a:rPr sz="1000" b="1" spc="-10">
                <a:latin typeface="Verdana"/>
                <a:cs typeface="Verdana"/>
              </a:rPr>
              <a:t>System.out.println(s1.equals(s4));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//false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5200" y="363220"/>
            <a:ext cx="399224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Teststringcomparison1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 marR="241427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s1=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s2=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149987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s3=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String(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);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s4=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"Saurav"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5080">
              <a:lnSpc>
                <a:spcPct val="181300"/>
              </a:lnSpc>
            </a:pPr>
            <a:r>
              <a:rPr sz="1000" b="1" spc="-10">
                <a:latin typeface="Verdana"/>
                <a:cs typeface="Verdana"/>
              </a:rPr>
              <a:t>System.out.println(s1.equalsIgnoreCase(s2));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//true </a:t>
            </a:r>
            <a:r>
              <a:rPr sz="1000" b="1" spc="-10">
                <a:latin typeface="Verdana"/>
                <a:cs typeface="Verdana"/>
              </a:rPr>
              <a:t>System.out.println(s1.equals(s2));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//false </a:t>
            </a:r>
            <a:r>
              <a:rPr sz="1000" b="1" spc="-10">
                <a:latin typeface="Verdana"/>
                <a:cs typeface="Verdana"/>
              </a:rPr>
              <a:t>System.out.println(s1.equalsIgnoreCase(s3));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//true </a:t>
            </a:r>
            <a:r>
              <a:rPr sz="1000" b="1" spc="-10">
                <a:latin typeface="Verdana"/>
                <a:cs typeface="Verdana"/>
              </a:rPr>
              <a:t>System.out.println(s1.equalsIgnoreCase(s4));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//false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69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5200" y="3954145"/>
            <a:ext cx="116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String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compare</a:t>
            </a:r>
            <a:r>
              <a:rPr sz="1900" b="1" spc="-5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by</a:t>
            </a:r>
            <a:r>
              <a:rPr sz="1900" b="1" spc="-50">
                <a:latin typeface="Arial"/>
                <a:cs typeface="Arial"/>
              </a:rPr>
              <a:t> </a:t>
            </a:r>
            <a:r>
              <a:rPr sz="1900" b="1" spc="-25">
                <a:latin typeface="Arial"/>
                <a:cs typeface="Arial"/>
              </a:rPr>
              <a:t>compareTo()</a:t>
            </a:r>
            <a:r>
              <a:rPr sz="1900" b="1" spc="-5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method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99420"/>
            <a:ext cx="8083550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compareTo()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compares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values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lexicographically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integer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value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that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describes</a:t>
            </a:r>
            <a:r>
              <a:rPr sz="1000" b="1" spc="-25">
                <a:latin typeface="Verdana"/>
                <a:cs typeface="Verdana"/>
              </a:rPr>
              <a:t> if </a:t>
            </a:r>
            <a:r>
              <a:rPr sz="1000" b="1">
                <a:latin typeface="Verdana"/>
                <a:cs typeface="Verdana"/>
              </a:rPr>
              <a:t>first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less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than,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equal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greater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than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second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string.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 b="1">
                <a:latin typeface="Verdana"/>
                <a:cs typeface="Verdana"/>
              </a:rPr>
              <a:t>Suppose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s1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and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s2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are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two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variables.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If: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/>
              </a:tabLst>
            </a:pPr>
            <a:r>
              <a:rPr sz="1000" b="1">
                <a:latin typeface="Verdana"/>
                <a:cs typeface="Verdana"/>
              </a:rPr>
              <a:t>s1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==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s2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 spc="-35">
                <a:latin typeface="Verdana"/>
                <a:cs typeface="Verdana"/>
              </a:rPr>
              <a:t>:0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 MT"/>
              <a:buChar char="●"/>
              <a:tabLst>
                <a:tab pos="469265"/>
                <a:tab pos="1127125"/>
              </a:tabLst>
            </a:pPr>
            <a:r>
              <a:rPr sz="1000" b="1">
                <a:latin typeface="Verdana"/>
                <a:cs typeface="Verdana"/>
              </a:rPr>
              <a:t>s1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&gt;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s2</a:t>
            </a:r>
            <a:r>
              <a:rPr sz="1000" b="1">
                <a:latin typeface="Verdana"/>
                <a:cs typeface="Verdana"/>
              </a:rPr>
              <a:t>	:positive</a:t>
            </a:r>
            <a:r>
              <a:rPr sz="1000" b="1" spc="-45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value</a:t>
            </a:r>
            <a:endParaRPr sz="1000">
              <a:latin typeface="Verdana"/>
              <a:cs typeface="Verdana"/>
            </a:endParaRPr>
          </a:p>
          <a:p>
            <a:pPr marL="469265" indent="-304800">
              <a:lnSpc>
                <a:spcPct val="100000"/>
              </a:lnSpc>
              <a:spcBef>
                <a:spcPts val="675"/>
              </a:spcBef>
              <a:buFont typeface="Arial MT"/>
              <a:buChar char="●"/>
              <a:tabLst>
                <a:tab pos="469265"/>
                <a:tab pos="1127125"/>
              </a:tabLst>
            </a:pPr>
            <a:r>
              <a:rPr sz="1000" b="1">
                <a:latin typeface="Verdana"/>
                <a:cs typeface="Verdana"/>
              </a:rPr>
              <a:t>s1</a:t>
            </a:r>
            <a:r>
              <a:rPr sz="1000" b="1" spc="-1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&lt;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s2</a:t>
            </a:r>
            <a:r>
              <a:rPr sz="1000" b="1">
                <a:latin typeface="Verdana"/>
                <a:cs typeface="Verdana"/>
              </a:rPr>
              <a:t>	:negative</a:t>
            </a:r>
            <a:r>
              <a:rPr sz="1000" b="1" spc="-45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value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4641215" cy="321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Teststringcomparison4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 marR="3063240" algn="just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s1=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s2=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000" b="1" spc="-10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s3=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"Ratan"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42240" marR="5080">
              <a:lnSpc>
                <a:spcPct val="181300"/>
              </a:lnSpc>
            </a:pPr>
            <a:r>
              <a:rPr sz="1000" b="1" spc="-10">
                <a:latin typeface="Verdana"/>
                <a:cs typeface="Verdana"/>
              </a:rPr>
              <a:t>System.out.println(s1.compareTo(s2));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//0 </a:t>
            </a:r>
            <a:r>
              <a:rPr sz="1000" b="1" spc="-10">
                <a:latin typeface="Verdana"/>
                <a:cs typeface="Verdana"/>
              </a:rPr>
              <a:t>System.out.println(s1.compareTo(s3));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//1(because</a:t>
            </a:r>
            <a:r>
              <a:rPr sz="1000" b="1" spc="2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s1&gt;s3) </a:t>
            </a:r>
            <a:r>
              <a:rPr sz="1000" b="1" spc="-10">
                <a:latin typeface="Verdana"/>
                <a:cs typeface="Verdana"/>
              </a:rPr>
              <a:t>System.out.println(s3.compareTo(s1));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//-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1(because</a:t>
            </a:r>
            <a:r>
              <a:rPr sz="1000" b="1" spc="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s3</a:t>
            </a:r>
            <a:r>
              <a:rPr sz="1000" b="1" spc="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&lt;</a:t>
            </a:r>
            <a:r>
              <a:rPr sz="1000" b="1" spc="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s1</a:t>
            </a:r>
            <a:r>
              <a:rPr sz="1000" b="1" spc="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50">
                <a:solidFill>
                  <a:srgbClr val="00820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69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5150" y="1877345"/>
            <a:ext cx="848360" cy="126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 marR="368935" indent="-246379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Arial"/>
                <a:cs typeface="Arial"/>
              </a:rPr>
              <a:t>Output: </a:t>
            </a:r>
            <a:r>
              <a:rPr sz="1000" b="1" spc="-5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</a:pPr>
            <a:r>
              <a:rPr sz="1000" b="1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58445">
              <a:lnSpc>
                <a:spcPts val="1190"/>
              </a:lnSpc>
            </a:pPr>
            <a:r>
              <a:rPr sz="1000" b="1" spc="-10">
                <a:latin typeface="Arial"/>
                <a:cs typeface="Arial"/>
              </a:rPr>
              <a:t>-</a:t>
            </a:r>
            <a:r>
              <a:rPr sz="1000" b="1" spc="-6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2700" marR="5080" indent="88265">
              <a:lnSpc>
                <a:spcPts val="1650"/>
              </a:lnSpc>
              <a:spcBef>
                <a:spcPts val="70"/>
              </a:spcBef>
              <a:tabLst>
                <a:tab pos="732790"/>
              </a:tabLst>
            </a:pPr>
            <a:r>
              <a:rPr sz="1400" b="1" spc="-10">
                <a:latin typeface="Roboto"/>
                <a:cs typeface="Roboto"/>
              </a:rPr>
              <a:t>Sachin </a:t>
            </a:r>
            <a:r>
              <a:rPr sz="1400" b="1" spc="-10">
                <a:solidFill>
                  <a:srgbClr val="FF9900"/>
                </a:solidFill>
                <a:latin typeface="Roboto"/>
                <a:cs typeface="Roboto"/>
              </a:rPr>
              <a:t>Sachon Sachin</a:t>
            </a:r>
            <a:r>
              <a:rPr sz="1400" b="1">
                <a:solidFill>
                  <a:srgbClr val="FF9900"/>
                </a:solidFill>
                <a:latin typeface="Roboto"/>
                <a:cs typeface="Roboto"/>
              </a:rPr>
              <a:t>	</a:t>
            </a:r>
            <a:r>
              <a:rPr sz="1400" b="1" spc="-50">
                <a:solidFill>
                  <a:srgbClr val="FF9900"/>
                </a:solidFill>
                <a:latin typeface="Roboto"/>
                <a:cs typeface="Roboto"/>
              </a:rPr>
              <a:t>6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5150" y="3363245"/>
            <a:ext cx="17735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Verdana"/>
                <a:cs typeface="Verdana"/>
              </a:rPr>
              <a:t>compareToIgnoreCase()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625" y="312847"/>
            <a:ext cx="37179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610B4B"/>
                </a:solidFill>
              </a:rPr>
              <a:t>String</a:t>
            </a:r>
            <a:r>
              <a:rPr sz="1600" spc="-45">
                <a:solidFill>
                  <a:srgbClr val="610B4B"/>
                </a:solidFill>
              </a:rPr>
              <a:t> </a:t>
            </a:r>
            <a:r>
              <a:rPr sz="1600">
                <a:solidFill>
                  <a:srgbClr val="610B4B"/>
                </a:solidFill>
              </a:rPr>
              <a:t>Concatenation</a:t>
            </a:r>
            <a:r>
              <a:rPr sz="1600" spc="-40">
                <a:solidFill>
                  <a:srgbClr val="610B4B"/>
                </a:solidFill>
              </a:rPr>
              <a:t> </a:t>
            </a:r>
            <a:r>
              <a:rPr sz="1600">
                <a:solidFill>
                  <a:srgbClr val="610B4B"/>
                </a:solidFill>
              </a:rPr>
              <a:t>by</a:t>
            </a:r>
            <a:r>
              <a:rPr sz="1600" spc="-40">
                <a:solidFill>
                  <a:srgbClr val="610B4B"/>
                </a:solidFill>
              </a:rPr>
              <a:t> </a:t>
            </a:r>
            <a:r>
              <a:rPr sz="1600">
                <a:solidFill>
                  <a:srgbClr val="610B4B"/>
                </a:solidFill>
              </a:rPr>
              <a:t>concat()</a:t>
            </a:r>
            <a:r>
              <a:rPr sz="1600" spc="-40">
                <a:solidFill>
                  <a:srgbClr val="610B4B"/>
                </a:solidFill>
              </a:rPr>
              <a:t> </a:t>
            </a:r>
            <a:r>
              <a:rPr sz="1600" spc="-10">
                <a:solidFill>
                  <a:srgbClr val="610B4B"/>
                </a:solidFill>
              </a:rPr>
              <a:t>method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329625" y="928820"/>
            <a:ext cx="7023734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concat()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concatenates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specified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end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current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string.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Syntax: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concat(String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another)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625" y="1544770"/>
            <a:ext cx="3724910" cy="321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Example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TestStringConcatenation3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42240" marR="178562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s1=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"Sachin</a:t>
            </a:r>
            <a:r>
              <a:rPr sz="1000" b="1" spc="-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25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000" b="1" spc="-25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s2=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"Tendulkar"</a:t>
            </a:r>
            <a:r>
              <a:rPr sz="1000" b="1" spc="-10">
                <a:latin typeface="Verdana"/>
                <a:cs typeface="Verdana"/>
              </a:rPr>
              <a:t>;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4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s3=s1.concat(s2);</a:t>
            </a:r>
            <a:endParaRPr sz="1000">
              <a:latin typeface="Verdana"/>
              <a:cs typeface="Verdana"/>
            </a:endParaRPr>
          </a:p>
          <a:p>
            <a:pPr marL="142240">
              <a:lnSpc>
                <a:spcPct val="100000"/>
              </a:lnSpc>
              <a:spcBef>
                <a:spcPts val="975"/>
              </a:spcBef>
              <a:tabLst>
                <a:tab pos="447675"/>
                <a:tab pos="2408555"/>
              </a:tabLst>
            </a:pPr>
            <a:r>
              <a:rPr sz="1000" b="1" spc="-25">
                <a:solidFill>
                  <a:srgbClr val="0000FF"/>
                </a:solidFill>
                <a:latin typeface="Verdana"/>
                <a:cs typeface="Verdana"/>
              </a:rPr>
              <a:t>//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	String</a:t>
            </a:r>
            <a:r>
              <a:rPr sz="1000" b="1" spc="-4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s3=s2.concat(s1);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	//</a:t>
            </a:r>
            <a:r>
              <a:rPr sz="1000" b="1" spc="-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Arial"/>
                <a:cs typeface="Arial"/>
              </a:rPr>
              <a:t>Tendulkar</a:t>
            </a:r>
            <a:r>
              <a:rPr sz="1000" b="1" spc="19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spc="-10">
                <a:solidFill>
                  <a:srgbClr val="0000FF"/>
                </a:solidFill>
                <a:latin typeface="Arial"/>
                <a:cs typeface="Arial"/>
              </a:rPr>
              <a:t>Sachin</a:t>
            </a:r>
            <a:endParaRPr sz="1000">
              <a:latin typeface="Arial"/>
              <a:cs typeface="Arial"/>
            </a:endParaRPr>
          </a:p>
          <a:p>
            <a:pPr marL="14224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System.out.println(s3);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//Sachin</a:t>
            </a:r>
            <a:r>
              <a:rPr sz="1000" b="1" spc="15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Tendulkar</a:t>
            </a:r>
            <a:endParaRPr sz="1000">
              <a:latin typeface="Verdana"/>
              <a:cs typeface="Verdana"/>
            </a:endParaRPr>
          </a:p>
          <a:p>
            <a:pPr marL="9906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5150" y="1967163"/>
            <a:ext cx="8058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Roboto"/>
                <a:cs typeface="Roboto"/>
              </a:rPr>
              <a:t>OUTPUT</a:t>
            </a:r>
            <a:r>
              <a:rPr sz="1400" b="1" spc="-20">
                <a:latin typeface="Roboto"/>
                <a:cs typeface="Roboto"/>
              </a:rPr>
              <a:t> </a:t>
            </a:r>
            <a:r>
              <a:rPr sz="1400" b="1" spc="-50">
                <a:latin typeface="Roboto"/>
                <a:cs typeface="Roboto"/>
              </a:rPr>
              <a:t>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5150" y="2388295"/>
            <a:ext cx="1073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Arial"/>
                <a:cs typeface="Arial"/>
              </a:rPr>
              <a:t>Sachin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Tendulkar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80"/>
              <a:t> </a:t>
            </a:r>
            <a:r>
              <a:rPr/>
              <a:t>String</a:t>
            </a:r>
            <a:r>
              <a:rPr spc="-75"/>
              <a:t> </a:t>
            </a:r>
            <a:r>
              <a:rPr spc="-10"/>
              <a:t>toLowerCase()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4820"/>
            <a:ext cx="6202680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java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toLowerCase()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returns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lowercase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letter.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000" b="1">
                <a:latin typeface="Verdana"/>
                <a:cs typeface="Verdana"/>
              </a:rPr>
              <a:t>In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other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words,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converts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all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characters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of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into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lower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case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letter.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200000"/>
              </a:lnSpc>
            </a:pP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toLowerCase()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works same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as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toLowerCase(Locale.getDefault())</a:t>
            </a:r>
            <a:r>
              <a:rPr sz="1000" b="1" spc="-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method. </a:t>
            </a:r>
            <a:r>
              <a:rPr sz="1000" b="1">
                <a:latin typeface="Verdana"/>
                <a:cs typeface="Verdana"/>
              </a:rPr>
              <a:t>It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internally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uses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default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locale.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834000" y="1290070"/>
            <a:ext cx="2708275" cy="266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StringLowerExample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args[])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5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s1=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"JAVACLASS</a:t>
            </a:r>
            <a:r>
              <a:rPr sz="1000" b="1" spc="-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stARTING"</a:t>
            </a:r>
            <a:r>
              <a:rPr sz="1000" b="1" spc="-10">
                <a:latin typeface="Verdana"/>
                <a:cs typeface="Verdana"/>
              </a:rPr>
              <a:t>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s1lower=s1.toLowerCase();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81300"/>
              </a:lnSpc>
            </a:pPr>
            <a:r>
              <a:rPr sz="1000" b="1">
                <a:latin typeface="Verdana"/>
                <a:cs typeface="Verdana"/>
              </a:rPr>
              <a:t>//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String</a:t>
            </a:r>
            <a:r>
              <a:rPr sz="1000" b="1" spc="-2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s1lower=s1.toUpperCase(); System.out.println(s1lower);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0015" y="2947420"/>
            <a:ext cx="26517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Verdana"/>
                <a:cs typeface="Verdana"/>
              </a:rPr>
              <a:t>//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Make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all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the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character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upper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 spc="-20">
                <a:latin typeface="Verdana"/>
                <a:cs typeface="Verdana"/>
              </a:rPr>
              <a:t>case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6725" y="1737562"/>
            <a:ext cx="745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Roboto"/>
                <a:cs typeface="Roboto"/>
              </a:rPr>
              <a:t>OUTPUT: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6725" y="2156663"/>
            <a:ext cx="141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>
                <a:latin typeface="Roboto"/>
                <a:cs typeface="Roboto"/>
              </a:rPr>
              <a:t>javaclass</a:t>
            </a:r>
            <a:r>
              <a:rPr sz="1400" spc="-45">
                <a:latin typeface="Roboto"/>
                <a:cs typeface="Roboto"/>
              </a:rPr>
              <a:t> </a:t>
            </a:r>
            <a:r>
              <a:rPr sz="1400" spc="-10">
                <a:latin typeface="Roboto"/>
                <a:cs typeface="Roboto"/>
              </a:rPr>
              <a:t>starting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trim()</a:t>
            </a:r>
            <a:r>
              <a:rPr sz="16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421" y="1437542"/>
            <a:ext cx="6327140" cy="134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trim()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method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eliminates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white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spaces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before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and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after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string.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s=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3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Sachin</a:t>
            </a:r>
            <a:r>
              <a:rPr sz="1200" b="1" spc="3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25">
                <a:solidFill>
                  <a:srgbClr val="0000FF"/>
                </a:solidFill>
                <a:latin typeface="Verdana"/>
                <a:cs typeface="Verdana"/>
              </a:rPr>
              <a:t>"</a:t>
            </a:r>
            <a:r>
              <a:rPr sz="1200" b="1" spc="-25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12700" marR="3815715">
              <a:lnSpc>
                <a:spcPct val="218699"/>
              </a:lnSpc>
            </a:pPr>
            <a:r>
              <a:rPr sz="1200" b="1" spc="-10">
                <a:latin typeface="Verdana"/>
                <a:cs typeface="Verdana"/>
              </a:rPr>
              <a:t>System.out.println(s); System.out.println(s.trim());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8211" y="3778533"/>
            <a:ext cx="582295" cy="53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Arial"/>
                <a:cs typeface="Arial"/>
              </a:rPr>
              <a:t>Sachin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</a:pPr>
            <a:r>
              <a:rPr sz="1000" b="1" spc="-10">
                <a:latin typeface="Arial"/>
                <a:cs typeface="Arial"/>
              </a:rPr>
              <a:t>Sachin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652696"/>
            <a:ext cx="11518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startsWith()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17275" y="652696"/>
            <a:ext cx="26168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080"/>
              </a:tabLst>
            </a:pP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and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	endsWith()</a:t>
            </a:r>
            <a:r>
              <a:rPr sz="1600" b="1" spc="-7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334904"/>
            <a:ext cx="3499485" cy="85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8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s=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64135" marR="5080">
              <a:lnSpc>
                <a:spcPct val="177100"/>
              </a:lnSpc>
            </a:pPr>
            <a:r>
              <a:rPr sz="1200" b="1" spc="-10">
                <a:latin typeface="Verdana"/>
                <a:cs typeface="Verdana"/>
              </a:rPr>
              <a:t>System.out.println(s.startsWith(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"Sa"</a:t>
            </a:r>
            <a:r>
              <a:rPr sz="1200" b="1" spc="-10">
                <a:latin typeface="Verdana"/>
                <a:cs typeface="Verdana"/>
              </a:rPr>
              <a:t>)); System.out.println(s.endsWith(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"n"</a:t>
            </a:r>
            <a:r>
              <a:rPr sz="1200" b="1" spc="-10">
                <a:latin typeface="Verdana"/>
                <a:cs typeface="Verdana"/>
              </a:rPr>
              <a:t>));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5" y="2954153"/>
            <a:ext cx="313690" cy="53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latin typeface="Arial"/>
                <a:cs typeface="Arial"/>
              </a:rPr>
              <a:t>true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20">
                <a:latin typeface="Arial"/>
                <a:cs typeface="Arial"/>
              </a:rPr>
              <a:t>true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charAt()</a:t>
            </a:r>
            <a:r>
              <a:rPr sz="1600" b="1" spc="-7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23804"/>
            <a:ext cx="5694680" cy="134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charAt()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method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returns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character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at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specified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index.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8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s=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12700" marR="2868295">
              <a:lnSpc>
                <a:spcPct val="218699"/>
              </a:lnSpc>
            </a:pPr>
            <a:r>
              <a:rPr sz="1200" b="1" spc="-10">
                <a:latin typeface="Verdana"/>
                <a:cs typeface="Verdana"/>
              </a:rPr>
              <a:t>System.out.println(s.charAt(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200" b="1" spc="-10">
                <a:latin typeface="Verdana"/>
                <a:cs typeface="Verdana"/>
              </a:rPr>
              <a:t>)); System.out.println(s.charAt(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200" b="1" spc="-10">
                <a:latin typeface="Verdana"/>
                <a:cs typeface="Verdana"/>
              </a:rPr>
              <a:t>));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363729"/>
            <a:ext cx="127635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length()</a:t>
            </a:r>
            <a:r>
              <a:rPr sz="1600" b="1" spc="-6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23804"/>
            <a:ext cx="4801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length()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method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returns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length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of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string.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911" y="1660658"/>
            <a:ext cx="3096260" cy="59690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04495" indent="-391795">
              <a:lnSpc>
                <a:spcPct val="100000"/>
              </a:lnSpc>
              <a:spcBef>
                <a:spcPts val="9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String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s=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"Sachin"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 spc="-10">
                <a:latin typeface="Verdana"/>
                <a:cs typeface="Verdana"/>
              </a:rPr>
              <a:t>System.out.println(s.length());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2920" y="2049278"/>
            <a:ext cx="343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>
                <a:solidFill>
                  <a:srgbClr val="008200"/>
                </a:solidFill>
                <a:latin typeface="Verdana"/>
                <a:cs typeface="Verdana"/>
              </a:rPr>
              <a:t>//6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13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Java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StringBuffer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275" y="1087884"/>
            <a:ext cx="823595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J</a:t>
            </a:r>
            <a:r>
              <a:rPr sz="1200">
                <a:latin typeface="Verdana"/>
                <a:cs typeface="Verdana"/>
              </a:rPr>
              <a:t>ava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StringBuffer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create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mutable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(modifiable)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StringBuffer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same </a:t>
            </a:r>
            <a:r>
              <a:rPr sz="1200">
                <a:latin typeface="Verdana"/>
                <a:cs typeface="Verdana"/>
              </a:rPr>
              <a:t>as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except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mutable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i.e.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can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changed.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b="1">
                <a:latin typeface="Times New Roman"/>
                <a:cs typeface="Times New Roman"/>
              </a:rPr>
              <a:t>Constructor</a:t>
            </a:r>
            <a:r>
              <a:rPr sz="1200" b="1" spc="-5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of</a:t>
            </a:r>
            <a:r>
              <a:rPr sz="1200" b="1" spc="-30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StringBuffer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200" spc="-10">
                <a:latin typeface="Verdana"/>
                <a:cs typeface="Verdana"/>
              </a:rPr>
              <a:t>StringBuffer()</a:t>
            </a:r>
            <a:endParaRPr sz="1200">
              <a:latin typeface="Verdana"/>
              <a:cs typeface="Verdana"/>
            </a:endParaRPr>
          </a:p>
          <a:p>
            <a:pPr marL="203200" marR="3363595">
              <a:lnSpc>
                <a:spcPct val="171900"/>
              </a:lnSpc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empty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buffer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initial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capacity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16. </a:t>
            </a:r>
            <a:r>
              <a:rPr sz="1200" spc="-10">
                <a:latin typeface="Verdana"/>
                <a:cs typeface="Verdana"/>
              </a:rPr>
              <a:t>StringBuffer(String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str)</a:t>
            </a:r>
            <a:endParaRPr sz="1200">
              <a:latin typeface="Verdana"/>
              <a:cs typeface="Verdana"/>
            </a:endParaRPr>
          </a:p>
          <a:p>
            <a:pPr marL="203200" marR="4382135">
              <a:lnSpc>
                <a:spcPct val="171900"/>
              </a:lnSpc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buffer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string. StringBuffer(int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capacity)</a:t>
            </a:r>
            <a:endParaRPr sz="12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035"/>
              </a:spcBef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empty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buffer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capacity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length.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Java</a:t>
            </a:r>
            <a:r>
              <a:rPr b="1" spc="-7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StringBuilder</a:t>
            </a:r>
            <a:r>
              <a:rPr b="1" spc="-7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70134"/>
            <a:ext cx="820356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J</a:t>
            </a:r>
            <a:r>
              <a:rPr sz="1200">
                <a:latin typeface="Verdana"/>
                <a:cs typeface="Verdana"/>
              </a:rPr>
              <a:t>ava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StringBuilder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create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mutable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(modifiable)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string.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Java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StringBuilder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same </a:t>
            </a:r>
            <a:r>
              <a:rPr sz="1200">
                <a:latin typeface="Verdana"/>
                <a:cs typeface="Verdana"/>
              </a:rPr>
              <a:t>as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StringBuffer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except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that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non-</a:t>
            </a:r>
            <a:r>
              <a:rPr sz="1200" spc="-10">
                <a:latin typeface="Verdana"/>
                <a:cs typeface="Verdana"/>
              </a:rPr>
              <a:t>synchronized.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available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since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JDK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1.5.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spc="-10">
                <a:latin typeface="Times New Roman"/>
                <a:cs typeface="Times New Roman"/>
              </a:rPr>
              <a:t>Constructor</a:t>
            </a:r>
            <a:r>
              <a:rPr sz="1500" b="1" spc="-4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of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StringBuilder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310"/>
              </a:spcBef>
            </a:pPr>
            <a:r>
              <a:rPr sz="1200" spc="-10">
                <a:latin typeface="Verdana"/>
                <a:cs typeface="Verdana"/>
              </a:rPr>
              <a:t>StringBuilder()</a:t>
            </a:r>
            <a:endParaRPr sz="1200">
              <a:latin typeface="Verdana"/>
              <a:cs typeface="Verdana"/>
            </a:endParaRPr>
          </a:p>
          <a:p>
            <a:pPr marL="203200" marR="3250565">
              <a:lnSpc>
                <a:spcPct val="171900"/>
              </a:lnSpc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empty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Builder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initial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capacity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of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16. </a:t>
            </a:r>
            <a:r>
              <a:rPr sz="1200" spc="-10">
                <a:latin typeface="Verdana"/>
                <a:cs typeface="Verdana"/>
              </a:rPr>
              <a:t>StringBuilder(String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 spc="-20">
                <a:latin typeface="Verdana"/>
                <a:cs typeface="Verdana"/>
              </a:rPr>
              <a:t>str)</a:t>
            </a:r>
            <a:endParaRPr sz="1200">
              <a:latin typeface="Verdana"/>
              <a:cs typeface="Verdana"/>
            </a:endParaRPr>
          </a:p>
          <a:p>
            <a:pPr marL="203200" marR="4269105">
              <a:lnSpc>
                <a:spcPct val="171900"/>
              </a:lnSpc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Builder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string. StringBuilder(int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length)</a:t>
            </a:r>
            <a:endParaRPr sz="12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035"/>
              </a:spcBef>
            </a:pPr>
            <a:r>
              <a:rPr sz="1200">
                <a:latin typeface="Verdana"/>
                <a:cs typeface="Verdana"/>
              </a:rPr>
              <a:t>creates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empty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string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Builder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with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specified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capacity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as</a:t>
            </a:r>
            <a:r>
              <a:rPr sz="1200" spc="-5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length.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587921" y="3830205"/>
            <a:ext cx="7812405" cy="739140"/>
          </a:xfrm>
          <a:custGeom>
            <a:rect l="l" t="t" r="r" b="b"/>
            <a:pathLst>
              <a:path w="7812405" h="739139">
                <a:moveTo>
                  <a:pt x="5638292" y="571500"/>
                </a:moveTo>
                <a:lnTo>
                  <a:pt x="0" y="571500"/>
                </a:lnTo>
                <a:lnTo>
                  <a:pt x="0" y="739140"/>
                </a:lnTo>
                <a:lnTo>
                  <a:pt x="5638292" y="739140"/>
                </a:lnTo>
                <a:lnTo>
                  <a:pt x="5638292" y="571500"/>
                </a:lnTo>
                <a:close/>
              </a:path>
              <a:path w="7812405" h="739139">
                <a:moveTo>
                  <a:pt x="7811922" y="0"/>
                </a:moveTo>
                <a:lnTo>
                  <a:pt x="0" y="0"/>
                </a:lnTo>
                <a:lnTo>
                  <a:pt x="0" y="167640"/>
                </a:lnTo>
                <a:lnTo>
                  <a:pt x="7811922" y="167640"/>
                </a:lnTo>
                <a:lnTo>
                  <a:pt x="78119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Difference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between</a:t>
            </a:r>
            <a:r>
              <a:rPr b="1" spc="-8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String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and</a:t>
            </a:r>
            <a:r>
              <a:rPr b="1" spc="-8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StringBuffer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25" y="1525911"/>
            <a:ext cx="7883525" cy="305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>
                <a:latin typeface="Verdana"/>
                <a:cs typeface="Verdana"/>
              </a:rPr>
              <a:t>1)</a:t>
            </a:r>
            <a:endParaRPr sz="1100">
              <a:latin typeface="Verdana"/>
              <a:cs typeface="Verdana"/>
            </a:endParaRPr>
          </a:p>
          <a:p>
            <a:pPr marL="12700" marR="5544185">
              <a:lnSpc>
                <a:spcPct val="170500"/>
              </a:lnSpc>
            </a:pPr>
            <a:r>
              <a:rPr sz="1100" b="1">
                <a:latin typeface="Verdana"/>
                <a:cs typeface="Verdana"/>
              </a:rPr>
              <a:t>String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immutable. StringBuffer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1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mutable. </a:t>
            </a:r>
            <a:r>
              <a:rPr sz="1100" b="1" spc="-25">
                <a:latin typeface="Verdana"/>
                <a:cs typeface="Verdana"/>
              </a:rPr>
              <a:t>2)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70500"/>
              </a:lnSpc>
            </a:pPr>
            <a:r>
              <a:rPr sz="1100" b="1">
                <a:latin typeface="Verdana"/>
                <a:cs typeface="Verdana"/>
              </a:rPr>
              <a:t>String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slow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consumes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more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memory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when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you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concat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too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many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strings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because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every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time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it </a:t>
            </a:r>
            <a:r>
              <a:rPr sz="1100" b="1">
                <a:latin typeface="Verdana"/>
                <a:cs typeface="Verdana"/>
              </a:rPr>
              <a:t>creates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new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instance.</a:t>
            </a:r>
            <a:endParaRPr sz="1100">
              <a:latin typeface="Verdana"/>
              <a:cs typeface="Verdana"/>
            </a:endParaRPr>
          </a:p>
          <a:p>
            <a:pPr marL="12700" marR="2147570">
              <a:lnSpc>
                <a:spcPct val="170500"/>
              </a:lnSpc>
            </a:pPr>
            <a:r>
              <a:rPr sz="1100" b="1" spc="-10">
                <a:latin typeface="Verdana"/>
                <a:cs typeface="Verdana"/>
              </a:rPr>
              <a:t>StringBuffer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fast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consumes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less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memory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when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you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cancat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strings. </a:t>
            </a:r>
            <a:r>
              <a:rPr sz="1100" b="1" spc="-25">
                <a:latin typeface="Verdana"/>
                <a:cs typeface="Verdana"/>
              </a:rPr>
              <a:t>3)</a:t>
            </a:r>
            <a:endParaRPr sz="1100">
              <a:latin typeface="Verdana"/>
              <a:cs typeface="Verdana"/>
            </a:endParaRPr>
          </a:p>
          <a:p>
            <a:pPr marL="12700" marR="50165">
              <a:lnSpc>
                <a:spcPct val="170500"/>
              </a:lnSpc>
            </a:pPr>
            <a:r>
              <a:rPr sz="1100" b="1">
                <a:latin typeface="Verdana"/>
                <a:cs typeface="Verdana"/>
              </a:rPr>
              <a:t>String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overrides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equals()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method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Object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class.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So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you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can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compare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contents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two </a:t>
            </a:r>
            <a:r>
              <a:rPr sz="1100" b="1">
                <a:latin typeface="Verdana"/>
                <a:cs typeface="Verdana"/>
              </a:rPr>
              <a:t>strings</a:t>
            </a:r>
            <a:r>
              <a:rPr sz="1100" b="1" spc="-7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by</a:t>
            </a:r>
            <a:r>
              <a:rPr sz="1100" b="1" spc="-6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equals()</a:t>
            </a:r>
            <a:r>
              <a:rPr sz="1100" b="1" spc="-6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method.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spc="-10">
                <a:latin typeface="Verdana"/>
                <a:cs typeface="Verdana"/>
              </a:rPr>
              <a:t>StringBuffer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doesn't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override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equals()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method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Object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class.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rect l="l" t="t" r="r" b="b"/>
            <a:pathLst>
              <a:path w="989328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986287"/>
            <a:ext cx="9144000" cy="4157345"/>
            <a:chOff x="0" y="986287"/>
            <a:chExt cx="9144000" cy="4157345"/>
          </a:xfrm>
        </p:grpSpPr>
        <p:sp>
          <p:nvSpPr>
            <p:cNvPr id="4" name="object 4"/>
            <p:cNvSpPr/>
            <p:nvPr/>
          </p:nvSpPr>
          <p:spPr>
            <a:xfrm>
              <a:off x="6181162" y="3903669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987899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rect l="l" t="t" r="r" b="b"/>
              <a:pathLst>
                <a:path w="989328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65699" y="986287"/>
              <a:ext cx="6950949" cy="382617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Difference</a:t>
            </a:r>
            <a:r>
              <a:rPr b="1" spc="-8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between</a:t>
            </a:r>
            <a:r>
              <a:rPr b="1" spc="-7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StringBuffer</a:t>
            </a:r>
            <a:r>
              <a:rPr b="1" spc="-7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and</a:t>
            </a:r>
            <a:r>
              <a:rPr b="1" spc="-7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StringBuilder</a:t>
            </a:r>
          </a:p>
        </p:txBody>
      </p:sp>
      <p:sp>
        <p:nvSpPr>
          <p:cNvPr id="10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Exception</a:t>
            </a:r>
            <a:r>
              <a:rPr b="1" spc="-10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Handling</a:t>
            </a:r>
            <a:r>
              <a:rPr b="1" spc="-10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105">
                <a:latin typeface="Arial"/>
                <a:cs typeface="Arial"/>
              </a:rPr>
              <a:t> </a:t>
            </a:r>
            <a:r>
              <a:rPr b="1" spc="-20">
                <a:latin typeface="Arial"/>
                <a:cs typeface="Arial"/>
              </a:rPr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31266"/>
            <a:ext cx="8195945" cy="36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Exception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Handling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in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Java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one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powerful</a:t>
            </a:r>
            <a:r>
              <a:rPr sz="1300" b="1" spc="-10">
                <a:latin typeface="Verdana"/>
                <a:cs typeface="Verdana"/>
              </a:rPr>
              <a:t> </a:t>
            </a:r>
            <a:r>
              <a:rPr sz="1300" b="1" i="1">
                <a:latin typeface="Verdana"/>
                <a:cs typeface="Verdana"/>
              </a:rPr>
              <a:t>mechanism</a:t>
            </a:r>
            <a:r>
              <a:rPr sz="1300" b="1" i="1" spc="-30">
                <a:latin typeface="Verdana"/>
                <a:cs typeface="Verdana"/>
              </a:rPr>
              <a:t> </a:t>
            </a:r>
            <a:r>
              <a:rPr sz="1300" b="1" i="1">
                <a:latin typeface="Verdana"/>
                <a:cs typeface="Verdana"/>
              </a:rPr>
              <a:t>to</a:t>
            </a:r>
            <a:r>
              <a:rPr sz="1300" b="1" i="1" spc="-35">
                <a:latin typeface="Verdana"/>
                <a:cs typeface="Verdana"/>
              </a:rPr>
              <a:t> </a:t>
            </a:r>
            <a:r>
              <a:rPr sz="1300" b="1" i="1">
                <a:latin typeface="Verdana"/>
                <a:cs typeface="Verdana"/>
              </a:rPr>
              <a:t>handle</a:t>
            </a:r>
            <a:r>
              <a:rPr sz="1300" b="1" i="1" spc="-35">
                <a:latin typeface="Verdana"/>
                <a:cs typeface="Verdana"/>
              </a:rPr>
              <a:t> </a:t>
            </a:r>
            <a:r>
              <a:rPr sz="1300" b="1" i="1">
                <a:latin typeface="Verdana"/>
                <a:cs typeface="Verdana"/>
              </a:rPr>
              <a:t>the</a:t>
            </a:r>
            <a:r>
              <a:rPr sz="1300" b="1" i="1" spc="-35">
                <a:latin typeface="Verdana"/>
                <a:cs typeface="Verdana"/>
              </a:rPr>
              <a:t> </a:t>
            </a:r>
            <a:r>
              <a:rPr sz="1300" b="1" i="1" spc="-10">
                <a:latin typeface="Verdana"/>
                <a:cs typeface="Verdana"/>
              </a:rPr>
              <a:t>runtime </a:t>
            </a:r>
            <a:r>
              <a:rPr sz="1300" b="1" i="1">
                <a:latin typeface="Verdana"/>
                <a:cs typeface="Verdana"/>
              </a:rPr>
              <a:t>errors</a:t>
            </a:r>
            <a:r>
              <a:rPr sz="1300" b="1" i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so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that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normal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flow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application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can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be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maintained.</a:t>
            </a:r>
            <a:endParaRPr sz="1300">
              <a:latin typeface="Verdana"/>
              <a:cs typeface="Verdana"/>
            </a:endParaRPr>
          </a:p>
          <a:p>
            <a:pPr marL="12700" marR="1054100">
              <a:lnSpc>
                <a:spcPct val="115399"/>
              </a:lnSpc>
              <a:spcBef>
                <a:spcPts val="1575"/>
              </a:spcBef>
            </a:pPr>
            <a:r>
              <a:rPr sz="1300" b="1">
                <a:latin typeface="Verdana"/>
                <a:cs typeface="Verdana"/>
              </a:rPr>
              <a:t>Exception</a:t>
            </a:r>
            <a:r>
              <a:rPr sz="1300" b="1" spc="-5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Handling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mechanism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handle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runtime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errors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such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 spc="-25">
                <a:latin typeface="Verdana"/>
                <a:cs typeface="Verdana"/>
              </a:rPr>
              <a:t>as </a:t>
            </a:r>
            <a:r>
              <a:rPr sz="1300" b="1" spc="-10">
                <a:latin typeface="Verdana"/>
                <a:cs typeface="Verdana"/>
              </a:rPr>
              <a:t>ClassNotFoundException,</a:t>
            </a:r>
            <a:r>
              <a:rPr sz="1300" b="1" spc="-2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IOException,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SQLException,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RemoteException,</a:t>
            </a:r>
            <a:r>
              <a:rPr sz="1300" b="1" spc="-15">
                <a:latin typeface="Verdana"/>
                <a:cs typeface="Verdana"/>
              </a:rPr>
              <a:t> </a:t>
            </a:r>
            <a:r>
              <a:rPr sz="1300" b="1" spc="-20">
                <a:latin typeface="Verdana"/>
                <a:cs typeface="Verdana"/>
              </a:rPr>
              <a:t>etc.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b="1" spc="-25">
                <a:solidFill>
                  <a:srgbClr val="610B37"/>
                </a:solidFill>
                <a:latin typeface="Arial"/>
                <a:cs typeface="Arial"/>
              </a:rPr>
              <a:t>Types</a:t>
            </a:r>
            <a:r>
              <a:rPr sz="2200" b="1" spc="-7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200" b="1">
                <a:solidFill>
                  <a:srgbClr val="610B37"/>
                </a:solidFill>
                <a:latin typeface="Arial"/>
                <a:cs typeface="Arial"/>
              </a:rPr>
              <a:t>of</a:t>
            </a:r>
            <a:r>
              <a:rPr sz="2200" b="1" spc="-7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200" b="1">
                <a:solidFill>
                  <a:srgbClr val="610B37"/>
                </a:solidFill>
                <a:latin typeface="Arial"/>
                <a:cs typeface="Arial"/>
              </a:rPr>
              <a:t>Java</a:t>
            </a:r>
            <a:r>
              <a:rPr sz="2200" b="1" spc="-7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200" b="1" spc="-10">
                <a:solidFill>
                  <a:srgbClr val="610B37"/>
                </a:solidFill>
                <a:latin typeface="Arial"/>
                <a:cs typeface="Arial"/>
              </a:rPr>
              <a:t>Exceptions</a:t>
            </a:r>
            <a:endParaRPr sz="2200">
              <a:latin typeface="Arial"/>
              <a:cs typeface="Arial"/>
            </a:endParaRPr>
          </a:p>
          <a:p>
            <a:pPr marL="12700" marR="273685">
              <a:lnSpc>
                <a:spcPct val="115399"/>
              </a:lnSpc>
              <a:spcBef>
                <a:spcPts val="1585"/>
              </a:spcBef>
            </a:pPr>
            <a:r>
              <a:rPr sz="1300" b="1">
                <a:latin typeface="Verdana"/>
                <a:cs typeface="Verdana"/>
              </a:rPr>
              <a:t>There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are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mainly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two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types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of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exceptions: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checked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and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unchecked.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Here,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error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25">
                <a:latin typeface="Verdana"/>
                <a:cs typeface="Verdana"/>
              </a:rPr>
              <a:t>is </a:t>
            </a:r>
            <a:r>
              <a:rPr sz="1300" b="1" spc="-10">
                <a:latin typeface="Verdana"/>
                <a:cs typeface="Verdana"/>
              </a:rPr>
              <a:t>considered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as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unchecked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exception.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According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Oracle,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there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are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three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types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25">
                <a:latin typeface="Verdana"/>
                <a:cs typeface="Verdana"/>
              </a:rPr>
              <a:t>of </a:t>
            </a:r>
            <a:r>
              <a:rPr sz="1300" b="1" spc="-10">
                <a:latin typeface="Verdana"/>
                <a:cs typeface="Verdana"/>
              </a:rPr>
              <a:t>exceptions:</a:t>
            </a:r>
            <a:endParaRPr sz="1300">
              <a:latin typeface="Verdana"/>
              <a:cs typeface="Verdana"/>
            </a:endParaRPr>
          </a:p>
          <a:p>
            <a:pPr marL="469265" indent="-405130">
              <a:lnSpc>
                <a:spcPct val="100000"/>
              </a:lnSpc>
              <a:spcBef>
                <a:spcPts val="1515"/>
              </a:spcBef>
              <a:buAutoNum type="arabicPeriod"/>
              <a:tabLst>
                <a:tab pos="469265"/>
              </a:tabLst>
            </a:pPr>
            <a:r>
              <a:rPr sz="1300" b="1">
                <a:latin typeface="Verdana"/>
                <a:cs typeface="Verdana"/>
              </a:rPr>
              <a:t>Checked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</a:t>
            </a:r>
            <a:endParaRPr sz="1300">
              <a:latin typeface="Verdana"/>
              <a:cs typeface="Verdana"/>
            </a:endParaRPr>
          </a:p>
          <a:p>
            <a:pPr marL="469265" indent="-40513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469265"/>
              </a:tabLst>
            </a:pPr>
            <a:r>
              <a:rPr sz="1300" b="1">
                <a:latin typeface="Verdana"/>
                <a:cs typeface="Verdana"/>
              </a:rPr>
              <a:t>Unchecked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</a:t>
            </a:r>
            <a:endParaRPr sz="1300">
              <a:latin typeface="Verdana"/>
              <a:cs typeface="Verdana"/>
            </a:endParaRPr>
          </a:p>
          <a:p>
            <a:pPr marL="469265" indent="-40513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469265"/>
              </a:tabLst>
            </a:pPr>
            <a:r>
              <a:rPr sz="1300" b="1" spc="-10">
                <a:latin typeface="Verdana"/>
                <a:cs typeface="Verdana"/>
              </a:rPr>
              <a:t>Error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438825" y="4218350"/>
            <a:ext cx="6790055" cy="167640"/>
          </a:xfrm>
          <a:custGeom>
            <a:rect l="l" t="t" r="r" b="b"/>
            <a:pathLst>
              <a:path w="6790055" h="167639">
                <a:moveTo>
                  <a:pt x="6789928" y="167639"/>
                </a:moveTo>
                <a:lnTo>
                  <a:pt x="0" y="167639"/>
                </a:lnTo>
                <a:lnTo>
                  <a:pt x="0" y="0"/>
                </a:lnTo>
                <a:lnTo>
                  <a:pt x="6789928" y="0"/>
                </a:lnTo>
                <a:lnTo>
                  <a:pt x="6789928" y="1676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>
                <a:latin typeface="Arial"/>
                <a:cs typeface="Arial"/>
              </a:rPr>
              <a:t>Difference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between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Checked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and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Unchecked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Exceptions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125" y="1204512"/>
            <a:ext cx="7887334" cy="318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indent="-20637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19075"/>
              </a:tabLst>
            </a:pPr>
            <a:r>
              <a:rPr sz="1400" b="1">
                <a:solidFill>
                  <a:srgbClr val="610B4B"/>
                </a:solidFill>
                <a:latin typeface="Arial"/>
                <a:cs typeface="Arial"/>
              </a:rPr>
              <a:t>Checked</a:t>
            </a:r>
            <a:r>
              <a:rPr sz="14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400" b="1" spc="-10">
                <a:solidFill>
                  <a:srgbClr val="610B4B"/>
                </a:solidFill>
                <a:latin typeface="Arial"/>
                <a:cs typeface="Arial"/>
              </a:rPr>
              <a:t>Exception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3599"/>
              </a:lnSpc>
              <a:spcBef>
                <a:spcPts val="1325"/>
              </a:spcBef>
            </a:pP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classes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which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directly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inherit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Throwable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RuntimeException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Error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known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as </a:t>
            </a:r>
            <a:r>
              <a:rPr sz="1100" b="1">
                <a:latin typeface="Verdana"/>
                <a:cs typeface="Verdana"/>
              </a:rPr>
              <a:t>checked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exceptions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e.g.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IOException,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SQLException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100" b="1">
                <a:latin typeface="Verdana"/>
                <a:cs typeface="Verdana"/>
              </a:rPr>
              <a:t>Checked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exceptions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checked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at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compile-time.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Verdana"/>
              <a:cs typeface="Verdana"/>
            </a:endParaRPr>
          </a:p>
          <a:p>
            <a:pPr marL="219075" indent="-206375">
              <a:lnSpc>
                <a:spcPct val="100000"/>
              </a:lnSpc>
              <a:buAutoNum type="arabicParenR" startAt="2"/>
              <a:tabLst>
                <a:tab pos="219075"/>
              </a:tabLst>
            </a:pPr>
            <a:r>
              <a:rPr sz="1400" b="1">
                <a:solidFill>
                  <a:srgbClr val="610B4B"/>
                </a:solidFill>
                <a:latin typeface="Arial"/>
                <a:cs typeface="Arial"/>
              </a:rPr>
              <a:t>Unchecked</a:t>
            </a:r>
            <a:r>
              <a:rPr sz="14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400" b="1" spc="-10">
                <a:solidFill>
                  <a:srgbClr val="610B4B"/>
                </a:solidFill>
                <a:latin typeface="Arial"/>
                <a:cs typeface="Arial"/>
              </a:rPr>
              <a:t>Exception</a:t>
            </a:r>
            <a:endParaRPr sz="1400">
              <a:latin typeface="Arial"/>
              <a:cs typeface="Arial"/>
            </a:endParaRPr>
          </a:p>
          <a:p>
            <a:pPr marL="12700" marR="1189355">
              <a:lnSpc>
                <a:spcPct val="113599"/>
              </a:lnSpc>
              <a:spcBef>
                <a:spcPts val="1355"/>
              </a:spcBef>
            </a:pP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classes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which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inherit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RuntimeException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known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unchecked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exceptions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e.g. </a:t>
            </a:r>
            <a:r>
              <a:rPr sz="1100" b="1" spc="-10">
                <a:latin typeface="Verdana"/>
                <a:cs typeface="Verdana"/>
              </a:rPr>
              <a:t>ArithmeticException,</a:t>
            </a:r>
            <a:r>
              <a:rPr sz="1100" b="1" spc="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NullPointerException,</a:t>
            </a:r>
            <a:r>
              <a:rPr sz="1100" b="1" spc="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ArrayIndexOutOfBoundsException</a:t>
            </a:r>
            <a:r>
              <a:rPr sz="1100" b="1" spc="50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100" b="1" spc="-10">
                <a:latin typeface="Verdana"/>
                <a:cs typeface="Verdana"/>
              </a:rPr>
              <a:t>Unchecked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exceptions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not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checked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compile-</a:t>
            </a:r>
            <a:r>
              <a:rPr sz="1100" b="1">
                <a:latin typeface="Verdana"/>
                <a:cs typeface="Verdana"/>
              </a:rPr>
              <a:t>time,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but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they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checked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runtime.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Verdana"/>
              <a:cs typeface="Verdana"/>
            </a:endParaRPr>
          </a:p>
          <a:p>
            <a:pPr marL="219075" indent="-206375">
              <a:lnSpc>
                <a:spcPct val="100000"/>
              </a:lnSpc>
              <a:buAutoNum type="arabicParenR" startAt="3"/>
              <a:tabLst>
                <a:tab pos="219075"/>
              </a:tabLst>
            </a:pPr>
            <a:r>
              <a:rPr sz="1400" b="1" spc="-10">
                <a:solidFill>
                  <a:srgbClr val="610B4B"/>
                </a:solidFill>
                <a:latin typeface="Arial"/>
                <a:cs typeface="Arial"/>
              </a:rPr>
              <a:t>Error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100" b="1">
                <a:latin typeface="Verdana"/>
                <a:cs typeface="Verdana"/>
              </a:rPr>
              <a:t>Error</a:t>
            </a:r>
            <a:r>
              <a:rPr sz="1100" b="1" spc="-5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irrecoverable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e.g.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OutOfMemoryError,</a:t>
            </a:r>
            <a:r>
              <a:rPr sz="1100" b="1" spc="-5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VirtualMachineError,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AssertionError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50624" y="187375"/>
            <a:ext cx="7275424" cy="438149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533974" y="4026449"/>
            <a:ext cx="6586855" cy="182880"/>
          </a:xfrm>
          <a:custGeom>
            <a:rect l="l" t="t" r="r" b="b"/>
            <a:pathLst>
              <a:path w="6586855" h="182879">
                <a:moveTo>
                  <a:pt x="6586686" y="182879"/>
                </a:moveTo>
                <a:lnTo>
                  <a:pt x="0" y="182879"/>
                </a:lnTo>
                <a:lnTo>
                  <a:pt x="0" y="0"/>
                </a:lnTo>
                <a:lnTo>
                  <a:pt x="6586686" y="0"/>
                </a:lnTo>
                <a:lnTo>
                  <a:pt x="6586686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422014"/>
            <a:ext cx="31565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latin typeface="Arial"/>
                <a:cs typeface="Arial"/>
              </a:rPr>
              <a:t>Java</a:t>
            </a:r>
            <a:r>
              <a:rPr sz="2000" b="1" spc="-6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Exception</a:t>
            </a:r>
            <a:r>
              <a:rPr sz="2000" b="1" spc="-6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Keywords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274" y="967654"/>
            <a:ext cx="8192134" cy="356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1500" b="1" spc="-25">
                <a:latin typeface="Verdana"/>
                <a:cs typeface="Verdana"/>
              </a:rPr>
              <a:t>try</a:t>
            </a:r>
            <a:endParaRPr sz="1500">
              <a:latin typeface="Verdana"/>
              <a:cs typeface="Verdana"/>
            </a:endParaRPr>
          </a:p>
          <a:p>
            <a:pPr marL="332740" marR="5080" indent="-320675">
              <a:lnSpc>
                <a:spcPct val="171900"/>
              </a:lnSpc>
              <a:spcBef>
                <a:spcPts val="250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"try"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keyword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specify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where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should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place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code.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try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must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followed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either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catch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finally.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103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means,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can't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alone.</a:t>
            </a:r>
            <a:endParaRPr sz="1200">
              <a:latin typeface="Verdana"/>
              <a:cs typeface="Verdana"/>
            </a:endParaRPr>
          </a:p>
          <a:p>
            <a:pPr marL="66040">
              <a:lnSpc>
                <a:spcPct val="100000"/>
              </a:lnSpc>
              <a:spcBef>
                <a:spcPts val="1025"/>
              </a:spcBef>
            </a:pPr>
            <a:r>
              <a:rPr sz="1500" b="1" spc="-10">
                <a:latin typeface="Verdana"/>
                <a:cs typeface="Verdana"/>
              </a:rPr>
              <a:t>catch</a:t>
            </a:r>
            <a:endParaRPr sz="15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128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"catch"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exception.</a:t>
            </a:r>
            <a:endParaRPr sz="1200">
              <a:latin typeface="Verdana"/>
              <a:cs typeface="Verdana"/>
            </a:endParaRPr>
          </a:p>
          <a:p>
            <a:pPr marL="384810" indent="-372110">
              <a:lnSpc>
                <a:spcPct val="100000"/>
              </a:lnSpc>
              <a:spcBef>
                <a:spcPts val="1035"/>
              </a:spcBef>
              <a:buFont typeface="Arial"/>
              <a:buChar char="●"/>
              <a:tabLst>
                <a:tab pos="384810"/>
              </a:tabLst>
            </a:pP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must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preceded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try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which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means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can't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catch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alone.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103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followed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finally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later.</a:t>
            </a:r>
            <a:endParaRPr sz="1200">
              <a:latin typeface="Verdana"/>
              <a:cs typeface="Verdana"/>
            </a:endParaRPr>
          </a:p>
          <a:p>
            <a:pPr marL="66040">
              <a:lnSpc>
                <a:spcPct val="100000"/>
              </a:lnSpc>
              <a:spcBef>
                <a:spcPts val="1025"/>
              </a:spcBef>
            </a:pPr>
            <a:r>
              <a:rPr sz="1400" b="1" spc="-10">
                <a:latin typeface="Verdana"/>
                <a:cs typeface="Verdana"/>
              </a:rPr>
              <a:t>finally</a:t>
            </a:r>
            <a:endParaRPr sz="14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125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"finally"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execute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important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code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of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program.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103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executed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whether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or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20">
                <a:latin typeface="Verdana"/>
                <a:cs typeface="Verdana"/>
              </a:rPr>
              <a:t>not.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5225" y="1295279"/>
            <a:ext cx="5086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>
                <a:solidFill>
                  <a:srgbClr val="000000"/>
                </a:solidFill>
                <a:latin typeface="Times New Roman"/>
                <a:cs typeface="Times New Roman"/>
              </a:rPr>
              <a:t>throw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225" y="1686821"/>
            <a:ext cx="6432550" cy="1985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5965" indent="-32766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735965"/>
              </a:tabLst>
            </a:pP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"throw"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keyword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used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throw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exception.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500" b="1" spc="-10">
                <a:latin typeface="Times New Roman"/>
                <a:cs typeface="Times New Roman"/>
              </a:rPr>
              <a:t>throws</a:t>
            </a:r>
            <a:endParaRPr sz="1500">
              <a:latin typeface="Times New Roman"/>
              <a:cs typeface="Times New Roman"/>
            </a:endParaRPr>
          </a:p>
          <a:p>
            <a:pPr marL="735965" indent="-327660">
              <a:lnSpc>
                <a:spcPct val="100000"/>
              </a:lnSpc>
              <a:spcBef>
                <a:spcPts val="1285"/>
              </a:spcBef>
              <a:buFont typeface="Arial"/>
              <a:buChar char="●"/>
              <a:tabLst>
                <a:tab pos="735965"/>
              </a:tabLst>
            </a:pP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"throws"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keyword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used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to</a:t>
            </a:r>
            <a:r>
              <a:rPr sz="1300" b="1" spc="-5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declare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exceptions.</a:t>
            </a:r>
            <a:endParaRPr sz="1300">
              <a:latin typeface="Verdana"/>
              <a:cs typeface="Verdana"/>
            </a:endParaRPr>
          </a:p>
          <a:p>
            <a:pPr marL="735965" indent="-327660">
              <a:lnSpc>
                <a:spcPct val="100000"/>
              </a:lnSpc>
              <a:spcBef>
                <a:spcPts val="1140"/>
              </a:spcBef>
              <a:buFont typeface="Arial"/>
              <a:buChar char="●"/>
              <a:tabLst>
                <a:tab pos="735965"/>
              </a:tabLst>
            </a:pPr>
            <a:r>
              <a:rPr sz="1300" b="1">
                <a:latin typeface="Verdana"/>
                <a:cs typeface="Verdana"/>
              </a:rPr>
              <a:t>It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doesn't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throw</a:t>
            </a:r>
            <a:r>
              <a:rPr sz="1300" b="1" spc="-3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exception.</a:t>
            </a:r>
            <a:endParaRPr sz="1300">
              <a:latin typeface="Verdana"/>
              <a:cs typeface="Verdana"/>
            </a:endParaRPr>
          </a:p>
          <a:p>
            <a:pPr marL="735965" indent="-327660">
              <a:lnSpc>
                <a:spcPct val="100000"/>
              </a:lnSpc>
              <a:spcBef>
                <a:spcPts val="1140"/>
              </a:spcBef>
              <a:buFont typeface="Arial"/>
              <a:buChar char="●"/>
              <a:tabLst>
                <a:tab pos="735965"/>
              </a:tabLst>
            </a:pPr>
            <a:r>
              <a:rPr sz="1300" b="1">
                <a:latin typeface="Verdana"/>
                <a:cs typeface="Verdana"/>
              </a:rPr>
              <a:t>It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specifies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that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there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may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occur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exception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in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the</a:t>
            </a:r>
            <a:r>
              <a:rPr sz="1300" b="1" spc="-30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method.</a:t>
            </a:r>
            <a:endParaRPr sz="1300">
              <a:latin typeface="Verdana"/>
              <a:cs typeface="Verdana"/>
            </a:endParaRPr>
          </a:p>
          <a:p>
            <a:pPr marL="735965" indent="-327660">
              <a:lnSpc>
                <a:spcPct val="100000"/>
              </a:lnSpc>
              <a:spcBef>
                <a:spcPts val="1140"/>
              </a:spcBef>
              <a:buFont typeface="Arial"/>
              <a:buChar char="●"/>
              <a:tabLst>
                <a:tab pos="735965"/>
              </a:tabLst>
            </a:pPr>
            <a:r>
              <a:rPr sz="1300" b="1">
                <a:latin typeface="Verdana"/>
                <a:cs typeface="Verdana"/>
              </a:rPr>
              <a:t>It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is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always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used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with</a:t>
            </a:r>
            <a:r>
              <a:rPr sz="1300" b="1" spc="-40">
                <a:latin typeface="Verdana"/>
                <a:cs typeface="Verdana"/>
              </a:rPr>
              <a:t> </a:t>
            </a:r>
            <a:r>
              <a:rPr sz="1300" b="1">
                <a:latin typeface="Verdana"/>
                <a:cs typeface="Verdana"/>
              </a:rPr>
              <a:t>method</a:t>
            </a:r>
            <a:r>
              <a:rPr sz="1300" b="1" spc="-45">
                <a:latin typeface="Verdana"/>
                <a:cs typeface="Verdana"/>
              </a:rPr>
              <a:t> </a:t>
            </a:r>
            <a:r>
              <a:rPr sz="1300" b="1" spc="-10">
                <a:latin typeface="Verdana"/>
                <a:cs typeface="Verdana"/>
              </a:rPr>
              <a:t>signature.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43" rIns="0" bIns="0" rtlCol="0">
            <a:spAutoFit/>
          </a:bodyPr>
          <a:lstStyle/>
          <a:p>
            <a:pPr marL="3001010">
              <a:lnSpc>
                <a:spcPct val="100000"/>
              </a:lnSpc>
              <a:spcBef>
                <a:spcPts val="100"/>
              </a:spcBef>
            </a:pPr>
            <a:r>
              <a:rPr sz="2100" b="1">
                <a:solidFill>
                  <a:srgbClr val="000000"/>
                </a:solidFill>
                <a:latin typeface="Arial"/>
                <a:cs typeface="Arial"/>
              </a:rPr>
              <a:t>Error</a:t>
            </a:r>
            <a:r>
              <a:rPr sz="2100" b="1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000000"/>
                </a:solidFill>
                <a:latin typeface="Arial"/>
                <a:cs typeface="Arial"/>
              </a:rPr>
              <a:t>vs</a:t>
            </a:r>
            <a:r>
              <a:rPr sz="2100" b="1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b="1" spc="-10">
                <a:solidFill>
                  <a:srgbClr val="000000"/>
                </a:solidFill>
                <a:latin typeface="Arial"/>
                <a:cs typeface="Arial"/>
              </a:rPr>
              <a:t>Exception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818646"/>
            <a:ext cx="8096884" cy="121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latin typeface="Arial"/>
                <a:cs typeface="Arial"/>
              </a:rPr>
              <a:t>Error:</a:t>
            </a:r>
            <a:r>
              <a:rPr sz="1600" b="1" spc="-30">
                <a:latin typeface="Arial"/>
                <a:cs typeface="Arial"/>
              </a:rPr>
              <a:t> </a:t>
            </a:r>
            <a:r>
              <a:rPr sz="1600">
                <a:latin typeface="Arial MT"/>
                <a:cs typeface="Arial MT"/>
              </a:rPr>
              <a:t>An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Error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indicates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serious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problem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that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a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reasonable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application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should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not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try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 spc="-25">
                <a:latin typeface="Arial MT"/>
                <a:cs typeface="Arial MT"/>
              </a:rPr>
              <a:t>to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600" spc="-10">
                <a:latin typeface="Arial MT"/>
                <a:cs typeface="Arial MT"/>
              </a:rPr>
              <a:t>catch.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>
                <a:latin typeface="Arial"/>
                <a:cs typeface="Arial"/>
              </a:rPr>
              <a:t>Exception:</a:t>
            </a:r>
            <a:r>
              <a:rPr sz="1600" b="1" spc="-30">
                <a:latin typeface="Arial"/>
                <a:cs typeface="Arial"/>
              </a:rPr>
              <a:t> </a:t>
            </a:r>
            <a:r>
              <a:rPr sz="1600">
                <a:latin typeface="Arial MT"/>
                <a:cs typeface="Arial MT"/>
              </a:rPr>
              <a:t>Exception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indicates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conditions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that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a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reasonable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application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might</a:t>
            </a:r>
            <a:r>
              <a:rPr sz="1600" spc="-30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try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>
                <a:latin typeface="Arial MT"/>
                <a:cs typeface="Arial MT"/>
              </a:rPr>
              <a:t>to</a:t>
            </a:r>
            <a:r>
              <a:rPr sz="1600" spc="-25">
                <a:latin typeface="Arial MT"/>
                <a:cs typeface="Arial MT"/>
              </a:rPr>
              <a:t> </a:t>
            </a:r>
            <a:r>
              <a:rPr sz="1600" spc="-10">
                <a:latin typeface="Arial MT"/>
                <a:cs typeface="Arial MT"/>
              </a:rPr>
              <a:t>catch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40257"/>
            <a:ext cx="3681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>
                <a:latin typeface="Arial"/>
                <a:cs typeface="Arial"/>
              </a:rPr>
              <a:t>Exception</a:t>
            </a:r>
            <a:r>
              <a:rPr sz="2100" b="1" spc="-140">
                <a:latin typeface="Arial"/>
                <a:cs typeface="Arial"/>
              </a:rPr>
              <a:t> </a:t>
            </a:r>
            <a:r>
              <a:rPr sz="2100" b="1">
                <a:latin typeface="Arial"/>
                <a:cs typeface="Arial"/>
              </a:rPr>
              <a:t>Handling</a:t>
            </a:r>
            <a:r>
              <a:rPr sz="2100" b="1" spc="-140">
                <a:latin typeface="Arial"/>
                <a:cs typeface="Arial"/>
              </a:rPr>
              <a:t> </a:t>
            </a:r>
            <a:r>
              <a:rPr sz="2100" b="1" spc="-10">
                <a:latin typeface="Arial"/>
                <a:cs typeface="Arial"/>
              </a:rPr>
              <a:t>Example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875" y="762012"/>
            <a:ext cx="3428365" cy="415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JavaExceptionExample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main(String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args[])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298450" marR="5080" indent="-143510">
              <a:lnSpc>
                <a:spcPct val="181800"/>
              </a:lnSpc>
              <a:tabLst>
                <a:tab pos="860425"/>
              </a:tabLst>
            </a:pPr>
            <a:r>
              <a:rPr sz="11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100" b="1" spc="-20">
                <a:latin typeface="Verdana"/>
                <a:cs typeface="Verdana"/>
              </a:rPr>
              <a:t>{</a:t>
            </a:r>
            <a:r>
              <a:rPr sz="1100" b="1">
                <a:latin typeface="Verdana"/>
                <a:cs typeface="Verdana"/>
              </a:rPr>
              <a:t>	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//code</a:t>
            </a:r>
            <a:r>
              <a:rPr sz="11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that</a:t>
            </a:r>
            <a:r>
              <a:rPr sz="11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may</a:t>
            </a:r>
            <a:r>
              <a:rPr sz="11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raise</a:t>
            </a:r>
            <a:r>
              <a:rPr sz="11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exception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data=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100" b="1" spc="-10">
                <a:latin typeface="Verdana"/>
                <a:cs typeface="Verdana"/>
              </a:rPr>
              <a:t>/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100" b="1" spc="-10">
                <a:latin typeface="Verdana"/>
                <a:cs typeface="Verdana"/>
              </a:rPr>
              <a:t>;</a:t>
            </a:r>
            <a:endParaRPr sz="1100">
              <a:latin typeface="Verdana"/>
              <a:cs typeface="Verdana"/>
            </a:endParaRPr>
          </a:p>
          <a:p>
            <a:pPr marL="155575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100" b="1" spc="-10">
                <a:latin typeface="Verdana"/>
                <a:cs typeface="Verdana"/>
              </a:rPr>
              <a:t>(ArithmeticException</a:t>
            </a:r>
            <a:r>
              <a:rPr sz="1100" b="1" spc="90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e)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latin typeface="Verdana"/>
                <a:cs typeface="Verdana"/>
              </a:rPr>
              <a:t>System.out.println(e);</a:t>
            </a:r>
            <a:endParaRPr sz="1100">
              <a:latin typeface="Verdana"/>
              <a:cs typeface="Verdana"/>
            </a:endParaRPr>
          </a:p>
          <a:p>
            <a:pPr marL="155575" marR="48895" indent="-143510">
              <a:lnSpc>
                <a:spcPct val="181800"/>
              </a:lnSpc>
              <a:tabLst>
                <a:tab pos="349885"/>
              </a:tabLst>
            </a:pPr>
            <a:r>
              <a:rPr sz="1100" b="1" spc="-50">
                <a:latin typeface="Verdana"/>
                <a:cs typeface="Verdana"/>
              </a:rPr>
              <a:t>}</a:t>
            </a:r>
            <a:r>
              <a:rPr sz="1100" b="1">
                <a:latin typeface="Verdana"/>
                <a:cs typeface="Verdana"/>
              </a:rPr>
              <a:t>		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//rest</a:t>
            </a:r>
            <a:r>
              <a:rPr sz="11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code</a:t>
            </a:r>
            <a:r>
              <a:rPr sz="11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of</a:t>
            </a:r>
            <a:r>
              <a:rPr sz="11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100" b="1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8200"/>
                </a:solidFill>
                <a:latin typeface="Verdana"/>
                <a:cs typeface="Verdana"/>
              </a:rPr>
              <a:t>program </a:t>
            </a:r>
            <a:r>
              <a:rPr sz="1100" b="1" spc="-10">
                <a:latin typeface="Verdana"/>
                <a:cs typeface="Verdana"/>
              </a:rPr>
              <a:t>System.out.println(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"rest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100" b="1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 code..."</a:t>
            </a:r>
            <a:r>
              <a:rPr sz="1100" b="1" spc="-1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0750" y="1202788"/>
            <a:ext cx="1032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>
                <a:latin typeface="Arial"/>
                <a:cs typeface="Arial"/>
              </a:rPr>
              <a:t>OUTPUT:-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0750" y="1717138"/>
            <a:ext cx="3547110" cy="15703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z="1700" b="1" spc="-10">
                <a:latin typeface="Arial"/>
                <a:cs typeface="Arial"/>
              </a:rPr>
              <a:t>Exception</a:t>
            </a:r>
            <a:r>
              <a:rPr sz="1700" b="1" spc="-50">
                <a:latin typeface="Arial"/>
                <a:cs typeface="Arial"/>
              </a:rPr>
              <a:t> </a:t>
            </a:r>
            <a:r>
              <a:rPr sz="1700" b="1">
                <a:latin typeface="Arial"/>
                <a:cs typeface="Arial"/>
              </a:rPr>
              <a:t>in</a:t>
            </a:r>
            <a:r>
              <a:rPr sz="1700" b="1" spc="-50">
                <a:latin typeface="Arial"/>
                <a:cs typeface="Arial"/>
              </a:rPr>
              <a:t> </a:t>
            </a:r>
            <a:r>
              <a:rPr sz="1700" b="1">
                <a:latin typeface="Arial"/>
                <a:cs typeface="Arial"/>
              </a:rPr>
              <a:t>thread</a:t>
            </a:r>
            <a:r>
              <a:rPr sz="1700" b="1" spc="-45">
                <a:latin typeface="Arial"/>
                <a:cs typeface="Arial"/>
              </a:rPr>
              <a:t> </a:t>
            </a:r>
            <a:r>
              <a:rPr sz="1700" b="1" spc="-20">
                <a:latin typeface="Arial"/>
                <a:cs typeface="Arial"/>
              </a:rPr>
              <a:t>main </a:t>
            </a:r>
            <a:r>
              <a:rPr sz="1700" b="1" spc="-10">
                <a:latin typeface="Arial"/>
                <a:cs typeface="Arial"/>
              </a:rPr>
              <a:t>java.lang.ArithmeticException:/</a:t>
            </a:r>
            <a:r>
              <a:rPr sz="1700" b="1" spc="-100">
                <a:latin typeface="Arial"/>
                <a:cs typeface="Arial"/>
              </a:rPr>
              <a:t> </a:t>
            </a:r>
            <a:r>
              <a:rPr sz="1700" b="1" spc="-25">
                <a:latin typeface="Arial"/>
                <a:cs typeface="Arial"/>
              </a:rPr>
              <a:t>by </a:t>
            </a:r>
            <a:r>
              <a:rPr sz="1700" b="1" spc="-20">
                <a:latin typeface="Arial"/>
                <a:cs typeface="Arial"/>
              </a:rPr>
              <a:t>zero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>
                <a:latin typeface="Arial"/>
                <a:cs typeface="Arial"/>
              </a:rPr>
              <a:t>rest</a:t>
            </a:r>
            <a:r>
              <a:rPr sz="1700" b="1" spc="-20">
                <a:latin typeface="Arial"/>
                <a:cs typeface="Arial"/>
              </a:rPr>
              <a:t> </a:t>
            </a:r>
            <a:r>
              <a:rPr sz="1700" b="1">
                <a:latin typeface="Arial"/>
                <a:cs typeface="Arial"/>
              </a:rPr>
              <a:t>of</a:t>
            </a:r>
            <a:r>
              <a:rPr sz="1700" b="1" spc="-20">
                <a:latin typeface="Arial"/>
                <a:cs typeface="Arial"/>
              </a:rPr>
              <a:t> </a:t>
            </a:r>
            <a:r>
              <a:rPr sz="1700" b="1">
                <a:latin typeface="Arial"/>
                <a:cs typeface="Arial"/>
              </a:rPr>
              <a:t>the</a:t>
            </a:r>
            <a:r>
              <a:rPr sz="1700" b="1" spc="-20">
                <a:latin typeface="Arial"/>
                <a:cs typeface="Arial"/>
              </a:rPr>
              <a:t> </a:t>
            </a:r>
            <a:r>
              <a:rPr sz="1700" b="1" spc="-10">
                <a:latin typeface="Arial"/>
                <a:cs typeface="Arial"/>
              </a:rPr>
              <a:t>code...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Common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Scenarios</a:t>
            </a:r>
            <a:r>
              <a:rPr sz="1900" b="1" spc="-6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of</a:t>
            </a:r>
            <a:r>
              <a:rPr sz="1900" b="1" spc="-6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Java</a:t>
            </a:r>
            <a:r>
              <a:rPr sz="1900" b="1" spc="-6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Exceptions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650" y="1464162"/>
            <a:ext cx="6663055" cy="149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Times New Roman"/>
                <a:cs typeface="Times New Roman"/>
              </a:rPr>
              <a:t>There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are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given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some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scenarios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where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unchecked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exceptions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may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20">
                <a:latin typeface="Times New Roman"/>
                <a:cs typeface="Times New Roman"/>
              </a:rPr>
              <a:t>occur.</a:t>
            </a:r>
            <a:r>
              <a:rPr sz="1400" spc="-5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They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are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as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follows:</a:t>
            </a:r>
            <a:endParaRPr sz="1400">
              <a:latin typeface="Times New Roman"/>
              <a:cs typeface="Times New Roman"/>
            </a:endParaRPr>
          </a:p>
          <a:p>
            <a:pPr marL="234315" indent="-221615">
              <a:lnSpc>
                <a:spcPct val="100000"/>
              </a:lnSpc>
              <a:spcBef>
                <a:spcPts val="1605"/>
              </a:spcBef>
              <a:buAutoNum type="arabicParenR"/>
              <a:tabLst>
                <a:tab pos="234315"/>
              </a:tabLst>
            </a:pPr>
            <a:r>
              <a:rPr sz="1700">
                <a:latin typeface="Times New Roman"/>
                <a:cs typeface="Times New Roman"/>
              </a:rPr>
              <a:t>A</a:t>
            </a:r>
            <a:r>
              <a:rPr sz="1700" spc="-9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scenario</a:t>
            </a:r>
            <a:r>
              <a:rPr sz="1700" spc="10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where</a:t>
            </a:r>
            <a:r>
              <a:rPr sz="1700" spc="-90">
                <a:latin typeface="Times New Roman"/>
                <a:cs typeface="Times New Roman"/>
              </a:rPr>
              <a:t> </a:t>
            </a:r>
            <a:r>
              <a:rPr sz="1700">
                <a:latin typeface="Times New Roman"/>
                <a:cs typeface="Times New Roman"/>
              </a:rPr>
              <a:t>ArithmeticException</a:t>
            </a:r>
            <a:r>
              <a:rPr sz="1700" spc="10">
                <a:latin typeface="Times New Roman"/>
                <a:cs typeface="Times New Roman"/>
              </a:rPr>
              <a:t> </a:t>
            </a:r>
            <a:r>
              <a:rPr sz="1700" spc="-10">
                <a:latin typeface="Times New Roman"/>
                <a:cs typeface="Times New Roman"/>
              </a:rPr>
              <a:t>occurs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1400">
                <a:latin typeface="Times New Roman"/>
                <a:cs typeface="Times New Roman"/>
              </a:rPr>
              <a:t>If</a:t>
            </a:r>
            <a:r>
              <a:rPr sz="1400" spc="-4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we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divide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any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number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by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zero,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there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occurs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an</a:t>
            </a:r>
            <a:r>
              <a:rPr sz="1400" spc="-8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ArithmeticException.</a:t>
            </a:r>
            <a:endParaRPr sz="1400">
              <a:latin typeface="Times New Roman"/>
              <a:cs typeface="Times New Roman"/>
            </a:endParaRPr>
          </a:p>
          <a:p>
            <a:pPr marL="469265" lvl="1" indent="-405765">
              <a:lnSpc>
                <a:spcPct val="100000"/>
              </a:lnSpc>
              <a:spcBef>
                <a:spcPts val="1245"/>
              </a:spcBef>
              <a:buFont typeface="Verdana"/>
              <a:buAutoNum type="arabicPeriod"/>
              <a:tabLst>
                <a:tab pos="469265"/>
              </a:tabLst>
            </a:pPr>
            <a:r>
              <a:rPr sz="1400" b="1">
                <a:latin typeface="Times New Roman"/>
                <a:cs typeface="Times New Roman"/>
              </a:rPr>
              <a:t>int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a=50/0;//ArithmeticException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7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682629"/>
            <a:ext cx="41319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610B4B"/>
                </a:solidFill>
              </a:rPr>
              <a:t>2)</a:t>
            </a:r>
            <a:r>
              <a:rPr sz="1500" spc="-105">
                <a:solidFill>
                  <a:srgbClr val="610B4B"/>
                </a:solidFill>
              </a:rPr>
              <a:t> </a:t>
            </a:r>
            <a:r>
              <a:rPr sz="1500">
                <a:solidFill>
                  <a:srgbClr val="610B4B"/>
                </a:solidFill>
              </a:rPr>
              <a:t>A</a:t>
            </a:r>
            <a:r>
              <a:rPr sz="1500" spc="-105">
                <a:solidFill>
                  <a:srgbClr val="610B4B"/>
                </a:solidFill>
              </a:rPr>
              <a:t> </a:t>
            </a:r>
            <a:r>
              <a:rPr sz="1500">
                <a:solidFill>
                  <a:srgbClr val="610B4B"/>
                </a:solidFill>
              </a:rPr>
              <a:t>scenario</a:t>
            </a:r>
            <a:r>
              <a:rPr sz="1500" spc="-85">
                <a:solidFill>
                  <a:srgbClr val="610B4B"/>
                </a:solidFill>
              </a:rPr>
              <a:t> </a:t>
            </a:r>
            <a:r>
              <a:rPr sz="1500">
                <a:solidFill>
                  <a:srgbClr val="610B4B"/>
                </a:solidFill>
              </a:rPr>
              <a:t>where</a:t>
            </a:r>
            <a:r>
              <a:rPr sz="1500" spc="-50">
                <a:solidFill>
                  <a:srgbClr val="610B4B"/>
                </a:solidFill>
              </a:rPr>
              <a:t> </a:t>
            </a:r>
            <a:r>
              <a:rPr sz="1500" spc="-10">
                <a:solidFill>
                  <a:srgbClr val="610B4B"/>
                </a:solidFill>
              </a:rPr>
              <a:t>NullPointerException</a:t>
            </a:r>
            <a:r>
              <a:rPr sz="1500" spc="-50">
                <a:solidFill>
                  <a:srgbClr val="610B4B"/>
                </a:solidFill>
              </a:rPr>
              <a:t> </a:t>
            </a:r>
            <a:r>
              <a:rPr sz="1500" spc="-10">
                <a:solidFill>
                  <a:srgbClr val="610B4B"/>
                </a:solidFill>
              </a:rPr>
              <a:t>occurs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384725" y="2079758"/>
            <a:ext cx="6939280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>
                <a:latin typeface="Verdana"/>
                <a:cs typeface="Verdana"/>
              </a:rPr>
              <a:t>If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have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null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any</a:t>
            </a:r>
            <a:r>
              <a:rPr sz="1200" spc="-15">
                <a:latin typeface="Verdana"/>
                <a:cs typeface="Verdana"/>
              </a:rPr>
              <a:t> </a:t>
            </a:r>
            <a:r>
              <a:rPr sz="120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variable</a:t>
            </a:r>
            <a:r>
              <a:rPr sz="1200">
                <a:latin typeface="Verdana"/>
                <a:cs typeface="Verdana"/>
              </a:rPr>
              <a:t>,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performing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operation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variable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throws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 spc="-50">
                <a:latin typeface="Verdana"/>
                <a:cs typeface="Verdana"/>
              </a:rPr>
              <a:t>a </a:t>
            </a:r>
            <a:r>
              <a:rPr sz="1200" spc="-10">
                <a:latin typeface="Verdana"/>
                <a:cs typeface="Verdana"/>
              </a:rPr>
              <a:t>NullPointerException.</a:t>
            </a: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469265"/>
              </a:tabLst>
            </a:pPr>
            <a:r>
              <a:rPr sz="1200">
                <a:latin typeface="Verdana"/>
                <a:cs typeface="Verdana"/>
              </a:rPr>
              <a:t>String</a:t>
            </a:r>
            <a:r>
              <a:rPr sz="1200" spc="-7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s=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00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69265"/>
              </a:tabLst>
            </a:pPr>
            <a:r>
              <a:rPr sz="1200" spc="-10">
                <a:latin typeface="Verdana"/>
                <a:cs typeface="Verdana"/>
              </a:rPr>
              <a:t>System.out.println(s.length());</a:t>
            </a:r>
            <a:r>
              <a:rPr sz="1200" spc="-10">
                <a:solidFill>
                  <a:srgbClr val="008200"/>
                </a:solidFill>
                <a:latin typeface="Verdana"/>
                <a:cs typeface="Verdana"/>
              </a:rPr>
              <a:t>//NullPointerException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472572"/>
            <a:ext cx="4778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3)</a:t>
            </a:r>
            <a:r>
              <a:rPr sz="1600" spc="-114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A</a:t>
            </a:r>
            <a:r>
              <a:rPr sz="1600" spc="-11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scenario</a:t>
            </a:r>
            <a:r>
              <a:rPr sz="1600" spc="-6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where</a:t>
            </a:r>
            <a:r>
              <a:rPr sz="1600" spc="-4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NumberFormatException</a:t>
            </a:r>
            <a:r>
              <a:rPr sz="1600" spc="-4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occurs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884941"/>
            <a:ext cx="8204834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>
                <a:latin typeface="Verdana"/>
                <a:cs typeface="Verdana"/>
              </a:rPr>
              <a:t>The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wrong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formatting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of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any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value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may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occur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NumberFormatException.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Suppose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have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</a:t>
            </a:r>
            <a:r>
              <a:rPr sz="1300" spc="15"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string</a:t>
            </a:r>
            <a:r>
              <a:rPr sz="1300" spc="-1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variable</a:t>
            </a:r>
            <a:r>
              <a:rPr sz="1300" spc="-5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that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has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characters,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converting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this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variable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into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digit</a:t>
            </a:r>
            <a:r>
              <a:rPr sz="1300" spc="-5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will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occur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NumberFormatException.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String</a:t>
            </a:r>
            <a:r>
              <a:rPr sz="1300" spc="-7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s=</a:t>
            </a:r>
            <a:r>
              <a:rPr sz="1300" spc="-10">
                <a:solidFill>
                  <a:srgbClr val="0000FF"/>
                </a:solidFill>
                <a:latin typeface="Verdana"/>
                <a:cs typeface="Verdana"/>
              </a:rPr>
              <a:t>"abc"</a:t>
            </a:r>
            <a:r>
              <a:rPr sz="1300" spc="-10">
                <a:latin typeface="Verdana"/>
                <a:cs typeface="Verdana"/>
              </a:rPr>
              <a:t>;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915"/>
              </a:spcBef>
              <a:buClr>
                <a:srgbClr val="000000"/>
              </a:buClr>
              <a:buFont typeface="Verdana"/>
              <a:buAutoNum type="arabicPeriod"/>
              <a:tabLst>
                <a:tab pos="469265"/>
              </a:tabLst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int </a:t>
            </a:r>
            <a:r>
              <a:rPr sz="1300" spc="-10">
                <a:latin typeface="Verdana"/>
                <a:cs typeface="Verdana"/>
              </a:rPr>
              <a:t>i=Integer.parseInt(s);</a:t>
            </a:r>
            <a:r>
              <a:rPr sz="1300" spc="-10">
                <a:solidFill>
                  <a:srgbClr val="008200"/>
                </a:solidFill>
                <a:latin typeface="Verdana"/>
                <a:cs typeface="Verdana"/>
              </a:rPr>
              <a:t>//NumberFormatException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472572"/>
            <a:ext cx="56146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4)</a:t>
            </a:r>
            <a:r>
              <a:rPr sz="1600" spc="-7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A</a:t>
            </a:r>
            <a:r>
              <a:rPr sz="1600" spc="-8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scenario</a:t>
            </a:r>
            <a:r>
              <a:rPr sz="1600" spc="1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610B4B"/>
                </a:solidFill>
                <a:latin typeface="Arial MT"/>
                <a:cs typeface="Arial MT"/>
              </a:rPr>
              <a:t>where</a:t>
            </a:r>
            <a:r>
              <a:rPr sz="1600" spc="-7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ArrayIndexOutOfBoundsException</a:t>
            </a:r>
            <a:r>
              <a:rPr sz="1600" spc="15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610B4B"/>
                </a:solidFill>
                <a:latin typeface="Arial MT"/>
                <a:cs typeface="Arial MT"/>
              </a:rPr>
              <a:t>occurs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884941"/>
            <a:ext cx="5599430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>
                <a:latin typeface="Verdana"/>
                <a:cs typeface="Verdana"/>
              </a:rPr>
              <a:t>If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you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are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inserting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any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value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in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wrong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index,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it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would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result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 spc="-25">
                <a:latin typeface="Verdana"/>
                <a:cs typeface="Verdana"/>
              </a:rPr>
              <a:t>in </a:t>
            </a:r>
            <a:r>
              <a:rPr sz="1300" spc="-10">
                <a:latin typeface="Verdana"/>
                <a:cs typeface="Verdana"/>
              </a:rPr>
              <a:t>ArrayIndexOutOfBoundsException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as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shown</a:t>
            </a:r>
            <a:r>
              <a:rPr sz="1300" spc="-3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below: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1215"/>
              </a:spcBef>
              <a:buClr>
                <a:srgbClr val="000000"/>
              </a:buClr>
              <a:buFont typeface="Verdana"/>
              <a:buAutoNum type="arabicPeriod"/>
              <a:tabLst>
                <a:tab pos="469265"/>
              </a:tabLst>
            </a:pP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30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a[]=</a:t>
            </a:r>
            <a:r>
              <a:rPr sz="13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0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00" b="1" spc="-1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300" spc="-10">
                <a:latin typeface="Verdana"/>
                <a:cs typeface="Verdana"/>
              </a:rPr>
              <a:t>[</a:t>
            </a:r>
            <a:r>
              <a:rPr sz="1300" spc="-1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300" spc="-10">
                <a:latin typeface="Verdana"/>
                <a:cs typeface="Verdana"/>
              </a:rPr>
              <a:t>];</a:t>
            </a:r>
            <a:endParaRPr sz="1300">
              <a:latin typeface="Verdana"/>
              <a:cs typeface="Verdana"/>
            </a:endParaRPr>
          </a:p>
          <a:p>
            <a:pPr marL="469265" indent="-39306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469265"/>
              </a:tabLst>
            </a:pPr>
            <a:r>
              <a:rPr sz="1300">
                <a:latin typeface="Verdana"/>
                <a:cs typeface="Verdana"/>
              </a:rPr>
              <a:t>a[</a:t>
            </a:r>
            <a:r>
              <a:rPr sz="130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300">
                <a:latin typeface="Verdana"/>
                <a:cs typeface="Verdana"/>
              </a:rPr>
              <a:t>]=</a:t>
            </a:r>
            <a:r>
              <a:rPr sz="130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300">
                <a:latin typeface="Verdana"/>
                <a:cs typeface="Verdana"/>
              </a:rPr>
              <a:t>;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008200"/>
                </a:solidFill>
                <a:latin typeface="Verdana"/>
                <a:cs typeface="Verdana"/>
              </a:rPr>
              <a:t>//ArrayIndexOutOfBoundsException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try</a:t>
            </a:r>
            <a:r>
              <a:rPr sz="1900" b="1" spc="-5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block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5993" y="1315472"/>
            <a:ext cx="7810500" cy="228600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4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Java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b="1">
                <a:latin typeface="Verdana"/>
                <a:cs typeface="Verdana"/>
              </a:rPr>
              <a:t>try</a:t>
            </a:r>
            <a:r>
              <a:rPr sz="1400" b="1" spc="-2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block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enclose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code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that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might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throw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exception.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844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It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must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used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within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method.</a:t>
            </a:r>
            <a:endParaRPr sz="1400">
              <a:latin typeface="Verdana"/>
              <a:cs typeface="Verdana"/>
            </a:endParaRPr>
          </a:p>
          <a:p>
            <a:pPr marL="348615" marR="5080" indent="-336550">
              <a:lnSpc>
                <a:spcPct val="151800"/>
              </a:lnSpc>
              <a:buFont typeface="Arial MT"/>
              <a:buChar char="●"/>
              <a:tabLst>
                <a:tab pos="348615"/>
              </a:tabLst>
            </a:pPr>
            <a:r>
              <a:rPr sz="1400">
                <a:latin typeface="Verdana"/>
                <a:cs typeface="Verdana"/>
              </a:rPr>
              <a:t>If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an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exception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occurs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at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particular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statement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try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block,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rest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block </a:t>
            </a:r>
            <a:r>
              <a:rPr sz="1400">
                <a:latin typeface="Verdana"/>
                <a:cs typeface="Verdana"/>
              </a:rPr>
              <a:t>code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will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not</a:t>
            </a:r>
            <a:r>
              <a:rPr sz="1400" spc="-4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execute.</a:t>
            </a:r>
            <a:endParaRPr sz="1400">
              <a:latin typeface="Verdana"/>
              <a:cs typeface="Verdana"/>
            </a:endParaRPr>
          </a:p>
          <a:p>
            <a:pPr marL="348615" marR="206375" indent="-336550">
              <a:lnSpc>
                <a:spcPct val="151800"/>
              </a:lnSpc>
              <a:buFont typeface="Arial MT"/>
              <a:buChar char="●"/>
              <a:tabLst>
                <a:tab pos="348615"/>
              </a:tabLst>
            </a:pPr>
            <a:r>
              <a:rPr sz="1400">
                <a:latin typeface="Verdana"/>
                <a:cs typeface="Verdana"/>
              </a:rPr>
              <a:t>So,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is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recommended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not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to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keeping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code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in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try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block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that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will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not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throw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25">
                <a:latin typeface="Verdana"/>
                <a:cs typeface="Verdana"/>
              </a:rPr>
              <a:t>an </a:t>
            </a:r>
            <a:r>
              <a:rPr sz="1400" spc="-10">
                <a:latin typeface="Verdana"/>
                <a:cs typeface="Verdana"/>
              </a:rPr>
              <a:t>exception.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870"/>
              </a:spcBef>
              <a:buFont typeface="Arial MT"/>
              <a:buChar char="●"/>
              <a:tabLst>
                <a:tab pos="347980"/>
              </a:tabLst>
            </a:pPr>
            <a:r>
              <a:rPr sz="1400">
                <a:latin typeface="Verdana"/>
                <a:cs typeface="Verdana"/>
              </a:rPr>
              <a:t>Java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try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block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must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be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followed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by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either</a:t>
            </a:r>
            <a:r>
              <a:rPr sz="1400" spc="-3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catch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or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finally</a:t>
            </a:r>
            <a:r>
              <a:rPr sz="1400" spc="-3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block.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270446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000" b="1" spc="-2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//code</a:t>
            </a:r>
            <a:r>
              <a:rPr sz="10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that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may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throw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an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exception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}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00" b="1" spc="-10">
                <a:latin typeface="Verdana"/>
                <a:cs typeface="Verdana"/>
              </a:rPr>
              <a:t>(Exception_class_Name</a:t>
            </a:r>
            <a:r>
              <a:rPr sz="1000" b="1" spc="130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ref){}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2640845"/>
            <a:ext cx="263842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000" b="1" spc="-2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//code</a:t>
            </a:r>
            <a:r>
              <a:rPr sz="10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that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may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throw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an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exception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}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finally</a:t>
            </a:r>
            <a:r>
              <a:rPr sz="1000" b="1" spc="-10">
                <a:latin typeface="Verdana"/>
                <a:cs typeface="Verdana"/>
              </a:rPr>
              <a:t>{}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7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catch</a:t>
            </a:r>
            <a:r>
              <a:rPr sz="1900" b="1" spc="-70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block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274" y="1333634"/>
            <a:ext cx="8042909" cy="195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49300"/>
              </a:lnSpc>
              <a:spcBef>
                <a:spcPts val="100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Java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catch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by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declaring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type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of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within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parameter.</a:t>
            </a:r>
            <a:endParaRPr sz="1200">
              <a:latin typeface="Verdana"/>
              <a:cs typeface="Verdana"/>
            </a:endParaRPr>
          </a:p>
          <a:p>
            <a:pPr marL="332740" marR="623570" indent="-320675">
              <a:lnSpc>
                <a:spcPct val="151000"/>
              </a:lnSpc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declared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must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parent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class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(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i.e.,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Exception)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the </a:t>
            </a:r>
            <a:r>
              <a:rPr sz="1200" b="1" spc="-10">
                <a:latin typeface="Verdana"/>
                <a:cs typeface="Verdana"/>
              </a:rPr>
              <a:t>generated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type.</a:t>
            </a:r>
            <a:endParaRPr sz="1200">
              <a:latin typeface="Verdana"/>
              <a:cs typeface="Verdana"/>
            </a:endParaRPr>
          </a:p>
          <a:p>
            <a:pPr marL="384810" indent="-372110">
              <a:lnSpc>
                <a:spcPct val="100000"/>
              </a:lnSpc>
              <a:spcBef>
                <a:spcPts val="735"/>
              </a:spcBef>
              <a:buFont typeface="Arial"/>
              <a:buChar char="●"/>
              <a:tabLst>
                <a:tab pos="384810"/>
              </a:tabLst>
            </a:pPr>
            <a:r>
              <a:rPr sz="1200" b="1" spc="-10">
                <a:latin typeface="Verdana"/>
                <a:cs typeface="Verdana"/>
              </a:rPr>
              <a:t>However,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good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approach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declare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generated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type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of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exception.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catch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must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after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only.</a:t>
            </a:r>
            <a:endParaRPr sz="12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Font typeface="Arial"/>
              <a:buChar char="●"/>
              <a:tabLst>
                <a:tab pos="332740"/>
              </a:tabLst>
            </a:pPr>
            <a:r>
              <a:rPr sz="1200" b="1">
                <a:latin typeface="Verdana"/>
                <a:cs typeface="Verdana"/>
              </a:rPr>
              <a:t>You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multiple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catch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block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with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single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try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block.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3168650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TryCatchExample1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86055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main(String[]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args)</a:t>
            </a:r>
            <a:endParaRPr sz="1000">
              <a:latin typeface="Verdana"/>
              <a:cs typeface="Verdana"/>
            </a:endParaRPr>
          </a:p>
          <a:p>
            <a:pPr marL="5588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58775" marR="5080" indent="635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data=</a:t>
            </a:r>
            <a:r>
              <a:rPr sz="1000" b="1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00" b="1">
                <a:latin typeface="Verdana"/>
                <a:cs typeface="Verdana"/>
              </a:rPr>
              <a:t>/</a:t>
            </a:r>
            <a:r>
              <a:rPr sz="1000" b="1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00" b="1">
                <a:latin typeface="Verdana"/>
                <a:cs typeface="Verdana"/>
              </a:rPr>
              <a:t>;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//may</a:t>
            </a:r>
            <a:r>
              <a:rPr sz="10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throw</a:t>
            </a:r>
            <a:r>
              <a:rPr sz="1000" b="1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exception </a:t>
            </a: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"rest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code"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4224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2750" y="4242504"/>
            <a:ext cx="4908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Arial"/>
                <a:cs typeface="Arial"/>
              </a:rPr>
              <a:t>Exception</a:t>
            </a:r>
            <a:r>
              <a:rPr sz="1200" b="1" spc="-2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in</a:t>
            </a:r>
            <a:r>
              <a:rPr sz="1200" b="1" spc="-2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thread</a:t>
            </a:r>
            <a:r>
              <a:rPr sz="1200" b="1" spc="-20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"main"</a:t>
            </a:r>
            <a:r>
              <a:rPr sz="1200" b="1" spc="-2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java.lang.ArithmeticException:</a:t>
            </a:r>
            <a:r>
              <a:rPr sz="1200" b="1" spc="-20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/</a:t>
            </a:r>
            <a:r>
              <a:rPr sz="1200" b="1" spc="-2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by</a:t>
            </a:r>
            <a:r>
              <a:rPr sz="1200" b="1" spc="-20">
                <a:latin typeface="Arial"/>
                <a:cs typeface="Arial"/>
              </a:rPr>
              <a:t> zero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136375" y="240595"/>
            <a:ext cx="3168650" cy="376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TryCatchExample2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86055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main(String[]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59410">
              <a:lnSpc>
                <a:spcPct val="100000"/>
              </a:lnSpc>
              <a:spcBef>
                <a:spcPts val="975"/>
              </a:spcBef>
            </a:pP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endParaRPr sz="1000">
              <a:latin typeface="Verdana"/>
              <a:cs typeface="Verdana"/>
            </a:endParaRPr>
          </a:p>
          <a:p>
            <a:pPr marL="358775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35941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data=</a:t>
            </a:r>
            <a:r>
              <a:rPr sz="1000" b="1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00" b="1">
                <a:latin typeface="Verdana"/>
                <a:cs typeface="Verdana"/>
              </a:rPr>
              <a:t>/</a:t>
            </a:r>
            <a:r>
              <a:rPr sz="1000" b="1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00" b="1">
                <a:latin typeface="Verdana"/>
                <a:cs typeface="Verdana"/>
              </a:rPr>
              <a:t>;</a:t>
            </a:r>
            <a:r>
              <a:rPr sz="1000" b="1" spc="-3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//may</a:t>
            </a:r>
            <a:r>
              <a:rPr sz="10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throw</a:t>
            </a:r>
            <a:r>
              <a:rPr sz="1000" b="1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exception</a:t>
            </a:r>
            <a:endParaRPr sz="1000">
              <a:latin typeface="Verdana"/>
              <a:cs typeface="Verdana"/>
            </a:endParaRPr>
          </a:p>
          <a:p>
            <a:pPr marL="359410" marR="292100" indent="-1270">
              <a:lnSpc>
                <a:spcPct val="181300"/>
              </a:lnSpc>
              <a:tabLst>
                <a:tab pos="1057275"/>
              </a:tabLst>
            </a:pPr>
            <a:r>
              <a:rPr sz="1000" b="1" spc="-50">
                <a:latin typeface="Verdana"/>
                <a:cs typeface="Verdana"/>
              </a:rPr>
              <a:t>}</a:t>
            </a:r>
            <a:r>
              <a:rPr sz="1000" b="1">
                <a:latin typeface="Verdana"/>
                <a:cs typeface="Verdana"/>
              </a:rPr>
              <a:t>	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//handling</a:t>
            </a:r>
            <a:r>
              <a:rPr sz="1000" b="1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0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exception </a:t>
            </a:r>
            <a:r>
              <a:rPr sz="10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00" b="1" spc="-10">
                <a:latin typeface="Verdana"/>
                <a:cs typeface="Verdana"/>
              </a:rPr>
              <a:t>(ArithmeticException</a:t>
            </a:r>
            <a:r>
              <a:rPr sz="1000" b="1" spc="130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e)</a:t>
            </a:r>
            <a:endParaRPr sz="1000">
              <a:latin typeface="Verdana"/>
              <a:cs typeface="Verdana"/>
            </a:endParaRPr>
          </a:p>
          <a:p>
            <a:pPr marL="358775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53213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System.out.println(e);</a:t>
            </a:r>
            <a:endParaRPr sz="1000">
              <a:latin typeface="Verdana"/>
              <a:cs typeface="Verdana"/>
            </a:endParaRPr>
          </a:p>
          <a:p>
            <a:pPr marL="358775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358775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latin typeface="Verdana"/>
                <a:cs typeface="Verdana"/>
              </a:rPr>
              <a:t>System.out.println(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"rest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000" b="1" spc="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code"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8542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375" y="4107745"/>
            <a:ext cx="116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7550" y="4133113"/>
            <a:ext cx="33934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>
                <a:latin typeface="Arial"/>
                <a:cs typeface="Arial"/>
              </a:rPr>
              <a:t>java.lang.ArithmeticException:</a:t>
            </a:r>
            <a:r>
              <a:rPr sz="1400" b="1" spc="-2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/</a:t>
            </a:r>
            <a:r>
              <a:rPr sz="1400" b="1" spc="-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by</a:t>
            </a:r>
            <a:r>
              <a:rPr sz="1400" b="1" spc="-5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zero </a:t>
            </a:r>
            <a:r>
              <a:rPr sz="1400" b="1">
                <a:latin typeface="Arial"/>
                <a:cs typeface="Arial"/>
              </a:rPr>
              <a:t>rest</a:t>
            </a:r>
            <a:r>
              <a:rPr sz="1400" b="1" spc="-1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of</a:t>
            </a:r>
            <a:r>
              <a:rPr sz="1400" b="1" spc="-1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the</a:t>
            </a:r>
            <a:r>
              <a:rPr sz="1400" b="1" spc="-5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12300" y="206854"/>
            <a:ext cx="4970145" cy="4094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TryCatchExample9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29259" marR="1372870" indent="-208915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main(String[]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args)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50">
                <a:latin typeface="Verdana"/>
                <a:cs typeface="Verdana"/>
              </a:rPr>
              <a:t>{ 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endParaRPr sz="1200">
              <a:latin typeface="Verdana"/>
              <a:cs typeface="Verdana"/>
            </a:endParaRPr>
          </a:p>
          <a:p>
            <a:pPr marL="42799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429259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arr[]=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{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1</a:t>
            </a:r>
            <a:r>
              <a:rPr sz="1200" b="1" spc="-10">
                <a:latin typeface="Verdana"/>
                <a:cs typeface="Verdana"/>
              </a:rPr>
              <a:t>,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200" b="1" spc="-10">
                <a:latin typeface="Verdana"/>
                <a:cs typeface="Verdana"/>
              </a:rPr>
              <a:t>,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200" b="1" spc="-10">
                <a:latin typeface="Verdana"/>
                <a:cs typeface="Verdana"/>
              </a:rPr>
              <a:t>,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7</a:t>
            </a:r>
            <a:r>
              <a:rPr sz="1200" b="1" spc="-10">
                <a:latin typeface="Verdana"/>
                <a:cs typeface="Verdana"/>
              </a:rPr>
              <a:t>};</a:t>
            </a:r>
            <a:endParaRPr sz="1200">
              <a:latin typeface="Verdana"/>
              <a:cs typeface="Verdana"/>
            </a:endParaRPr>
          </a:p>
          <a:p>
            <a:pPr marL="42799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System.out.println(arr[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200" b="1" spc="-10">
                <a:latin typeface="Verdana"/>
                <a:cs typeface="Verdana"/>
              </a:rPr>
              <a:t>]);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//may</a:t>
            </a:r>
            <a:r>
              <a:rPr sz="1200" b="1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throw</a:t>
            </a:r>
            <a:r>
              <a:rPr sz="1200" b="1" spc="-3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exception</a:t>
            </a:r>
            <a:endParaRPr sz="1200">
              <a:latin typeface="Verdana"/>
              <a:cs typeface="Verdana"/>
            </a:endParaRPr>
          </a:p>
          <a:p>
            <a:pPr marL="429259" marR="810260" indent="-1270">
              <a:lnSpc>
                <a:spcPct val="177100"/>
              </a:lnSpc>
              <a:tabLst>
                <a:tab pos="1266825"/>
              </a:tabLst>
            </a:pPr>
            <a:r>
              <a:rPr sz="1200" b="1" spc="-50">
                <a:latin typeface="Verdana"/>
                <a:cs typeface="Verdana"/>
              </a:rPr>
              <a:t>}</a:t>
            </a:r>
            <a:r>
              <a:rPr sz="1200" b="1">
                <a:latin typeface="Verdana"/>
                <a:cs typeface="Verdana"/>
              </a:rPr>
              <a:t>	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2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handling</a:t>
            </a:r>
            <a:r>
              <a:rPr sz="12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200" b="1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8200"/>
                </a:solidFill>
                <a:latin typeface="Verdana"/>
                <a:cs typeface="Verdana"/>
              </a:rPr>
              <a:t>array</a:t>
            </a:r>
            <a:r>
              <a:rPr sz="1200" b="1" spc="-3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8200"/>
                </a:solidFill>
                <a:latin typeface="Verdana"/>
                <a:cs typeface="Verdana"/>
              </a:rPr>
              <a:t>exception 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 spc="-10">
                <a:latin typeface="Verdana"/>
                <a:cs typeface="Verdana"/>
              </a:rPr>
              <a:t>(ArrayIndexOutOfBoundsException</a:t>
            </a:r>
            <a:r>
              <a:rPr sz="1200" b="1" spc="175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42799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63627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System.out.println(e);</a:t>
            </a:r>
            <a:endParaRPr sz="1200">
              <a:latin typeface="Verdana"/>
              <a:cs typeface="Verdana"/>
            </a:endParaRPr>
          </a:p>
          <a:p>
            <a:pPr marL="42799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42799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"rest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code"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2300" y="4416904"/>
            <a:ext cx="133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5925" y="4320429"/>
            <a:ext cx="35058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spc="-10">
                <a:latin typeface="Arial"/>
                <a:cs typeface="Arial"/>
              </a:rPr>
              <a:t>java.lang.ArrayIndexOutOfBoundsException:</a:t>
            </a:r>
            <a:r>
              <a:rPr sz="1200" b="1" spc="145">
                <a:latin typeface="Arial"/>
                <a:cs typeface="Arial"/>
              </a:rPr>
              <a:t> </a:t>
            </a:r>
            <a:r>
              <a:rPr sz="1200" b="1" spc="-25">
                <a:latin typeface="Arial"/>
                <a:cs typeface="Arial"/>
              </a:rPr>
              <a:t>10 </a:t>
            </a:r>
            <a:r>
              <a:rPr sz="1200" b="1">
                <a:latin typeface="Arial"/>
                <a:cs typeface="Arial"/>
              </a:rPr>
              <a:t>rest</a:t>
            </a:r>
            <a:r>
              <a:rPr sz="1200" b="1" spc="-1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of</a:t>
            </a:r>
            <a:r>
              <a:rPr sz="1200" b="1" spc="-10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the</a:t>
            </a:r>
            <a:r>
              <a:rPr sz="1200" b="1" spc="-15">
                <a:latin typeface="Arial"/>
                <a:cs typeface="Arial"/>
              </a:rPr>
              <a:t> </a:t>
            </a:r>
            <a:r>
              <a:rPr sz="1200" b="1" spc="-20">
                <a:latin typeface="Arial"/>
                <a:cs typeface="Arial"/>
              </a:rPr>
              <a:t>code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/>
              <a:t>Nested</a:t>
            </a:r>
            <a:r>
              <a:rPr spc="-65"/>
              <a:t> </a:t>
            </a:r>
            <a:r>
              <a:rPr/>
              <a:t>try</a:t>
            </a:r>
            <a:r>
              <a:rPr spc="-65"/>
              <a:t> </a:t>
            </a:r>
            <a:r>
              <a:rPr spc="-10"/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4311"/>
            <a:ext cx="5380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try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block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within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try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block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known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nested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try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block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in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java.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792738"/>
            <a:ext cx="26269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Why</a:t>
            </a:r>
            <a:r>
              <a:rPr sz="1700" b="1" spc="-5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use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nested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try</a:t>
            </a:r>
            <a:r>
              <a:rPr sz="1700" b="1" spc="-4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block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005" y="2179326"/>
            <a:ext cx="8039734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>
              <a:lnSpc>
                <a:spcPct val="147700"/>
              </a:lnSpc>
              <a:spcBef>
                <a:spcPts val="100"/>
              </a:spcBef>
              <a:buFont typeface="Arial"/>
              <a:buChar char="●"/>
              <a:tabLst>
                <a:tab pos="325120"/>
              </a:tabLst>
            </a:pPr>
            <a:r>
              <a:rPr sz="1100" b="1">
                <a:latin typeface="Verdana"/>
                <a:cs typeface="Verdana"/>
              </a:rPr>
              <a:t>Sometimes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situation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arise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where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part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block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cause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one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error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entire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block </a:t>
            </a:r>
            <a:r>
              <a:rPr sz="1100" b="1">
                <a:latin typeface="Verdana"/>
                <a:cs typeface="Verdana"/>
              </a:rPr>
              <a:t>itself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may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cause</a:t>
            </a:r>
            <a:r>
              <a:rPr sz="1100" b="1" spc="-5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another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error.</a:t>
            </a:r>
            <a:endParaRPr sz="1100">
              <a:latin typeface="Verdana"/>
              <a:cs typeface="Verdana"/>
            </a:endParaRPr>
          </a:p>
          <a:p>
            <a:pPr marL="325120" indent="-312420">
              <a:lnSpc>
                <a:spcPct val="100000"/>
              </a:lnSpc>
              <a:spcBef>
                <a:spcPts val="630"/>
              </a:spcBef>
              <a:buFont typeface="Arial"/>
              <a:buChar char="●"/>
              <a:tabLst>
                <a:tab pos="325120"/>
              </a:tabLst>
            </a:pPr>
            <a:r>
              <a:rPr sz="1100" b="1">
                <a:latin typeface="Verdana"/>
                <a:cs typeface="Verdana"/>
              </a:rPr>
              <a:t>In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such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cases,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exception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handlers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have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nested.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8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73025" y="105028"/>
            <a:ext cx="3561715" cy="3446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Excep6{</a:t>
            </a:r>
            <a:endParaRPr sz="1200">
              <a:latin typeface="Verdana"/>
              <a:cs typeface="Verdana"/>
            </a:endParaRPr>
          </a:p>
          <a:p>
            <a:pPr marL="64769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20979" marR="2980055" indent="-104775">
              <a:lnSpc>
                <a:spcPct val="177100"/>
              </a:lnSpc>
            </a:pP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200" b="1" spc="-20">
                <a:latin typeface="Verdana"/>
                <a:cs typeface="Verdana"/>
              </a:rPr>
              <a:t>{ 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200" b="1" spc="-2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73050" marR="5080" indent="-635">
              <a:lnSpc>
                <a:spcPct val="177100"/>
              </a:lnSpc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"going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to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 divide"</a:t>
            </a:r>
            <a:r>
              <a:rPr sz="1200" b="1" spc="-10">
                <a:latin typeface="Verdana"/>
                <a:cs typeface="Verdana"/>
              </a:rPr>
              <a:t>);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=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39</a:t>
            </a:r>
            <a:r>
              <a:rPr sz="1200" b="1" spc="-10">
                <a:latin typeface="Verdana"/>
                <a:cs typeface="Verdana"/>
              </a:rPr>
              <a:t>/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}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 spc="-10">
                <a:latin typeface="Verdana"/>
                <a:cs typeface="Verdana"/>
              </a:rPr>
              <a:t>(ArithmeticException</a:t>
            </a:r>
            <a:r>
              <a:rPr sz="1200" b="1" spc="-5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System.out.println(e);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27553"/>
            <a:ext cx="4065270" cy="474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</a:pP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20345" marR="2177415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a[]=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10">
                <a:latin typeface="Verdana"/>
                <a:cs typeface="Verdana"/>
              </a:rPr>
              <a:t>[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200" b="1" spc="-10">
                <a:latin typeface="Verdana"/>
                <a:cs typeface="Verdana"/>
              </a:rPr>
              <a:t>]; a[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200" b="1" spc="-10">
                <a:latin typeface="Verdana"/>
                <a:cs typeface="Verdana"/>
              </a:rPr>
              <a:t>]=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4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}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 spc="-10">
                <a:latin typeface="Verdana"/>
                <a:cs typeface="Verdana"/>
              </a:rPr>
              <a:t>(ArrayIndexOutOfBoundsException</a:t>
            </a:r>
            <a:r>
              <a:rPr sz="1200" b="1" spc="185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System.out.println(e);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System.out.println("other</a:t>
            </a:r>
            <a:r>
              <a:rPr sz="1200" b="1" spc="-5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statement);</a:t>
            </a:r>
            <a:endParaRPr sz="1200">
              <a:latin typeface="Verdana"/>
              <a:cs typeface="Verdana"/>
            </a:endParaRPr>
          </a:p>
          <a:p>
            <a:pPr marL="116205">
              <a:lnSpc>
                <a:spcPct val="100000"/>
              </a:lnSpc>
              <a:spcBef>
                <a:spcPts val="1110"/>
              </a:spcBef>
            </a:pPr>
            <a:r>
              <a:rPr sz="1200" b="1">
                <a:latin typeface="Verdana"/>
                <a:cs typeface="Verdana"/>
              </a:rPr>
              <a:t>}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>
                <a:latin typeface="Verdana"/>
                <a:cs typeface="Verdana"/>
              </a:rPr>
              <a:t>(Exception</a:t>
            </a:r>
            <a:r>
              <a:rPr sz="1200" b="1" spc="-7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"handeled"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1620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"normal</a:t>
            </a:r>
            <a:r>
              <a:rPr sz="1200" b="1" spc="-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flow.."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6413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Java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finally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262" y="1387354"/>
            <a:ext cx="7868284" cy="108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>
              <a:lnSpc>
                <a:spcPct val="115300"/>
              </a:lnSpc>
              <a:spcBef>
                <a:spcPts val="100"/>
              </a:spcBef>
              <a:buFont typeface="Arial"/>
              <a:buChar char="●"/>
              <a:tabLst>
                <a:tab pos="356235"/>
              </a:tabLst>
            </a:pPr>
            <a:r>
              <a:rPr sz="1500" b="1">
                <a:latin typeface="Times New Roman"/>
                <a:cs typeface="Times New Roman"/>
              </a:rPr>
              <a:t>Java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finally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block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is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a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block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that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is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used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 i="1">
                <a:latin typeface="Times New Roman"/>
                <a:cs typeface="Times New Roman"/>
              </a:rPr>
              <a:t>to</a:t>
            </a:r>
            <a:r>
              <a:rPr sz="1500" b="1" i="1" spc="-15">
                <a:latin typeface="Times New Roman"/>
                <a:cs typeface="Times New Roman"/>
              </a:rPr>
              <a:t> </a:t>
            </a:r>
            <a:r>
              <a:rPr sz="1500" b="1" i="1">
                <a:latin typeface="Times New Roman"/>
                <a:cs typeface="Times New Roman"/>
              </a:rPr>
              <a:t>execute</a:t>
            </a:r>
            <a:r>
              <a:rPr sz="1500" b="1" i="1" spc="-20">
                <a:latin typeface="Times New Roman"/>
                <a:cs typeface="Times New Roman"/>
              </a:rPr>
              <a:t> </a:t>
            </a:r>
            <a:r>
              <a:rPr sz="1500" b="1" i="1">
                <a:latin typeface="Times New Roman"/>
                <a:cs typeface="Times New Roman"/>
              </a:rPr>
              <a:t>important</a:t>
            </a:r>
            <a:r>
              <a:rPr sz="1500" b="1" i="1" spc="-25">
                <a:latin typeface="Times New Roman"/>
                <a:cs typeface="Times New Roman"/>
              </a:rPr>
              <a:t> </a:t>
            </a:r>
            <a:r>
              <a:rPr sz="1500" b="1" i="1">
                <a:latin typeface="Times New Roman"/>
                <a:cs typeface="Times New Roman"/>
              </a:rPr>
              <a:t>code</a:t>
            </a:r>
            <a:r>
              <a:rPr sz="1500" b="1" i="1" spc="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such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as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closing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connection, </a:t>
            </a:r>
            <a:r>
              <a:rPr sz="1500" b="1">
                <a:latin typeface="Times New Roman"/>
                <a:cs typeface="Times New Roman"/>
              </a:rPr>
              <a:t>stream</a:t>
            </a:r>
            <a:r>
              <a:rPr sz="1500" b="1" spc="-60">
                <a:latin typeface="Times New Roman"/>
                <a:cs typeface="Times New Roman"/>
              </a:rPr>
              <a:t> </a:t>
            </a:r>
            <a:r>
              <a:rPr sz="1500" b="1" spc="-20">
                <a:latin typeface="Times New Roman"/>
                <a:cs typeface="Times New Roman"/>
              </a:rPr>
              <a:t>etc.</a:t>
            </a:r>
            <a:endParaRPr sz="15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/>
              </a:tabLst>
            </a:pPr>
            <a:r>
              <a:rPr sz="1500" b="1">
                <a:latin typeface="Times New Roman"/>
                <a:cs typeface="Times New Roman"/>
              </a:rPr>
              <a:t>Java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finally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block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is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always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executed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whether</a:t>
            </a:r>
            <a:r>
              <a:rPr sz="1500" b="1" spc="-5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exception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is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handled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or</a:t>
            </a:r>
            <a:r>
              <a:rPr sz="1500" b="1" spc="-55">
                <a:latin typeface="Times New Roman"/>
                <a:cs typeface="Times New Roman"/>
              </a:rPr>
              <a:t> </a:t>
            </a:r>
            <a:r>
              <a:rPr sz="1500" b="1" spc="-20">
                <a:latin typeface="Times New Roman"/>
                <a:cs typeface="Times New Roman"/>
              </a:rPr>
              <a:t>not.</a:t>
            </a:r>
            <a:endParaRPr sz="15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/>
              </a:tabLst>
            </a:pPr>
            <a:r>
              <a:rPr sz="1500" b="1">
                <a:latin typeface="Times New Roman"/>
                <a:cs typeface="Times New Roman"/>
              </a:rPr>
              <a:t>Java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finally</a:t>
            </a:r>
            <a:r>
              <a:rPr sz="1500" b="1" spc="-1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block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follows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try</a:t>
            </a:r>
            <a:r>
              <a:rPr sz="1500" b="1" spc="-1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or</a:t>
            </a:r>
            <a:r>
              <a:rPr sz="1500" b="1" spc="-4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catch</a:t>
            </a:r>
            <a:r>
              <a:rPr sz="1500" b="1" spc="-1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block.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101855"/>
            <a:ext cx="8158480" cy="71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610B37"/>
                </a:solidFill>
                <a:latin typeface="Times New Roman"/>
                <a:cs typeface="Times New Roman"/>
              </a:rPr>
              <a:t>Why</a:t>
            </a:r>
            <a:r>
              <a:rPr sz="1500" b="1" spc="-3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610B37"/>
                </a:solidFill>
                <a:latin typeface="Times New Roman"/>
                <a:cs typeface="Times New Roman"/>
              </a:rPr>
              <a:t>use</a:t>
            </a:r>
            <a:r>
              <a:rPr sz="1500" b="1" spc="-35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610B37"/>
                </a:solidFill>
                <a:latin typeface="Times New Roman"/>
                <a:cs typeface="Times New Roman"/>
              </a:rPr>
              <a:t>java</a:t>
            </a:r>
            <a:r>
              <a:rPr sz="1500" b="1" spc="-3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610B37"/>
                </a:solidFill>
                <a:latin typeface="Times New Roman"/>
                <a:cs typeface="Times New Roman"/>
              </a:rPr>
              <a:t>finally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Times New Roman"/>
              <a:cs typeface="Times New Roman"/>
            </a:endParaRPr>
          </a:p>
          <a:p>
            <a:pPr marL="469265" indent="-343535">
              <a:lnSpc>
                <a:spcPct val="100000"/>
              </a:lnSpc>
              <a:buFont typeface="Arial MT"/>
              <a:buChar char="●"/>
              <a:tabLst>
                <a:tab pos="469265"/>
              </a:tabLst>
            </a:pPr>
            <a:r>
              <a:rPr sz="1500">
                <a:latin typeface="Times New Roman"/>
                <a:cs typeface="Times New Roman"/>
              </a:rPr>
              <a:t>Finally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block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in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java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can</a:t>
            </a:r>
            <a:r>
              <a:rPr sz="1500" spc="-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be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used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to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put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"cleanup"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code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such</a:t>
            </a:r>
            <a:r>
              <a:rPr sz="1500" spc="-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as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closing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a</a:t>
            </a:r>
            <a:r>
              <a:rPr sz="1500" spc="-1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file,</a:t>
            </a:r>
            <a:r>
              <a:rPr sz="1500" spc="-5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closing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>
                <a:latin typeface="Times New Roman"/>
                <a:cs typeface="Times New Roman"/>
              </a:rPr>
              <a:t>connection</a:t>
            </a:r>
            <a:r>
              <a:rPr sz="1500" spc="-10">
                <a:latin typeface="Times New Roman"/>
                <a:cs typeface="Times New Roman"/>
              </a:rPr>
              <a:t> </a:t>
            </a:r>
            <a:r>
              <a:rPr sz="1500" spc="-20">
                <a:latin typeface="Times New Roman"/>
                <a:cs typeface="Times New Roman"/>
              </a:rPr>
              <a:t>etc.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512073" y="0"/>
            <a:ext cx="5216124" cy="514349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20760"/>
            <a:ext cx="17233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EXAMPLE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776311"/>
            <a:ext cx="3060700" cy="385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TestFinallyBlock2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main(String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args[])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25">
                <a:latin typeface="Verdana"/>
                <a:cs typeface="Verdana"/>
              </a:rPr>
              <a:t>try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55575" marR="879475">
              <a:lnSpc>
                <a:spcPct val="181800"/>
              </a:lnSpc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data=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25</a:t>
            </a:r>
            <a:r>
              <a:rPr sz="1100" b="1" spc="-10">
                <a:latin typeface="Verdana"/>
                <a:cs typeface="Verdana"/>
              </a:rPr>
              <a:t>/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100" b="1" spc="-10">
                <a:latin typeface="Verdana"/>
                <a:cs typeface="Verdana"/>
              </a:rPr>
              <a:t>; System.out.println(data);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100" b="1" spc="-10">
                <a:latin typeface="Verdana"/>
                <a:cs typeface="Verdana"/>
              </a:rPr>
              <a:t>(ArithmeticException</a:t>
            </a:r>
            <a:r>
              <a:rPr sz="1100" b="1" spc="90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e)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latin typeface="Verdana"/>
                <a:cs typeface="Verdana"/>
              </a:rPr>
              <a:t>System.out.println(e);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0475" y="477361"/>
            <a:ext cx="4001135" cy="361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>
                <a:solidFill>
                  <a:srgbClr val="006699"/>
                </a:solidFill>
                <a:latin typeface="Verdana"/>
                <a:cs typeface="Verdana"/>
              </a:rPr>
              <a:t>finally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2700" marR="640715">
              <a:lnSpc>
                <a:spcPct val="159100"/>
              </a:lnSpc>
              <a:spcBef>
                <a:spcPts val="300"/>
              </a:spcBef>
            </a:pPr>
            <a:r>
              <a:rPr sz="1100" b="1" spc="-10">
                <a:latin typeface="Verdana"/>
                <a:cs typeface="Verdana"/>
              </a:rPr>
              <a:t>System.out.println(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"finally</a:t>
            </a:r>
            <a:r>
              <a:rPr sz="1100" b="1" spc="-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block</a:t>
            </a:r>
            <a:r>
              <a:rPr sz="11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1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always executed"</a:t>
            </a:r>
            <a:r>
              <a:rPr sz="1100" b="1" spc="-1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latin typeface="Verdana"/>
                <a:cs typeface="Verdana"/>
              </a:rPr>
              <a:t>System.out.println(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"rest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100" b="1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 code..."</a:t>
            </a:r>
            <a:r>
              <a:rPr sz="1100" b="1" spc="-1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500" b="1" spc="-10">
                <a:latin typeface="Arial"/>
                <a:cs typeface="Arial"/>
              </a:rPr>
              <a:t>Output</a:t>
            </a:r>
            <a:r>
              <a:rPr sz="1500" spc="-1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3599"/>
              </a:lnSpc>
              <a:spcBef>
                <a:spcPts val="1714"/>
              </a:spcBef>
            </a:pPr>
            <a:r>
              <a:rPr sz="1100" b="1" spc="-10">
                <a:latin typeface="Arial"/>
                <a:cs typeface="Arial"/>
              </a:rPr>
              <a:t>Exception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in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thread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main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java.lang.ArithmeticException:/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 spc="-25">
                <a:latin typeface="Arial"/>
                <a:cs typeface="Arial"/>
              </a:rPr>
              <a:t>by </a:t>
            </a:r>
            <a:r>
              <a:rPr sz="1100" b="1" spc="-20">
                <a:latin typeface="Arial"/>
                <a:cs typeface="Arial"/>
              </a:rPr>
              <a:t>zero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>
                <a:latin typeface="Arial"/>
                <a:cs typeface="Arial"/>
              </a:rPr>
              <a:t>finally</a:t>
            </a:r>
            <a:r>
              <a:rPr sz="1100" b="1" spc="-35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block</a:t>
            </a:r>
            <a:r>
              <a:rPr sz="1100" b="1" spc="-3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is</a:t>
            </a:r>
            <a:r>
              <a:rPr sz="1100" b="1" spc="-35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always</a:t>
            </a:r>
            <a:r>
              <a:rPr sz="1100" b="1" spc="-30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executed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0475" y="4296887"/>
            <a:ext cx="11811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Arial"/>
                <a:cs typeface="Arial"/>
              </a:rPr>
              <a:t>rest</a:t>
            </a:r>
            <a:r>
              <a:rPr sz="1100" b="1" spc="-1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of</a:t>
            </a:r>
            <a:r>
              <a:rPr sz="1100" b="1" spc="-1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the</a:t>
            </a:r>
            <a:r>
              <a:rPr sz="1100" b="1" spc="-5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code...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28281"/>
            <a:ext cx="2571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>
                <a:latin typeface="Arial"/>
                <a:cs typeface="Arial"/>
              </a:rPr>
              <a:t>Java</a:t>
            </a:r>
            <a:r>
              <a:rPr sz="2100" b="1" spc="-55">
                <a:latin typeface="Arial"/>
                <a:cs typeface="Arial"/>
              </a:rPr>
              <a:t> </a:t>
            </a:r>
            <a:r>
              <a:rPr sz="2100" b="1">
                <a:latin typeface="Arial"/>
                <a:cs typeface="Arial"/>
              </a:rPr>
              <a:t>throw</a:t>
            </a:r>
            <a:r>
              <a:rPr sz="2100" b="1" spc="-50">
                <a:latin typeface="Arial"/>
                <a:cs typeface="Arial"/>
              </a:rPr>
              <a:t> </a:t>
            </a:r>
            <a:r>
              <a:rPr sz="2100" b="1" spc="-10">
                <a:latin typeface="Arial"/>
                <a:cs typeface="Arial"/>
              </a:rPr>
              <a:t>keyword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633" y="992166"/>
            <a:ext cx="6932930" cy="151447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915"/>
              </a:spcBef>
              <a:buFont typeface="Arial MT"/>
              <a:buChar char="●"/>
              <a:tabLst>
                <a:tab pos="340360"/>
              </a:tabLst>
            </a:pPr>
            <a:r>
              <a:rPr sz="1300">
                <a:latin typeface="Verdana"/>
                <a:cs typeface="Verdana"/>
              </a:rPr>
              <a:t>The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Java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keyword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is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used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explicitly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an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exception.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15"/>
              </a:spcBef>
              <a:buFont typeface="Arial MT"/>
              <a:buChar char="●"/>
              <a:tabLst>
                <a:tab pos="340360"/>
              </a:tabLst>
            </a:pPr>
            <a:r>
              <a:rPr sz="1300">
                <a:latin typeface="Verdana"/>
                <a:cs typeface="Verdana"/>
              </a:rPr>
              <a:t>We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can</a:t>
            </a:r>
            <a:r>
              <a:rPr sz="1300" spc="-5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either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checked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or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uncheked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exception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in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java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by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keyword.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765"/>
              </a:spcBef>
              <a:buFont typeface="Arial MT"/>
              <a:buChar char="●"/>
              <a:tabLst>
                <a:tab pos="340360"/>
              </a:tabLst>
            </a:pPr>
            <a:r>
              <a:rPr sz="1300">
                <a:latin typeface="Verdana"/>
                <a:cs typeface="Verdana"/>
              </a:rPr>
              <a:t>The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keyword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is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mainly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used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to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custom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exception.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765"/>
              </a:spcBef>
              <a:buFont typeface="Arial MT"/>
              <a:buChar char="●"/>
              <a:tabLst>
                <a:tab pos="340360"/>
              </a:tabLst>
            </a:pPr>
            <a:r>
              <a:rPr sz="1300">
                <a:latin typeface="Verdana"/>
                <a:cs typeface="Verdana"/>
              </a:rPr>
              <a:t>We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will</a:t>
            </a:r>
            <a:r>
              <a:rPr sz="1300" spc="-2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see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custom</a:t>
            </a:r>
            <a:r>
              <a:rPr sz="1300" spc="-2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exceptions</a:t>
            </a:r>
            <a:r>
              <a:rPr sz="1300" spc="-30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later.</a:t>
            </a:r>
            <a:endParaRPr sz="13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765"/>
              </a:spcBef>
              <a:buFont typeface="Arial MT"/>
              <a:buChar char="●"/>
              <a:tabLst>
                <a:tab pos="340360"/>
              </a:tabLst>
            </a:pPr>
            <a:r>
              <a:rPr sz="1300">
                <a:latin typeface="Verdana"/>
                <a:cs typeface="Verdana"/>
              </a:rPr>
              <a:t>The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syntax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of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java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throw</a:t>
            </a:r>
            <a:r>
              <a:rPr sz="1300" spc="-40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keyword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is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>
                <a:latin typeface="Verdana"/>
                <a:cs typeface="Verdana"/>
              </a:rPr>
              <a:t>given</a:t>
            </a:r>
            <a:r>
              <a:rPr sz="1300" spc="-45">
                <a:latin typeface="Verdana"/>
                <a:cs typeface="Verdana"/>
              </a:rPr>
              <a:t> </a:t>
            </a:r>
            <a:r>
              <a:rPr sz="1300" spc="-10">
                <a:latin typeface="Verdana"/>
                <a:cs typeface="Verdana"/>
              </a:rPr>
              <a:t>below.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521557"/>
            <a:ext cx="4612640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469265"/>
              </a:tabLst>
            </a:pPr>
            <a:r>
              <a:rPr sz="1400" spc="-25">
                <a:latin typeface="Verdana"/>
                <a:cs typeface="Verdana"/>
              </a:rPr>
              <a:t>1.</a:t>
            </a:r>
            <a:r>
              <a:rPr sz="1400">
                <a:latin typeface="Verdana"/>
                <a:cs typeface="Verdana"/>
              </a:rPr>
              <a:t>	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throw</a:t>
            </a:r>
            <a:r>
              <a:rPr sz="1400" b="1" spc="-6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exception;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>
                <a:latin typeface="Verdana"/>
                <a:cs typeface="Verdana"/>
              </a:rPr>
              <a:t>Let's</a:t>
            </a:r>
            <a:r>
              <a:rPr sz="1400" spc="-5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see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example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of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throw</a:t>
            </a:r>
            <a:r>
              <a:rPr sz="1400" spc="-45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IOException.</a:t>
            </a:r>
            <a:endParaRPr sz="140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  <a:spcBef>
                <a:spcPts val="1220"/>
              </a:spcBef>
              <a:tabLst>
                <a:tab pos="469265"/>
              </a:tabLst>
            </a:pPr>
            <a:r>
              <a:rPr sz="1400" spc="-25">
                <a:latin typeface="Verdana"/>
                <a:cs typeface="Verdana"/>
              </a:rPr>
              <a:t>1.</a:t>
            </a:r>
            <a:r>
              <a:rPr sz="1400">
                <a:latin typeface="Verdana"/>
                <a:cs typeface="Verdana"/>
              </a:rPr>
              <a:t>	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throw</a:t>
            </a:r>
            <a:r>
              <a:rPr sz="1400" b="1" spc="-6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0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IOException("sorry</a:t>
            </a:r>
            <a:r>
              <a:rPr sz="1400" spc="-70">
                <a:latin typeface="Verdana"/>
                <a:cs typeface="Verdana"/>
              </a:rPr>
              <a:t> </a:t>
            </a:r>
            <a:r>
              <a:rPr sz="1400">
                <a:latin typeface="Verdana"/>
                <a:cs typeface="Verdana"/>
              </a:rPr>
              <a:t>device</a:t>
            </a:r>
            <a:r>
              <a:rPr sz="1400" spc="-70">
                <a:latin typeface="Verdana"/>
                <a:cs typeface="Verdana"/>
              </a:rPr>
              <a:t> </a:t>
            </a:r>
            <a:r>
              <a:rPr sz="1400" spc="-10">
                <a:latin typeface="Verdana"/>
                <a:cs typeface="Verdana"/>
              </a:rPr>
              <a:t>error);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701973"/>
            <a:ext cx="33616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Java</a:t>
            </a:r>
            <a:r>
              <a:rPr sz="1900" b="1" spc="-8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throw</a:t>
            </a:r>
            <a:r>
              <a:rPr sz="1900" b="1" spc="-8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keyword</a:t>
            </a:r>
            <a:r>
              <a:rPr sz="1900" b="1" spc="-8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spc="-10">
                <a:solidFill>
                  <a:srgbClr val="610B37"/>
                </a:solidFill>
                <a:latin typeface="Arial"/>
                <a:cs typeface="Arial"/>
              </a:rPr>
              <a:t>example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23804"/>
            <a:ext cx="81743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Verdana"/>
                <a:cs typeface="Verdana"/>
              </a:rPr>
              <a:t>In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example,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have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created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validate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method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that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takes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integer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value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4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parameter.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025"/>
              </a:spcBef>
            </a:pPr>
            <a:r>
              <a:rPr sz="1200">
                <a:latin typeface="Verdana"/>
                <a:cs typeface="Verdana"/>
              </a:rPr>
              <a:t>If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age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less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than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18,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are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throwing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ArithmeticException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otherwise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print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message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welcome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to </a:t>
            </a:r>
            <a:r>
              <a:rPr sz="1200" spc="-10">
                <a:latin typeface="Verdana"/>
                <a:cs typeface="Verdana"/>
              </a:rPr>
              <a:t>vote.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57479"/>
            <a:ext cx="4197350" cy="474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TestThrow1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6891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validate(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20">
                <a:latin typeface="Verdana"/>
                <a:cs typeface="Verdana"/>
              </a:rPr>
              <a:t>age)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7305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200" b="1" spc="-10">
                <a:latin typeface="Verdana"/>
                <a:cs typeface="Verdana"/>
              </a:rPr>
              <a:t>(age&lt;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18</a:t>
            </a:r>
            <a:r>
              <a:rPr sz="1200" b="1" spc="-1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273050" marR="5080" indent="52069">
              <a:lnSpc>
                <a:spcPct val="177100"/>
              </a:lnSpc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throw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ArithmeticException(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"not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valid"</a:t>
            </a:r>
            <a:r>
              <a:rPr sz="1200" b="1" spc="-10">
                <a:latin typeface="Verdana"/>
                <a:cs typeface="Verdana"/>
              </a:rPr>
              <a:t>); 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else</a:t>
            </a:r>
            <a:endParaRPr sz="1200">
              <a:latin typeface="Verdana"/>
              <a:cs typeface="Verdana"/>
            </a:endParaRPr>
          </a:p>
          <a:p>
            <a:pPr marL="32448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"welcome</a:t>
            </a:r>
            <a:r>
              <a:rPr sz="1200" b="1" spc="-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to</a:t>
            </a:r>
            <a:r>
              <a:rPr sz="1200" b="1" spc="-3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vote"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6891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32448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validate(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13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32448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"rest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sz="1200" b="1" spc="-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code..."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1620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2274" y="1009894"/>
            <a:ext cx="624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latin typeface="Arial"/>
                <a:cs typeface="Arial"/>
              </a:rPr>
              <a:t>OUTPUT</a:t>
            </a:r>
            <a:r>
              <a:rPr sz="1000" b="1" spc="-15">
                <a:latin typeface="Arial"/>
                <a:cs typeface="Arial"/>
              </a:rPr>
              <a:t> </a:t>
            </a:r>
            <a:r>
              <a:rPr sz="1000" b="1" spc="-5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2274" y="1619494"/>
            <a:ext cx="24034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>
                <a:latin typeface="Arial"/>
                <a:cs typeface="Arial"/>
              </a:rPr>
              <a:t>Exception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in</a:t>
            </a:r>
            <a:r>
              <a:rPr sz="1000" b="1" spc="-30">
                <a:latin typeface="Arial"/>
                <a:cs typeface="Arial"/>
              </a:rPr>
              <a:t> </a:t>
            </a:r>
            <a:r>
              <a:rPr sz="1000" b="1">
                <a:latin typeface="Arial"/>
                <a:cs typeface="Arial"/>
              </a:rPr>
              <a:t>thread</a:t>
            </a:r>
            <a:r>
              <a:rPr sz="1000" b="1" spc="-25">
                <a:latin typeface="Arial"/>
                <a:cs typeface="Arial"/>
              </a:rPr>
              <a:t> </a:t>
            </a:r>
            <a:r>
              <a:rPr sz="1000" b="1" spc="-20">
                <a:latin typeface="Arial"/>
                <a:cs typeface="Arial"/>
              </a:rPr>
              <a:t>main </a:t>
            </a:r>
            <a:r>
              <a:rPr sz="1000" b="1">
                <a:latin typeface="Arial"/>
                <a:cs typeface="Arial"/>
              </a:rPr>
              <a:t>java.lang.ArithmeticException:not</a:t>
            </a:r>
            <a:r>
              <a:rPr sz="1000" b="1" spc="-5">
                <a:latin typeface="Arial"/>
                <a:cs typeface="Arial"/>
              </a:rPr>
              <a:t> </a:t>
            </a:r>
            <a:r>
              <a:rPr sz="1000" b="1" spc="-10">
                <a:latin typeface="Arial"/>
                <a:cs typeface="Arial"/>
              </a:rPr>
              <a:t>valid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/>
              <a:t>throws</a:t>
            </a:r>
            <a:r>
              <a:rPr spc="-70"/>
              <a:t> </a:t>
            </a:r>
            <a:r>
              <a:rPr spc="-10"/>
              <a:t>keyword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69265" indent="-320040">
              <a:lnSpc>
                <a:spcPct val="100000"/>
              </a:lnSpc>
              <a:spcBef>
                <a:spcPts val="810"/>
              </a:spcBef>
              <a:buFont typeface="Arial"/>
              <a:buChar char="●"/>
              <a:tabLst>
                <a:tab pos="469265"/>
              </a:tabLst>
            </a:pP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Java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throws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keyword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declare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exception.</a:t>
            </a:r>
            <a:endParaRPr sz="1200">
              <a:latin typeface="Verdana"/>
              <a:cs typeface="Verdana"/>
            </a:endParaRPr>
          </a:p>
          <a:p>
            <a:pPr marL="469900" marR="5080" indent="-320675">
              <a:lnSpc>
                <a:spcPts val="2170"/>
              </a:lnSpc>
              <a:spcBef>
                <a:spcPts val="170"/>
              </a:spcBef>
              <a:buChar char="●"/>
              <a:tabLst>
                <a:tab pos="469900"/>
                <a:tab pos="521334"/>
              </a:tabLst>
            </a:pPr>
            <a:r>
              <a:rPr sz="1200" b="1">
                <a:latin typeface="Arial"/>
                <a:cs typeface="Arial"/>
              </a:rPr>
              <a:t>	</a:t>
            </a: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gives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information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programmer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that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there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may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occur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so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it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better </a:t>
            </a:r>
            <a:r>
              <a:rPr sz="1200" b="1">
                <a:latin typeface="Verdana"/>
                <a:cs typeface="Verdana"/>
              </a:rPr>
              <a:t>for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programmer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provide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handling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code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so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that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normal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flow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can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be </a:t>
            </a:r>
            <a:r>
              <a:rPr sz="1200" b="1" spc="-10">
                <a:latin typeface="Verdana"/>
                <a:cs typeface="Verdana"/>
              </a:rPr>
              <a:t>maintained.</a:t>
            </a:r>
            <a:endParaRPr sz="1200">
              <a:latin typeface="Verdana"/>
              <a:cs typeface="Verdana"/>
            </a:endParaRPr>
          </a:p>
          <a:p>
            <a:pPr marL="469265" indent="-320040">
              <a:lnSpc>
                <a:spcPct val="100000"/>
              </a:lnSpc>
              <a:spcBef>
                <a:spcPts val="555"/>
              </a:spcBef>
              <a:buFont typeface="Arial"/>
              <a:buChar char="●"/>
              <a:tabLst>
                <a:tab pos="469265"/>
              </a:tabLst>
            </a:pP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Handling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mainly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used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to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handle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checked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exceptions.</a:t>
            </a:r>
            <a:endParaRPr sz="1200">
              <a:latin typeface="Verdana"/>
              <a:cs typeface="Verdana"/>
            </a:endParaRPr>
          </a:p>
          <a:p>
            <a:pPr marL="469900" marR="224154" indent="-320675">
              <a:lnSpc>
                <a:spcPct val="151000"/>
              </a:lnSpc>
              <a:buFont typeface="Arial"/>
              <a:buChar char="●"/>
              <a:tabLst>
                <a:tab pos="469900"/>
              </a:tabLst>
            </a:pPr>
            <a:r>
              <a:rPr sz="1200" b="1">
                <a:latin typeface="Verdana"/>
                <a:cs typeface="Verdana"/>
              </a:rPr>
              <a:t>If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there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occurs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any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unchecked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exception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such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as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NullPointerException,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programmers </a:t>
            </a:r>
            <a:r>
              <a:rPr sz="1200" b="1">
                <a:latin typeface="Verdana"/>
                <a:cs typeface="Verdana"/>
              </a:rPr>
              <a:t>fault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that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he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not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performing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check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up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before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the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code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being</a:t>
            </a:r>
            <a:r>
              <a:rPr sz="1200" b="1" spc="-2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used.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Syntax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throws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000" b="1">
                <a:latin typeface="Verdana"/>
                <a:cs typeface="Verdana"/>
              </a:rPr>
              <a:t>return_type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method_name()</a:t>
            </a:r>
            <a:r>
              <a:rPr sz="1000" b="1" spc="-50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throws</a:t>
            </a:r>
            <a:r>
              <a:rPr sz="10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exception_class_name{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//method</a:t>
            </a:r>
            <a:r>
              <a:rPr sz="1000" b="1" spc="-4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 spc="-20">
                <a:solidFill>
                  <a:srgbClr val="008200"/>
                </a:solidFill>
                <a:latin typeface="Verdana"/>
                <a:cs typeface="Verdana"/>
              </a:rPr>
              <a:t>code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9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EXAMPLE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4904"/>
            <a:ext cx="3592829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00" b="1" spc="-7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java.io.*;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50"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64769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method()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throws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IOException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16839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throw</a:t>
            </a:r>
            <a:r>
              <a:rPr sz="120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5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IOException(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"device</a:t>
            </a:r>
            <a:r>
              <a:rPr sz="1200" b="1" spc="-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error"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6413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69879"/>
            <a:ext cx="3599815" cy="474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Testthrows2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6891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args[])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20979">
              <a:lnSpc>
                <a:spcPct val="100000"/>
              </a:lnSpc>
              <a:spcBef>
                <a:spcPts val="1110"/>
              </a:spcBef>
            </a:pP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272415" marR="2046605">
              <a:lnSpc>
                <a:spcPct val="177100"/>
              </a:lnSpc>
            </a:pPr>
            <a:r>
              <a:rPr sz="1200" b="1">
                <a:latin typeface="Verdana"/>
                <a:cs typeface="Verdana"/>
              </a:rPr>
              <a:t>M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20">
                <a:latin typeface="Verdana"/>
                <a:cs typeface="Verdana"/>
              </a:rPr>
              <a:t>M(); </a:t>
            </a:r>
            <a:r>
              <a:rPr sz="1200" b="1" spc="-10">
                <a:latin typeface="Verdana"/>
                <a:cs typeface="Verdana"/>
              </a:rPr>
              <a:t>m.method();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>
                <a:latin typeface="Verdana"/>
                <a:cs typeface="Verdana"/>
              </a:rPr>
              <a:t>(Exception</a:t>
            </a:r>
            <a:r>
              <a:rPr sz="1200" b="1" spc="-7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"exception</a:t>
            </a:r>
            <a:r>
              <a:rPr sz="1200" b="1" spc="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handled"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"normal</a:t>
            </a:r>
            <a:r>
              <a:rPr sz="1200" b="1" spc="-4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flow..."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16205">
              <a:lnSpc>
                <a:spcPct val="100000"/>
              </a:lnSpc>
              <a:spcBef>
                <a:spcPts val="1110"/>
              </a:spcBef>
            </a:pPr>
            <a:r>
              <a:rPr sz="1200" b="1">
                <a:latin typeface="Verdana"/>
                <a:cs typeface="Verdana"/>
              </a:rPr>
              <a:t>}</a:t>
            </a:r>
            <a:r>
              <a:rPr sz="1200" b="1" spc="395">
                <a:latin typeface="Verdana"/>
                <a:cs typeface="Verdana"/>
              </a:rPr>
              <a:t> </a:t>
            </a: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836" y="112140"/>
            <a:ext cx="48399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/>
              <a:t>Difference</a:t>
            </a:r>
            <a:r>
              <a:rPr sz="2300" spc="-50"/>
              <a:t> </a:t>
            </a:r>
            <a:r>
              <a:rPr sz="2300"/>
              <a:t>between</a:t>
            </a:r>
            <a:r>
              <a:rPr sz="2300" spc="-50"/>
              <a:t> </a:t>
            </a:r>
            <a:r>
              <a:rPr sz="2300"/>
              <a:t>throw</a:t>
            </a:r>
            <a:r>
              <a:rPr sz="2300" spc="-45"/>
              <a:t> </a:t>
            </a:r>
            <a:r>
              <a:rPr sz="2300"/>
              <a:t>and</a:t>
            </a:r>
            <a:r>
              <a:rPr sz="2300" spc="-50"/>
              <a:t> </a:t>
            </a:r>
            <a:r>
              <a:rPr sz="2300" spc="-10"/>
              <a:t>throws</a:t>
            </a:r>
            <a:endParaRPr sz="2300"/>
          </a:p>
        </p:txBody>
      </p:sp>
      <p:grpSp>
        <p:nvGrpSpPr>
          <p:cNvPr id="3" name="object 3"/>
          <p:cNvGrpSpPr/>
          <p:nvPr/>
        </p:nvGrpSpPr>
        <p:grpSpPr>
          <a:xfrm>
            <a:off x="274512" y="699025"/>
            <a:ext cx="8521065" cy="3810000"/>
            <a:chOff x="274512" y="699025"/>
            <a:chExt cx="8521065" cy="3810000"/>
          </a:xfrm>
        </p:grpSpPr>
        <p:sp>
          <p:nvSpPr>
            <p:cNvPr id="4" name="object 4"/>
            <p:cNvSpPr/>
            <p:nvPr/>
          </p:nvSpPr>
          <p:spPr>
            <a:xfrm>
              <a:off x="274512" y="699025"/>
              <a:ext cx="8521065" cy="3810000"/>
            </a:xfrm>
            <a:custGeom>
              <a:rect l="l" t="t" r="r" b="b"/>
              <a:pathLst>
                <a:path w="8521065" h="3810000">
                  <a:moveTo>
                    <a:pt x="8520599" y="3809999"/>
                  </a:moveTo>
                  <a:lnTo>
                    <a:pt x="0" y="3809999"/>
                  </a:lnTo>
                  <a:lnTo>
                    <a:pt x="0" y="0"/>
                  </a:lnTo>
                  <a:lnTo>
                    <a:pt x="8520599" y="0"/>
                  </a:lnTo>
                  <a:lnTo>
                    <a:pt x="8520599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4510" y="699033"/>
              <a:ext cx="8521065" cy="476250"/>
            </a:xfrm>
            <a:custGeom>
              <a:rect l="l" t="t" r="r" b="b"/>
              <a:pathLst>
                <a:path w="8521065" h="476250">
                  <a:moveTo>
                    <a:pt x="8520595" y="0"/>
                  </a:moveTo>
                  <a:lnTo>
                    <a:pt x="4432376" y="0"/>
                  </a:lnTo>
                  <a:lnTo>
                    <a:pt x="0" y="0"/>
                  </a:lnTo>
                  <a:lnTo>
                    <a:pt x="0" y="476250"/>
                  </a:lnTo>
                  <a:lnTo>
                    <a:pt x="4432376" y="476250"/>
                  </a:lnTo>
                  <a:lnTo>
                    <a:pt x="8520595" y="476250"/>
                  </a:lnTo>
                  <a:lnTo>
                    <a:pt x="8520595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65273" y="813333"/>
              <a:ext cx="4745990" cy="213360"/>
            </a:xfrm>
            <a:custGeom>
              <a:rect l="l" t="t" r="r" b="b"/>
              <a:pathLst>
                <a:path w="4745990" h="213359">
                  <a:moveTo>
                    <a:pt x="450837" y="0"/>
                  </a:moveTo>
                  <a:lnTo>
                    <a:pt x="0" y="0"/>
                  </a:lnTo>
                  <a:lnTo>
                    <a:pt x="0" y="213360"/>
                  </a:lnTo>
                  <a:lnTo>
                    <a:pt x="450837" y="213360"/>
                  </a:lnTo>
                  <a:lnTo>
                    <a:pt x="450837" y="0"/>
                  </a:lnTo>
                  <a:close/>
                </a:path>
                <a:path w="4745990" h="213359">
                  <a:moveTo>
                    <a:pt x="4745723" y="0"/>
                  </a:moveTo>
                  <a:lnTo>
                    <a:pt x="4225722" y="0"/>
                  </a:lnTo>
                  <a:lnTo>
                    <a:pt x="4225722" y="213360"/>
                  </a:lnTo>
                  <a:lnTo>
                    <a:pt x="4745723" y="213360"/>
                  </a:lnTo>
                  <a:lnTo>
                    <a:pt x="47457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9750" y="694262"/>
          <a:ext cx="8606790" cy="3806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6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400" b="1" spc="-10">
                          <a:latin typeface="Times New Roman"/>
                          <a:cs typeface="Times New Roman"/>
                        </a:rPr>
                        <a:t>throw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400" b="1" spc="-10">
                          <a:latin typeface="Times New Roman"/>
                          <a:cs typeface="Times New Roman"/>
                        </a:rPr>
                        <a:t>throws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0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Java</a:t>
                      </a:r>
                      <a:r>
                        <a:rPr sz="1100" b="1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100" b="1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100" b="1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b="1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explicitly</a:t>
                      </a:r>
                      <a:r>
                        <a:rPr sz="1100" b="1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an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100" b="1" spc="-10">
                          <a:latin typeface="Verdana"/>
                          <a:cs typeface="Verdana"/>
                        </a:rPr>
                        <a:t>exception.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Java</a:t>
                      </a:r>
                      <a:r>
                        <a:rPr sz="1100" b="1" spc="409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throws</a:t>
                      </a:r>
                      <a:r>
                        <a:rPr sz="1100" b="1" spc="409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keyword</a:t>
                      </a:r>
                      <a:r>
                        <a:rPr sz="1100" b="1" spc="41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409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100" b="1" spc="41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b="1" spc="409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declare</a:t>
                      </a:r>
                      <a:r>
                        <a:rPr sz="1100" b="1" spc="41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an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100" b="1" spc="-10">
                          <a:latin typeface="Verdana"/>
                          <a:cs typeface="Verdana"/>
                        </a:rPr>
                        <a:t>exception.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26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Checked</a:t>
                      </a:r>
                      <a:r>
                        <a:rPr sz="1100" b="1" spc="7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exception</a:t>
                      </a:r>
                      <a:r>
                        <a:rPr sz="1100" b="1" spc="75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cannot</a:t>
                      </a:r>
                      <a:r>
                        <a:rPr sz="1100" b="1" spc="7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be</a:t>
                      </a:r>
                      <a:r>
                        <a:rPr sz="1100" b="1" spc="75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propagated</a:t>
                      </a:r>
                      <a:r>
                        <a:rPr sz="1100" b="1" spc="7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using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only.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Checked</a:t>
                      </a:r>
                      <a:r>
                        <a:rPr sz="1100" b="1" spc="7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exception</a:t>
                      </a:r>
                      <a:r>
                        <a:rPr sz="1100" b="1" spc="75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can</a:t>
                      </a:r>
                      <a:r>
                        <a:rPr sz="1100" b="1" spc="75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be</a:t>
                      </a:r>
                      <a:r>
                        <a:rPr sz="1100" b="1" spc="7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propagated</a:t>
                      </a:r>
                      <a:r>
                        <a:rPr sz="1100" b="1" spc="75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b="1" spc="-20">
                          <a:latin typeface="Verdana"/>
                          <a:cs typeface="Verdana"/>
                        </a:rPr>
                        <a:t>with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100" b="1" spc="-10">
                          <a:latin typeface="Verdana"/>
                          <a:cs typeface="Verdana"/>
                        </a:rPr>
                        <a:t>throws.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followed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by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an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instance.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Throws</a:t>
                      </a:r>
                      <a:r>
                        <a:rPr sz="11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followed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by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class.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1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within</a:t>
                      </a:r>
                      <a:r>
                        <a:rPr sz="11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1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method.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Throws</a:t>
                      </a:r>
                      <a:r>
                        <a:rPr sz="11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with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the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100" b="1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signature.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015"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You</a:t>
                      </a:r>
                      <a:r>
                        <a:rPr sz="11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cannot</a:t>
                      </a:r>
                      <a:r>
                        <a:rPr sz="11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throw</a:t>
                      </a:r>
                      <a:r>
                        <a:rPr sz="11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multiple</a:t>
                      </a:r>
                      <a:r>
                        <a:rPr sz="11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exceptions.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b="1">
                          <a:latin typeface="Verdana"/>
                          <a:cs typeface="Verdana"/>
                        </a:rPr>
                        <a:t>You</a:t>
                      </a:r>
                      <a:r>
                        <a:rPr sz="11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can</a:t>
                      </a:r>
                      <a:r>
                        <a:rPr sz="11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declare</a:t>
                      </a:r>
                      <a:r>
                        <a:rPr sz="11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multiple</a:t>
                      </a:r>
                      <a:r>
                        <a:rPr sz="11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exceptions</a:t>
                      </a:r>
                      <a:r>
                        <a:rPr sz="11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>
                          <a:latin typeface="Verdana"/>
                          <a:cs typeface="Verdana"/>
                        </a:rPr>
                        <a:t>e.g.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6700" marR="67945">
                        <a:lnSpc>
                          <a:spcPct val="170500"/>
                        </a:lnSpc>
                        <a:tabLst>
                          <a:tab pos="1560830"/>
                          <a:tab pos="2714625"/>
                        </a:tabLst>
                      </a:pPr>
                      <a:r>
                        <a:rPr sz="1100" b="1" spc="-10">
                          <a:latin typeface="Verdana"/>
                          <a:cs typeface="Verdana"/>
                        </a:rPr>
                        <a:t>public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1" spc="-20">
                          <a:latin typeface="Verdana"/>
                          <a:cs typeface="Verdana"/>
                        </a:rPr>
                        <a:t>void</a:t>
                      </a:r>
                      <a:r>
                        <a:rPr sz="1100" b="1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1" spc="-10">
                          <a:latin typeface="Verdana"/>
                          <a:cs typeface="Verdana"/>
                        </a:rPr>
                        <a:t>method()throws IOException,SQLException.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7573"/>
            <a:ext cx="57956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Difference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between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final,</a:t>
            </a:r>
            <a:r>
              <a:rPr b="1" spc="-80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finally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and</a:t>
            </a:r>
            <a:r>
              <a:rPr b="1" spc="-8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finalize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0675" y="732724"/>
            <a:ext cx="8199755" cy="659130"/>
            <a:chOff x="580675" y="732724"/>
            <a:chExt cx="8199755" cy="659130"/>
          </a:xfrm>
        </p:grpSpPr>
        <p:sp>
          <p:nvSpPr>
            <p:cNvPr id="4" name="object 4"/>
            <p:cNvSpPr/>
            <p:nvPr/>
          </p:nvSpPr>
          <p:spPr>
            <a:xfrm>
              <a:off x="580669" y="732726"/>
              <a:ext cx="8199755" cy="659130"/>
            </a:xfrm>
            <a:custGeom>
              <a:rect l="l" t="t" r="r" b="b"/>
              <a:pathLst>
                <a:path w="8199755" h="659130">
                  <a:moveTo>
                    <a:pt x="8199501" y="0"/>
                  </a:moveTo>
                  <a:lnTo>
                    <a:pt x="6149619" y="0"/>
                  </a:lnTo>
                  <a:lnTo>
                    <a:pt x="4099750" y="0"/>
                  </a:lnTo>
                  <a:lnTo>
                    <a:pt x="587375" y="0"/>
                  </a:lnTo>
                  <a:lnTo>
                    <a:pt x="0" y="0"/>
                  </a:lnTo>
                  <a:lnTo>
                    <a:pt x="0" y="658609"/>
                  </a:lnTo>
                  <a:lnTo>
                    <a:pt x="587375" y="658609"/>
                  </a:lnTo>
                  <a:lnTo>
                    <a:pt x="4099750" y="658609"/>
                  </a:lnTo>
                  <a:lnTo>
                    <a:pt x="6149619" y="658609"/>
                  </a:lnTo>
                  <a:lnTo>
                    <a:pt x="8199501" y="658609"/>
                  </a:lnTo>
                  <a:lnTo>
                    <a:pt x="8199501" y="0"/>
                  </a:lnTo>
                  <a:close/>
                </a:path>
              </a:pathLst>
            </a:custGeom>
            <a:solidFill>
              <a:srgbClr val="C7C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4814" y="847026"/>
              <a:ext cx="7346950" cy="243840"/>
            </a:xfrm>
            <a:custGeom>
              <a:rect l="l" t="t" r="r" b="b"/>
              <a:pathLst>
                <a:path w="7346950" h="243840">
                  <a:moveTo>
                    <a:pt x="299072" y="0"/>
                  </a:moveTo>
                  <a:lnTo>
                    <a:pt x="0" y="0"/>
                  </a:lnTo>
                  <a:lnTo>
                    <a:pt x="0" y="243840"/>
                  </a:lnTo>
                  <a:lnTo>
                    <a:pt x="299072" y="243840"/>
                  </a:lnTo>
                  <a:lnTo>
                    <a:pt x="299072" y="0"/>
                  </a:lnTo>
                  <a:close/>
                </a:path>
                <a:path w="7346950" h="243840">
                  <a:moveTo>
                    <a:pt x="2396960" y="0"/>
                  </a:moveTo>
                  <a:lnTo>
                    <a:pt x="2001875" y="0"/>
                  </a:lnTo>
                  <a:lnTo>
                    <a:pt x="2001875" y="243840"/>
                  </a:lnTo>
                  <a:lnTo>
                    <a:pt x="2396960" y="243840"/>
                  </a:lnTo>
                  <a:lnTo>
                    <a:pt x="2396960" y="0"/>
                  </a:lnTo>
                  <a:close/>
                </a:path>
                <a:path w="7346950" h="243840">
                  <a:moveTo>
                    <a:pt x="5257101" y="0"/>
                  </a:moveTo>
                  <a:lnTo>
                    <a:pt x="4703991" y="0"/>
                  </a:lnTo>
                  <a:lnTo>
                    <a:pt x="4703991" y="243840"/>
                  </a:lnTo>
                  <a:lnTo>
                    <a:pt x="5257101" y="243840"/>
                  </a:lnTo>
                  <a:lnTo>
                    <a:pt x="5257101" y="0"/>
                  </a:lnTo>
                  <a:close/>
                </a:path>
                <a:path w="7346950" h="243840">
                  <a:moveTo>
                    <a:pt x="7346353" y="0"/>
                  </a:moveTo>
                  <a:lnTo>
                    <a:pt x="6714477" y="0"/>
                  </a:lnTo>
                  <a:lnTo>
                    <a:pt x="6714477" y="243840"/>
                  </a:lnTo>
                  <a:lnTo>
                    <a:pt x="7346353" y="243840"/>
                  </a:lnTo>
                  <a:lnTo>
                    <a:pt x="7346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97000" y="4020225"/>
            <a:ext cx="765810" cy="198120"/>
          </a:xfrm>
          <a:custGeom>
            <a:rect l="l" t="t" r="r" b="b"/>
            <a:pathLst>
              <a:path w="765809" h="198120">
                <a:moveTo>
                  <a:pt x="765373" y="198119"/>
                </a:moveTo>
                <a:lnTo>
                  <a:pt x="0" y="198119"/>
                </a:lnTo>
                <a:lnTo>
                  <a:pt x="0" y="0"/>
                </a:lnTo>
                <a:lnTo>
                  <a:pt x="765373" y="0"/>
                </a:lnTo>
                <a:lnTo>
                  <a:pt x="765373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5912" y="727962"/>
          <a:ext cx="8285480" cy="425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9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 vert="horz" wrap="square"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25">
                          <a:latin typeface="Times New Roman"/>
                          <a:cs typeface="Times New Roman"/>
                        </a:rPr>
                        <a:t>No.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10">
                          <a:latin typeface="Times New Roman"/>
                          <a:cs typeface="Times New Roman"/>
                        </a:rPr>
                        <a:t>final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10">
                          <a:latin typeface="Times New Roman"/>
                          <a:cs typeface="Times New Roman"/>
                        </a:rPr>
                        <a:t>finally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10">
                          <a:latin typeface="Times New Roman"/>
                          <a:cs typeface="Times New Roman"/>
                        </a:rPr>
                        <a:t>finalize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720">
                <a:tc>
                  <a:txBody>
                    <a:bodyPr vert="horz" wrap="square"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b="1" spc="-25">
                          <a:latin typeface="Verdana"/>
                          <a:cs typeface="Verdana"/>
                        </a:rPr>
                        <a:t>1)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to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apply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restrictions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 marR="208915">
                        <a:lnSpc>
                          <a:spcPct val="173100"/>
                        </a:lnSpc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on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class,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variable.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class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can't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be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inherited,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method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can't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be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overridden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and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3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variable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value</a:t>
                      </a:r>
                      <a:r>
                        <a:rPr sz="13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can't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be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changed.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Finally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to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 marR="100965">
                        <a:lnSpc>
                          <a:spcPct val="173100"/>
                        </a:lnSpc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place</a:t>
                      </a:r>
                      <a:r>
                        <a:rPr sz="1300" b="1" spc="-7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important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code,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it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will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be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executed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whether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exception</a:t>
                      </a:r>
                      <a:r>
                        <a:rPr sz="1300" b="1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is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handled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or</a:t>
                      </a:r>
                      <a:r>
                        <a:rPr sz="1300" b="1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0">
                          <a:latin typeface="Verdana"/>
                          <a:cs typeface="Verdana"/>
                        </a:rPr>
                        <a:t>not.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Finalize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to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 marR="71120">
                        <a:lnSpc>
                          <a:spcPct val="173100"/>
                        </a:lnSpc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perform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clean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up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processing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0">
                          <a:latin typeface="Verdana"/>
                          <a:cs typeface="Verdana"/>
                        </a:rPr>
                        <a:t>just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before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object</a:t>
                      </a:r>
                      <a:r>
                        <a:rPr sz="1300" b="1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25">
                          <a:latin typeface="Verdana"/>
                          <a:cs typeface="Verdana"/>
                        </a:rPr>
                        <a:t>is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garbage</a:t>
                      </a:r>
                      <a:r>
                        <a:rPr sz="1300" b="1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collected.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565">
                <a:tc>
                  <a:txBody>
                    <a:bodyPr vert="horz" wrap="square"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b="1" spc="-25">
                          <a:latin typeface="Verdana"/>
                          <a:cs typeface="Verdana"/>
                        </a:rPr>
                        <a:t>2)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300" b="1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keyword.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Finally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a</a:t>
                      </a:r>
                      <a:r>
                        <a:rPr sz="1300" b="1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>
                          <a:latin typeface="Verdana"/>
                          <a:cs typeface="Verdana"/>
                        </a:rPr>
                        <a:t>block.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b="1">
                          <a:latin typeface="Verdana"/>
                          <a:cs typeface="Verdana"/>
                        </a:rPr>
                        <a:t>Finalize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>
                          <a:latin typeface="Verdana"/>
                          <a:cs typeface="Verdana"/>
                        </a:rPr>
                        <a:t>is</a:t>
                      </a:r>
                      <a:r>
                        <a:rPr sz="1300" b="1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50">
                          <a:latin typeface="Verdana"/>
                          <a:cs typeface="Verdana"/>
                        </a:rPr>
                        <a:t>a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00" b="1" spc="-10">
                          <a:latin typeface="Verdana"/>
                          <a:cs typeface="Verdana"/>
                        </a:rPr>
                        <a:t>method.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9525">
                      <a:solidFill>
                        <a:srgbClr val="C7CCBE"/>
                      </a:solidFill>
                      <a:prstDash val="solid"/>
                    </a:lnL>
                    <a:lnR w="9525">
                      <a:solidFill>
                        <a:srgbClr val="C7CCB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C7CC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C7CCB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9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final</a:t>
            </a:r>
            <a:r>
              <a:rPr sz="1900" b="1" spc="-6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example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5920"/>
            <a:ext cx="2698115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FinalExample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main(String[]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args)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{</a:t>
            </a:r>
            <a:endParaRPr sz="1000">
              <a:latin typeface="Verdana"/>
              <a:cs typeface="Verdana"/>
            </a:endParaRPr>
          </a:p>
          <a:p>
            <a:pPr marL="12700" marR="61341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final</a:t>
            </a:r>
            <a:r>
              <a:rPr sz="10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0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x=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000" b="1" spc="-10">
                <a:latin typeface="Verdana"/>
                <a:cs typeface="Verdana"/>
              </a:rPr>
              <a:t>; x=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200</a:t>
            </a:r>
            <a:r>
              <a:rPr sz="1000" b="1" spc="-10">
                <a:latin typeface="Verdana"/>
                <a:cs typeface="Verdana"/>
              </a:rPr>
              <a:t>;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//Compile</a:t>
            </a:r>
            <a:r>
              <a:rPr sz="1000" b="1" spc="-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Time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Error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2548"/>
            <a:ext cx="23583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80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finally</a:t>
            </a:r>
            <a:r>
              <a:rPr sz="1900" b="1" spc="-7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example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863929"/>
            <a:ext cx="3233420" cy="3446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FinallyExample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main(String[]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200" b="1" spc="-2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2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x=</a:t>
            </a:r>
            <a:r>
              <a:rPr sz="1200" b="1" spc="-10">
                <a:solidFill>
                  <a:srgbClr val="C00000"/>
                </a:solidFill>
                <a:latin typeface="Verdana"/>
                <a:cs typeface="Verdana"/>
              </a:rPr>
              <a:t>300</a:t>
            </a:r>
            <a:r>
              <a:rPr sz="1200" b="1" spc="-10">
                <a:latin typeface="Verdana"/>
                <a:cs typeface="Verdana"/>
              </a:rPr>
              <a:t>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200" b="1">
                <a:latin typeface="Verdana"/>
                <a:cs typeface="Verdana"/>
              </a:rPr>
              <a:t>(Exception</a:t>
            </a:r>
            <a:r>
              <a:rPr sz="1200" b="1" spc="-70">
                <a:latin typeface="Verdana"/>
                <a:cs typeface="Verdana"/>
              </a:rPr>
              <a:t> </a:t>
            </a:r>
            <a:r>
              <a:rPr sz="1200" b="1" spc="-25">
                <a:latin typeface="Verdana"/>
                <a:cs typeface="Verdana"/>
              </a:rPr>
              <a:t>e)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System.out.println(e);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0925" y="1133728"/>
            <a:ext cx="4091304" cy="182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Finally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"finally</a:t>
            </a:r>
            <a:r>
              <a:rPr sz="1200" b="1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block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 executed"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50" y="291972"/>
            <a:ext cx="24790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Java</a:t>
            </a:r>
            <a:r>
              <a:rPr sz="1900" b="1" spc="-8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finalize</a:t>
            </a:r>
            <a:r>
              <a:rPr sz="1900" b="1" spc="-8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example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801978"/>
            <a:ext cx="3793490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FinalizeExample{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finalize()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System.out.println(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"finalize</a:t>
            </a:r>
            <a:r>
              <a:rPr sz="1200" b="1" spc="-4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00" b="1" spc="-10">
                <a:solidFill>
                  <a:srgbClr val="0000FF"/>
                </a:solidFill>
                <a:latin typeface="Verdana"/>
                <a:cs typeface="Verdana"/>
              </a:rPr>
              <a:t>called"</a:t>
            </a:r>
            <a:r>
              <a:rPr sz="1200" b="1" spc="-10">
                <a:latin typeface="Verdana"/>
                <a:cs typeface="Verdana"/>
              </a:rPr>
              <a:t>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0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main(String[]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args)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{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10">
                <a:latin typeface="Verdana"/>
                <a:cs typeface="Verdana"/>
              </a:rPr>
              <a:t>FinalizeExample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f1=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FinalizeExample();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5975" y="1022179"/>
            <a:ext cx="3793490" cy="182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Verdana"/>
                <a:cs typeface="Verdana"/>
              </a:rPr>
              <a:t>FinalizeExample</a:t>
            </a:r>
            <a:r>
              <a:rPr sz="1200" b="1" spc="-3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f2=</a:t>
            </a:r>
            <a:r>
              <a:rPr sz="120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FinalizeExample();</a:t>
            </a:r>
            <a:endParaRPr sz="1200">
              <a:latin typeface="Verdana"/>
              <a:cs typeface="Verdana"/>
            </a:endParaRPr>
          </a:p>
          <a:p>
            <a:pPr marL="12700" marR="2665095">
              <a:lnSpc>
                <a:spcPct val="177100"/>
              </a:lnSpc>
            </a:pPr>
            <a:r>
              <a:rPr sz="1200" b="1" spc="-10">
                <a:latin typeface="Verdana"/>
                <a:cs typeface="Verdana"/>
              </a:rPr>
              <a:t>f1=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00" b="1" spc="-10">
                <a:latin typeface="Verdana"/>
                <a:cs typeface="Verdana"/>
              </a:rPr>
              <a:t>; f2=</a:t>
            </a:r>
            <a:r>
              <a:rPr sz="1200" b="1" spc="-1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00" b="1" spc="-10">
                <a:latin typeface="Verdana"/>
                <a:cs typeface="Verdana"/>
              </a:rPr>
              <a:t>; System.gc();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b="1" spc="-5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732205" y="3801624"/>
            <a:ext cx="7845425" cy="167640"/>
          </a:xfrm>
          <a:custGeom>
            <a:rect l="l" t="t" r="r" b="b"/>
            <a:pathLst>
              <a:path w="7845425" h="167639">
                <a:moveTo>
                  <a:pt x="7844819" y="167639"/>
                </a:moveTo>
                <a:lnTo>
                  <a:pt x="0" y="167639"/>
                </a:lnTo>
                <a:lnTo>
                  <a:pt x="0" y="0"/>
                </a:lnTo>
                <a:lnTo>
                  <a:pt x="7844819" y="0"/>
                </a:lnTo>
                <a:lnTo>
                  <a:pt x="7844819" y="1676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Arial"/>
                <a:cs typeface="Arial"/>
              </a:rPr>
              <a:t>Java</a:t>
            </a:r>
            <a:r>
              <a:rPr b="1" spc="-150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Applet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25" y="1424311"/>
            <a:ext cx="8083550" cy="281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Verdana"/>
                <a:cs typeface="Verdana"/>
              </a:rPr>
              <a:t>Applet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special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type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program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that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embedded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in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webpage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generate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dynamic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content.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b="1">
                <a:latin typeface="Verdana"/>
                <a:cs typeface="Verdana"/>
              </a:rPr>
              <a:t>It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runs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inside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browser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and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works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client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side.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Advantage</a:t>
            </a:r>
            <a:r>
              <a:rPr sz="18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800" b="1" spc="-9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100" b="1">
                <a:latin typeface="Verdana"/>
                <a:cs typeface="Verdana"/>
              </a:rPr>
              <a:t>There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many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advantages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applet.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They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follows: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100">
              <a:latin typeface="Verdana"/>
              <a:cs typeface="Verdana"/>
            </a:endParaRPr>
          </a:p>
          <a:p>
            <a:pPr marL="469265" indent="-31242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469265"/>
              </a:tabLst>
            </a:pPr>
            <a:r>
              <a:rPr sz="1100" b="1">
                <a:latin typeface="Verdana"/>
                <a:cs typeface="Verdana"/>
              </a:rPr>
              <a:t>It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works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client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side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so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less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response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time.</a:t>
            </a:r>
            <a:endParaRPr sz="1100">
              <a:latin typeface="Verdana"/>
              <a:cs typeface="Verdana"/>
            </a:endParaRPr>
          </a:p>
          <a:p>
            <a:pPr marL="469265" indent="-312420">
              <a:lnSpc>
                <a:spcPct val="100000"/>
              </a:lnSpc>
              <a:spcBef>
                <a:spcPts val="780"/>
              </a:spcBef>
              <a:buFont typeface="Arial"/>
              <a:buChar char="●"/>
              <a:tabLst>
                <a:tab pos="469265"/>
              </a:tabLst>
            </a:pPr>
            <a:r>
              <a:rPr sz="1100" b="1" spc="-10">
                <a:latin typeface="Verdana"/>
                <a:cs typeface="Verdana"/>
              </a:rPr>
              <a:t>Secured</a:t>
            </a:r>
            <a:endParaRPr sz="1100">
              <a:latin typeface="Verdana"/>
              <a:cs typeface="Verdana"/>
            </a:endParaRPr>
          </a:p>
          <a:p>
            <a:pPr marL="469900" marR="73025" indent="-313055">
              <a:lnSpc>
                <a:spcPct val="159100"/>
              </a:lnSpc>
              <a:buFont typeface="Arial"/>
              <a:buChar char="●"/>
              <a:tabLst>
                <a:tab pos="469900"/>
              </a:tabLst>
            </a:pPr>
            <a:r>
              <a:rPr sz="1100" b="1">
                <a:latin typeface="Verdana"/>
                <a:cs typeface="Verdana"/>
              </a:rPr>
              <a:t>It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can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be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executed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by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browsers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running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under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many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plateforms,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including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Linux,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Windows,</a:t>
            </a:r>
            <a:r>
              <a:rPr sz="1100" b="1" spc="-45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Mac </a:t>
            </a:r>
            <a:r>
              <a:rPr sz="1100" b="1">
                <a:latin typeface="Verdana"/>
                <a:cs typeface="Verdana"/>
              </a:rPr>
              <a:t>Os</a:t>
            </a:r>
            <a:r>
              <a:rPr sz="1100" b="1" spc="-10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Lifecycle</a:t>
            </a:r>
            <a:r>
              <a:rPr sz="16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00" b="1" spc="-8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911" y="1889258"/>
            <a:ext cx="2111375" cy="14541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04495" indent="-391795">
              <a:lnSpc>
                <a:spcPct val="100000"/>
              </a:lnSpc>
              <a:spcBef>
                <a:spcPts val="9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Applet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initialized.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Applet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started.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Applet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painted.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Applet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stopped.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/>
              </a:tabLst>
            </a:pPr>
            <a:r>
              <a:rPr sz="1200" b="1">
                <a:latin typeface="Verdana"/>
                <a:cs typeface="Verdana"/>
              </a:rPr>
              <a:t>Applet</a:t>
            </a:r>
            <a:r>
              <a:rPr sz="1200" b="1" spc="-5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is</a:t>
            </a:r>
            <a:r>
              <a:rPr sz="1200" b="1" spc="-45">
                <a:latin typeface="Verdana"/>
                <a:cs typeface="Verdana"/>
              </a:rPr>
              <a:t> </a:t>
            </a:r>
            <a:r>
              <a:rPr sz="1200" b="1" spc="-10">
                <a:latin typeface="Verdana"/>
                <a:cs typeface="Verdana"/>
              </a:rPr>
              <a:t>destroyed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958250" y="252500"/>
            <a:ext cx="4642574" cy="41194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0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473699" y="4054550"/>
            <a:ext cx="6402070" cy="182880"/>
          </a:xfrm>
          <a:custGeom>
            <a:rect l="l" t="t" r="r" b="b"/>
            <a:pathLst>
              <a:path w="6402070" h="182879">
                <a:moveTo>
                  <a:pt x="6401990" y="182879"/>
                </a:moveTo>
                <a:lnTo>
                  <a:pt x="0" y="182879"/>
                </a:lnTo>
                <a:lnTo>
                  <a:pt x="0" y="0"/>
                </a:lnTo>
                <a:lnTo>
                  <a:pt x="6401990" y="0"/>
                </a:lnTo>
                <a:lnTo>
                  <a:pt x="6401990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293271"/>
            <a:ext cx="2873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Lifecycle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methods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for</a:t>
            </a:r>
            <a:r>
              <a:rPr sz="1600" b="1" spc="-8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Applet: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929334"/>
            <a:ext cx="8074025" cy="331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3535">
              <a:lnSpc>
                <a:spcPct val="112799"/>
              </a:lnSpc>
              <a:spcBef>
                <a:spcPts val="100"/>
              </a:spcBef>
            </a:pPr>
            <a:r>
              <a:rPr sz="1200">
                <a:latin typeface="Verdana"/>
                <a:cs typeface="Verdana"/>
              </a:rPr>
              <a:t>The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java.applet.Applet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4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cycle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methods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and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java.awt.Component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1</a:t>
            </a:r>
            <a:r>
              <a:rPr sz="1200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2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cycle </a:t>
            </a:r>
            <a:r>
              <a:rPr sz="1200">
                <a:latin typeface="Verdana"/>
                <a:cs typeface="Verdana"/>
              </a:rPr>
              <a:t>methods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for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>
                <a:solidFill>
                  <a:srgbClr val="610B4B"/>
                </a:solidFill>
                <a:latin typeface="Arial MT"/>
                <a:cs typeface="Arial MT"/>
              </a:rPr>
              <a:t>java.applet.Applet</a:t>
            </a:r>
            <a:r>
              <a:rPr sz="1800" spc="-9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610B4B"/>
                </a:solidFill>
                <a:latin typeface="Arial MT"/>
                <a:cs typeface="Arial MT"/>
              </a:rPr>
              <a:t>class</a:t>
            </a:r>
            <a:endParaRPr sz="1800">
              <a:latin typeface="Arial MT"/>
              <a:cs typeface="Arial MT"/>
            </a:endParaRPr>
          </a:p>
          <a:p>
            <a:pPr marL="12700" marR="278765">
              <a:lnSpc>
                <a:spcPct val="114599"/>
              </a:lnSpc>
              <a:spcBef>
                <a:spcPts val="1455"/>
              </a:spcBef>
            </a:pPr>
            <a:r>
              <a:rPr sz="1200">
                <a:latin typeface="Verdana"/>
                <a:cs typeface="Verdana"/>
              </a:rPr>
              <a:t>For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creating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any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applet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java.applet.Applet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class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must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inherited.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provides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4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life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cycle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methods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of </a:t>
            </a:r>
            <a:r>
              <a:rPr sz="1200" spc="-1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buFont typeface="Verdana"/>
              <a:buAutoNum type="arabicPeriod"/>
              <a:tabLst>
                <a:tab pos="4692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init():</a:t>
            </a:r>
            <a:r>
              <a:rPr sz="1200" b="1" spc="-1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initialized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Applet.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invoked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only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once.</a:t>
            </a:r>
            <a:endParaRPr sz="1200">
              <a:latin typeface="Verdana"/>
              <a:cs typeface="Verdana"/>
            </a:endParaRPr>
          </a:p>
          <a:p>
            <a:pPr marL="469900" marR="5080" indent="-381000">
              <a:lnSpc>
                <a:spcPct val="156200"/>
              </a:lnSpc>
              <a:spcBef>
                <a:spcPts val="5"/>
              </a:spcBef>
              <a:buFont typeface="Verdana"/>
              <a:buAutoNum type="arabicPeriod"/>
              <a:tabLst>
                <a:tab pos="469900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start():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invoked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after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init()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method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browser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maximized.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start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 marL="469900" marR="335915" indent="-381000">
              <a:lnSpc>
                <a:spcPct val="156200"/>
              </a:lnSpc>
              <a:buFont typeface="Verdana"/>
              <a:buAutoNum type="arabicPeriod"/>
              <a:tabLst>
                <a:tab pos="469900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35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stop():</a:t>
            </a:r>
            <a:r>
              <a:rPr sz="1200" b="1" spc="-2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stop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Applet.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invoked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when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Applet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stop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or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browser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25">
                <a:latin typeface="Verdana"/>
                <a:cs typeface="Verdana"/>
              </a:rPr>
              <a:t>is </a:t>
            </a:r>
            <a:r>
              <a:rPr sz="1200" spc="-10">
                <a:latin typeface="Verdana"/>
                <a:cs typeface="Verdana"/>
              </a:rPr>
              <a:t>minimized.</a:t>
            </a: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469265"/>
              </a:tabLst>
            </a:pPr>
            <a:r>
              <a:rPr sz="1200" b="1">
                <a:latin typeface="Verdana"/>
                <a:cs typeface="Verdana"/>
              </a:rPr>
              <a:t>public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void</a:t>
            </a:r>
            <a:r>
              <a:rPr sz="1200" b="1" spc="-40">
                <a:latin typeface="Verdana"/>
                <a:cs typeface="Verdana"/>
              </a:rPr>
              <a:t> </a:t>
            </a:r>
            <a:r>
              <a:rPr sz="1200" b="1">
                <a:latin typeface="Verdana"/>
                <a:cs typeface="Verdana"/>
              </a:rPr>
              <a:t>destroy():</a:t>
            </a:r>
            <a:r>
              <a:rPr sz="1200" b="1" spc="-1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used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to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destroy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the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Applet.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It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is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invoked</a:t>
            </a:r>
            <a:r>
              <a:rPr sz="1200" spc="-40">
                <a:latin typeface="Verdana"/>
                <a:cs typeface="Verdana"/>
              </a:rPr>
              <a:t> </a:t>
            </a:r>
            <a:r>
              <a:rPr sz="1200">
                <a:latin typeface="Verdana"/>
                <a:cs typeface="Verdana"/>
              </a:rPr>
              <a:t>only</a:t>
            </a:r>
            <a:r>
              <a:rPr sz="1200" spc="-35">
                <a:latin typeface="Verdana"/>
                <a:cs typeface="Verdana"/>
              </a:rPr>
              <a:t> </a:t>
            </a:r>
            <a:r>
              <a:rPr sz="1200" spc="-10">
                <a:latin typeface="Verdana"/>
                <a:cs typeface="Verdana"/>
              </a:rPr>
              <a:t>once.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50" y="889539"/>
            <a:ext cx="27247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java.awt.Component</a:t>
            </a:r>
            <a:r>
              <a:rPr sz="1700" b="1" spc="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50" y="1352961"/>
            <a:ext cx="8292465" cy="235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Component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provides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1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life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cycle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method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of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applet.</a:t>
            </a:r>
            <a:endParaRPr sz="1100">
              <a:latin typeface="Verdana"/>
              <a:cs typeface="Verdana"/>
            </a:endParaRPr>
          </a:p>
          <a:p>
            <a:pPr marL="469900" marR="5080" indent="-368300">
              <a:lnSpc>
                <a:spcPct val="159100"/>
              </a:lnSpc>
              <a:spcBef>
                <a:spcPts val="750"/>
              </a:spcBef>
              <a:buFont typeface="Verdana"/>
              <a:buAutoNum type="arabicPeriod"/>
              <a:tabLst>
                <a:tab pos="469900"/>
              </a:tabLst>
            </a:pPr>
            <a:r>
              <a:rPr sz="1100" b="1">
                <a:latin typeface="Verdana"/>
                <a:cs typeface="Verdana"/>
              </a:rPr>
              <a:t>public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void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paint(Graphics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g):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used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paint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the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Applet.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It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provides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Graphics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class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object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that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can </a:t>
            </a:r>
            <a:r>
              <a:rPr sz="1100" b="1">
                <a:latin typeface="Verdana"/>
                <a:cs typeface="Verdana"/>
              </a:rPr>
              <a:t>be</a:t>
            </a:r>
            <a:r>
              <a:rPr sz="1100" b="1" spc="-4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used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for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drawing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oval,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rectangle,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arc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17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2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run</a:t>
            </a:r>
            <a:r>
              <a:rPr sz="1700" b="1" spc="-1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>
                <a:solidFill>
                  <a:srgbClr val="610B4B"/>
                </a:solidFill>
                <a:latin typeface="Arial"/>
                <a:cs typeface="Arial"/>
              </a:rPr>
              <a:t>an</a:t>
            </a:r>
            <a:r>
              <a:rPr sz="1700" b="1" spc="-8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>
                <a:solidFill>
                  <a:srgbClr val="610B4B"/>
                </a:solidFill>
                <a:latin typeface="Arial"/>
                <a:cs typeface="Arial"/>
              </a:rPr>
              <a:t>Applet?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100" b="1">
                <a:latin typeface="Verdana"/>
                <a:cs typeface="Verdana"/>
              </a:rPr>
              <a:t>There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are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two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ways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</a:t>
            </a:r>
            <a:r>
              <a:rPr sz="1100" b="1" spc="-2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run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an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applet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Verdana"/>
              <a:cs typeface="Verdana"/>
            </a:endParaRPr>
          </a:p>
          <a:p>
            <a:pPr marL="469265" indent="-377825">
              <a:lnSpc>
                <a:spcPct val="100000"/>
              </a:lnSpc>
              <a:buAutoNum type="arabicPeriod"/>
              <a:tabLst>
                <a:tab pos="469265"/>
              </a:tabLst>
            </a:pPr>
            <a:r>
              <a:rPr sz="1100" b="1">
                <a:latin typeface="Verdana"/>
                <a:cs typeface="Verdana"/>
              </a:rPr>
              <a:t>By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html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 spc="-20">
                <a:latin typeface="Verdana"/>
                <a:cs typeface="Verdana"/>
              </a:rPr>
              <a:t>file.</a:t>
            </a:r>
            <a:endParaRPr sz="1100">
              <a:latin typeface="Verdana"/>
              <a:cs typeface="Verdana"/>
            </a:endParaRPr>
          </a:p>
          <a:p>
            <a:pPr marL="469265" indent="-377825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469265"/>
              </a:tabLst>
            </a:pPr>
            <a:r>
              <a:rPr sz="1100" b="1">
                <a:latin typeface="Verdana"/>
                <a:cs typeface="Verdana"/>
              </a:rPr>
              <a:t>By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appletViewer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tool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(for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testing</a:t>
            </a:r>
            <a:r>
              <a:rPr sz="1100" b="1" spc="-25"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purpose).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Simple</a:t>
            </a:r>
            <a:r>
              <a:rPr sz="1600" b="1" spc="-4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9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610B4B"/>
                </a:solidFill>
                <a:latin typeface="Arial"/>
                <a:cs typeface="Arial"/>
              </a:rPr>
              <a:t>html</a:t>
            </a:r>
            <a:r>
              <a:rPr sz="1600" b="1" spc="-3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file: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88811"/>
            <a:ext cx="6443980" cy="327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Verdana"/>
                <a:cs typeface="Verdana"/>
              </a:rPr>
              <a:t>To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execute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the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applet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by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html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file,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create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an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applet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and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compile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 spc="-25">
                <a:latin typeface="Verdana"/>
                <a:cs typeface="Verdana"/>
              </a:rPr>
              <a:t>it.</a:t>
            </a:r>
            <a:endParaRPr sz="1100">
              <a:latin typeface="Verdana"/>
              <a:cs typeface="Verdana"/>
            </a:endParaRPr>
          </a:p>
          <a:p>
            <a:pPr marL="61594">
              <a:lnSpc>
                <a:spcPct val="100000"/>
              </a:lnSpc>
              <a:spcBef>
                <a:spcPts val="1205"/>
              </a:spcBef>
            </a:pPr>
            <a:r>
              <a:rPr sz="1100">
                <a:latin typeface="Verdana"/>
                <a:cs typeface="Verdana"/>
              </a:rPr>
              <a:t>After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that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create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an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html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file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and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place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the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applet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code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in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html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file.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Now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click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the</a:t>
            </a:r>
            <a:r>
              <a:rPr sz="1100" spc="-35">
                <a:latin typeface="Verdana"/>
                <a:cs typeface="Verdana"/>
              </a:rPr>
              <a:t> </a:t>
            </a:r>
            <a:r>
              <a:rPr sz="1100">
                <a:latin typeface="Verdana"/>
                <a:cs typeface="Verdana"/>
              </a:rPr>
              <a:t>html</a:t>
            </a:r>
            <a:r>
              <a:rPr sz="1100" spc="-30">
                <a:latin typeface="Verdana"/>
                <a:cs typeface="Verdana"/>
              </a:rPr>
              <a:t> </a:t>
            </a:r>
            <a:r>
              <a:rPr sz="1100" spc="-10">
                <a:latin typeface="Verdana"/>
                <a:cs typeface="Verdana"/>
              </a:rPr>
              <a:t>file.</a:t>
            </a:r>
            <a:endParaRPr sz="1100">
              <a:latin typeface="Verdana"/>
              <a:cs typeface="Verdana"/>
            </a:endParaRPr>
          </a:p>
          <a:p>
            <a:pPr marL="12700" marR="3886835">
              <a:lnSpc>
                <a:spcPct val="181800"/>
              </a:lnSpc>
              <a:spcBef>
                <a:spcPts val="15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00" b="1" spc="-7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java.applet.Applet;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00" b="1" spc="-7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java.awt.Graphics;</a:t>
            </a:r>
            <a:r>
              <a:rPr sz="1100" b="1" spc="500"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latin typeface="Verdana"/>
                <a:cs typeface="Verdana"/>
              </a:rPr>
              <a:t>First</a:t>
            </a:r>
            <a:r>
              <a:rPr sz="1100" b="1" spc="-30"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1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Applet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60325">
              <a:lnSpc>
                <a:spcPct val="100000"/>
              </a:lnSpc>
              <a:spcBef>
                <a:spcPts val="1080"/>
              </a:spcBef>
            </a:pP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>
                <a:latin typeface="Verdana"/>
                <a:cs typeface="Verdana"/>
              </a:rPr>
              <a:t>paint(Graphics</a:t>
            </a:r>
            <a:r>
              <a:rPr sz="1100" b="1" spc="-35">
                <a:latin typeface="Verdana"/>
                <a:cs typeface="Verdana"/>
              </a:rPr>
              <a:t> </a:t>
            </a:r>
            <a:r>
              <a:rPr sz="1100" b="1" spc="-25">
                <a:latin typeface="Verdana"/>
                <a:cs typeface="Verdana"/>
              </a:rPr>
              <a:t>g)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10">
                <a:latin typeface="Verdana"/>
                <a:cs typeface="Verdana"/>
              </a:rPr>
              <a:t>g.drawString(</a:t>
            </a:r>
            <a:r>
              <a:rPr sz="1100" b="1" spc="-1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100" b="1" spc="-10">
                <a:latin typeface="Verdana"/>
                <a:cs typeface="Verdana"/>
              </a:rPr>
              <a:t>,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100" b="1" spc="-10">
                <a:latin typeface="Verdana"/>
                <a:cs typeface="Verdana"/>
              </a:rPr>
              <a:t>,</a:t>
            </a:r>
            <a:r>
              <a:rPr sz="1100" b="1" spc="-1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100" b="1" spc="-1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14008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610B4B"/>
                </a:solidFill>
                <a:latin typeface="Arial"/>
                <a:cs typeface="Arial"/>
              </a:rPr>
              <a:t>myapplet.html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904245"/>
            <a:ext cx="3587750" cy="194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latin typeface="Verdana"/>
                <a:cs typeface="Verdana"/>
              </a:rPr>
              <a:t>&lt;html&gt;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>
                <a:latin typeface="Verdana"/>
                <a:cs typeface="Verdana"/>
              </a:rPr>
              <a:t>&lt;body&gt;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&lt;applet</a:t>
            </a:r>
            <a:r>
              <a:rPr sz="1000" spc="-2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code=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"First.class"</a:t>
            </a:r>
            <a:r>
              <a:rPr sz="1000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width=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"300" </a:t>
            </a:r>
            <a:r>
              <a:rPr sz="1000" spc="-10">
                <a:latin typeface="Verdana"/>
                <a:cs typeface="Verdana"/>
              </a:rPr>
              <a:t>height=</a:t>
            </a:r>
            <a:r>
              <a:rPr sz="1000" spc="-1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00" spc="-10">
                <a:latin typeface="Verdana"/>
                <a:cs typeface="Verdana"/>
              </a:rPr>
              <a:t>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>
                <a:latin typeface="Verdana"/>
                <a:cs typeface="Verdana"/>
              </a:rPr>
              <a:t>&lt;/applet&gt;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>
                <a:latin typeface="Verdana"/>
                <a:cs typeface="Verdana"/>
              </a:rPr>
              <a:t>&lt;/body&gt;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>
                <a:latin typeface="Verdana"/>
                <a:cs typeface="Verdana"/>
              </a:rPr>
              <a:t>&lt;/html&gt;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Simple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8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800" b="1" spc="-9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800" b="1" spc="-25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610B4B"/>
                </a:solidFill>
                <a:latin typeface="Arial"/>
                <a:cs typeface="Arial"/>
              </a:rPr>
              <a:t>appletviewer</a:t>
            </a:r>
            <a:r>
              <a:rPr sz="1800" b="1" spc="-3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610B4B"/>
                </a:solidFill>
                <a:latin typeface="Arial"/>
                <a:cs typeface="Arial"/>
              </a:rPr>
              <a:t>tool: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7820"/>
            <a:ext cx="72390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latin typeface="Verdana"/>
                <a:cs typeface="Verdana"/>
              </a:rPr>
              <a:t>To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execute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the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applet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appletviewer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tool,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create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applet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contains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applet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tag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in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comment</a:t>
            </a:r>
            <a:r>
              <a:rPr sz="1000" spc="-3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and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compile</a:t>
            </a:r>
            <a:r>
              <a:rPr sz="1000" spc="-40">
                <a:latin typeface="Verdana"/>
                <a:cs typeface="Verdana"/>
              </a:rPr>
              <a:t> </a:t>
            </a:r>
            <a:r>
              <a:rPr sz="1000" spc="-25">
                <a:latin typeface="Verdana"/>
                <a:cs typeface="Verdana"/>
              </a:rPr>
              <a:t>it.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>
                <a:latin typeface="Verdana"/>
                <a:cs typeface="Verdana"/>
              </a:rPr>
              <a:t>After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that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run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by: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appletviewer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10">
                <a:latin typeface="Verdana"/>
                <a:cs typeface="Verdana"/>
              </a:rPr>
              <a:t>First.java.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Now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Html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file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not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required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but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it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is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for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testing</a:t>
            </a:r>
            <a:r>
              <a:rPr sz="1000" spc="-25">
                <a:latin typeface="Verdana"/>
                <a:cs typeface="Verdana"/>
              </a:rPr>
              <a:t> </a:t>
            </a:r>
            <a:r>
              <a:rPr sz="1000">
                <a:latin typeface="Verdana"/>
                <a:cs typeface="Verdana"/>
              </a:rPr>
              <a:t>purpose</a:t>
            </a:r>
            <a:r>
              <a:rPr sz="1000" spc="-30">
                <a:latin typeface="Verdana"/>
                <a:cs typeface="Verdana"/>
              </a:rPr>
              <a:t> </a:t>
            </a:r>
            <a:r>
              <a:rPr sz="1000" spc="-20">
                <a:latin typeface="Verdana"/>
                <a:cs typeface="Verdana"/>
              </a:rPr>
              <a:t>only.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4058285" cy="183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//First.java</a:t>
            </a:r>
            <a:endParaRPr sz="1000">
              <a:latin typeface="Verdana"/>
              <a:cs typeface="Verdana"/>
            </a:endParaRPr>
          </a:p>
          <a:p>
            <a:pPr marL="12700" marR="2164715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java.applet.Applet;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java.awt.Graphics;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25">
                <a:solidFill>
                  <a:srgbClr val="008200"/>
                </a:solidFill>
                <a:latin typeface="Verdana"/>
                <a:cs typeface="Verdana"/>
              </a:rPr>
              <a:t>/*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&lt;applet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code="First.class"</a:t>
            </a:r>
            <a:r>
              <a:rPr sz="1000" b="1">
                <a:solidFill>
                  <a:srgbClr val="008200"/>
                </a:solidFill>
                <a:latin typeface="Verdana"/>
                <a:cs typeface="Verdana"/>
              </a:rPr>
              <a:t> width="300" </a:t>
            </a: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height="300"&gt;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>
                <a:solidFill>
                  <a:srgbClr val="008200"/>
                </a:solidFill>
                <a:latin typeface="Verdana"/>
                <a:cs typeface="Verdana"/>
              </a:rPr>
              <a:t>&lt;/applet&gt;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25">
                <a:solidFill>
                  <a:srgbClr val="008200"/>
                </a:solidFill>
                <a:latin typeface="Verdana"/>
                <a:cs typeface="Verdana"/>
              </a:rPr>
              <a:t>*/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3545720"/>
            <a:ext cx="276034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First</a:t>
            </a:r>
            <a:r>
              <a:rPr sz="1000" b="1" spc="-25"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>
                <a:latin typeface="Verdana"/>
                <a:cs typeface="Verdana"/>
              </a:rPr>
              <a:t>Applet{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81300"/>
              </a:lnSpc>
            </a:pP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>
                <a:latin typeface="Verdana"/>
                <a:cs typeface="Verdana"/>
              </a:rPr>
              <a:t>paint(Graphics</a:t>
            </a:r>
            <a:r>
              <a:rPr sz="1000" b="1" spc="-35">
                <a:latin typeface="Verdana"/>
                <a:cs typeface="Verdana"/>
              </a:rPr>
              <a:t> </a:t>
            </a:r>
            <a:r>
              <a:rPr sz="1000" b="1" spc="-25">
                <a:latin typeface="Verdana"/>
                <a:cs typeface="Verdana"/>
              </a:rPr>
              <a:t>g){ </a:t>
            </a:r>
            <a:r>
              <a:rPr sz="1000" b="1" spc="-10">
                <a:latin typeface="Verdana"/>
                <a:cs typeface="Verdana"/>
              </a:rPr>
              <a:t>g.drawString(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"Hello</a:t>
            </a:r>
            <a:r>
              <a:rPr sz="1000" b="1" spc="10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>
                <a:solidFill>
                  <a:srgbClr val="0000FF"/>
                </a:solidFill>
                <a:latin typeface="Verdana"/>
                <a:cs typeface="Verdana"/>
              </a:rPr>
              <a:t>World"</a:t>
            </a:r>
            <a:r>
              <a:rPr sz="1000" b="1" spc="-10">
                <a:latin typeface="Verdana"/>
                <a:cs typeface="Verdana"/>
              </a:rPr>
              <a:t>,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000" b="1" spc="-10">
                <a:latin typeface="Verdana"/>
                <a:cs typeface="Verdana"/>
              </a:rPr>
              <a:t>,</a:t>
            </a:r>
            <a:r>
              <a:rPr sz="1000" b="1" spc="-1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000" b="1" spc="-1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9350" y="1577988"/>
            <a:ext cx="16598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Arial"/>
                <a:cs typeface="Arial"/>
              </a:rPr>
              <a:t>c:\&gt;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javac</a:t>
            </a:r>
            <a:r>
              <a:rPr sz="1400" b="1" spc="-20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First.java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9350" y="1997087"/>
            <a:ext cx="2292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Arial"/>
                <a:cs typeface="Arial"/>
              </a:rPr>
              <a:t>c:\&gt;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appletviewer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First.java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644931" y="1229875"/>
            <a:ext cx="4791625" cy="312562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42199" y="219300"/>
            <a:ext cx="5901055" cy="47402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25">
                <a:solidFill>
                  <a:srgbClr val="434343"/>
                </a:solidFill>
                <a:latin typeface="Times New Roman"/>
                <a:cs typeface="Times New Roman"/>
              </a:rPr>
              <a:t>*/</a:t>
            </a:r>
            <a:endParaRPr sz="1800">
              <a:latin typeface="Times New Roman"/>
              <a:cs typeface="Times New Roman"/>
            </a:endParaRPr>
          </a:p>
          <a:p>
            <a:pPr marL="12700" marR="3985895">
              <a:lnSpc>
                <a:spcPct val="114599"/>
              </a:lnSpc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import</a:t>
            </a:r>
            <a:r>
              <a:rPr sz="1800" spc="-8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java.awt.*; </a:t>
            </a: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import</a:t>
            </a:r>
            <a:r>
              <a:rPr sz="1800" spc="-8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java.applet.*;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7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class</a:t>
            </a:r>
            <a:r>
              <a:rPr sz="1800" spc="-4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DisplayImageInApplet</a:t>
            </a:r>
            <a:r>
              <a:rPr sz="1800" spc="-3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434343"/>
                </a:solidFill>
                <a:latin typeface="Times New Roman"/>
                <a:cs typeface="Times New Roman"/>
              </a:rPr>
              <a:t>extends</a:t>
            </a:r>
            <a:r>
              <a:rPr sz="1800" spc="-10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Applet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469900" marR="3874770">
              <a:lnSpc>
                <a:spcPct val="114599"/>
              </a:lnSpc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Image</a:t>
            </a:r>
            <a:r>
              <a:rPr sz="1800" spc="-7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434343"/>
                </a:solidFill>
                <a:latin typeface="Times New Roman"/>
                <a:cs typeface="Times New Roman"/>
              </a:rPr>
              <a:t>img; </a:t>
            </a: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4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void</a:t>
            </a:r>
            <a:r>
              <a:rPr sz="1800" spc="-3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init()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img =</a:t>
            </a:r>
            <a:r>
              <a:rPr sz="1800" spc="-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getImage(getCodeBase(),"Images/Juggler.gif");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4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434343"/>
                </a:solidFill>
                <a:latin typeface="Times New Roman"/>
                <a:cs typeface="Times New Roman"/>
              </a:rPr>
              <a:t>void</a:t>
            </a:r>
            <a:r>
              <a:rPr sz="1800" spc="-35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paint(Graphics</a:t>
            </a:r>
            <a:r>
              <a:rPr sz="1800" spc="-4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434343"/>
                </a:solidFill>
                <a:latin typeface="Times New Roman"/>
                <a:cs typeface="Times New Roman"/>
              </a:rPr>
              <a:t>g)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10">
                <a:solidFill>
                  <a:srgbClr val="434343"/>
                </a:solidFill>
                <a:latin typeface="Times New Roman"/>
                <a:cs typeface="Times New Roman"/>
              </a:rPr>
              <a:t>g.drawImage(img,10,20,this);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8475" y="646525"/>
            <a:ext cx="5962874" cy="32396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>
                <a:latin typeface="Arial"/>
                <a:cs typeface="Arial"/>
              </a:rPr>
              <a:t>Displaying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Image</a:t>
            </a:r>
            <a:r>
              <a:rPr b="1" spc="-65">
                <a:latin typeface="Arial"/>
                <a:cs typeface="Arial"/>
              </a:rPr>
              <a:t> </a:t>
            </a:r>
            <a:r>
              <a:rPr b="1">
                <a:latin typeface="Arial"/>
                <a:cs typeface="Arial"/>
              </a:rPr>
              <a:t>in</a:t>
            </a:r>
            <a:r>
              <a:rPr b="1" spc="-135">
                <a:latin typeface="Arial"/>
                <a:cs typeface="Arial"/>
              </a:rPr>
              <a:t> </a:t>
            </a:r>
            <a:r>
              <a:rPr b="1" spc="-10">
                <a:latin typeface="Arial"/>
                <a:cs typeface="Arial"/>
              </a:rPr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5534"/>
            <a:ext cx="7597775" cy="260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>
                <a:latin typeface="Verdana"/>
                <a:cs typeface="Verdana"/>
              </a:rPr>
              <a:t>Applet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is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mostly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used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in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games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and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animation.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50">
                <a:latin typeface="Verdana"/>
                <a:cs typeface="Verdana"/>
              </a:rPr>
              <a:t>For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this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purpose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image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is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required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to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be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displayed.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50">
                <a:latin typeface="Verdana"/>
                <a:cs typeface="Verdana"/>
              </a:rPr>
              <a:t>The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java.awt.Graphics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class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provide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a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method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drawImage()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to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display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the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image.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Syntax</a:t>
            </a:r>
            <a:r>
              <a:rPr sz="1900" b="1" spc="-8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of</a:t>
            </a:r>
            <a:r>
              <a:rPr sz="1900" b="1" spc="-8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>
                <a:solidFill>
                  <a:srgbClr val="610B37"/>
                </a:solidFill>
                <a:latin typeface="Arial"/>
                <a:cs typeface="Arial"/>
              </a:rPr>
              <a:t>drawImage()</a:t>
            </a:r>
            <a:r>
              <a:rPr sz="1900" b="1" spc="-7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spc="-10">
                <a:solidFill>
                  <a:srgbClr val="610B37"/>
                </a:solidFill>
                <a:latin typeface="Arial"/>
                <a:cs typeface="Arial"/>
              </a:rPr>
              <a:t>method:</a:t>
            </a:r>
            <a:endParaRPr sz="19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2155"/>
              </a:spcBef>
              <a:tabLst>
                <a:tab pos="469265"/>
              </a:tabLst>
            </a:pPr>
            <a:r>
              <a:rPr sz="1050" spc="-25">
                <a:latin typeface="Verdana"/>
                <a:cs typeface="Verdana"/>
              </a:rPr>
              <a:t>1.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b="1">
                <a:latin typeface="Verdana"/>
                <a:cs typeface="Verdana"/>
              </a:rPr>
              <a:t>public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abstract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boolean</a:t>
            </a:r>
            <a:r>
              <a:rPr sz="1050" b="1" spc="-35">
                <a:latin typeface="Verdana"/>
                <a:cs typeface="Verdana"/>
              </a:rPr>
              <a:t> </a:t>
            </a:r>
            <a:r>
              <a:rPr sz="1050" b="1" spc="-10">
                <a:latin typeface="Verdana"/>
                <a:cs typeface="Verdana"/>
              </a:rPr>
              <a:t>drawImage(Image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img,</a:t>
            </a:r>
            <a:r>
              <a:rPr sz="1050" b="1" spc="-35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int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x,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int</a:t>
            </a:r>
            <a:r>
              <a:rPr sz="1050" b="1" spc="-35">
                <a:latin typeface="Verdana"/>
                <a:cs typeface="Verdana"/>
              </a:rPr>
              <a:t> </a:t>
            </a:r>
            <a:r>
              <a:rPr sz="1050" b="1">
                <a:latin typeface="Verdana"/>
                <a:cs typeface="Verdana"/>
              </a:rPr>
              <a:t>y,</a:t>
            </a:r>
            <a:r>
              <a:rPr sz="1050" b="1" spc="-40">
                <a:latin typeface="Verdana"/>
                <a:cs typeface="Verdana"/>
              </a:rPr>
              <a:t> </a:t>
            </a:r>
            <a:r>
              <a:rPr sz="1050" b="1" spc="-10">
                <a:latin typeface="Verdana"/>
                <a:cs typeface="Verdana"/>
              </a:rPr>
              <a:t>ImageObserver</a:t>
            </a:r>
            <a:r>
              <a:rPr sz="1050" b="1" spc="-35">
                <a:latin typeface="Verdana"/>
                <a:cs typeface="Verdana"/>
              </a:rPr>
              <a:t> </a:t>
            </a:r>
            <a:r>
              <a:rPr sz="1050" b="1" spc="-10">
                <a:latin typeface="Verdana"/>
                <a:cs typeface="Verdana"/>
              </a:rPr>
              <a:t>observer):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05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is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used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draw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specified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image.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520831"/>
            <a:ext cx="72726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Other</a:t>
            </a:r>
            <a:r>
              <a:rPr sz="2100" b="1" spc="-5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required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methods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of</a:t>
            </a:r>
            <a:r>
              <a:rPr sz="2100" b="1" spc="-114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Applet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class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to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>
                <a:solidFill>
                  <a:srgbClr val="610B37"/>
                </a:solidFill>
                <a:latin typeface="Arial"/>
                <a:cs typeface="Arial"/>
              </a:rPr>
              <a:t>display</a:t>
            </a:r>
            <a:r>
              <a:rPr sz="2100" b="1" spc="-45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spc="-10">
                <a:solidFill>
                  <a:srgbClr val="610B37"/>
                </a:solidFill>
                <a:latin typeface="Arial"/>
                <a:cs typeface="Arial"/>
              </a:rPr>
              <a:t>image: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751" y="2118875"/>
            <a:ext cx="8138159" cy="89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00"/>
              </a:spcBef>
              <a:buFont typeface="Verdana"/>
              <a:buAutoNum type="arabicPeriod"/>
              <a:tabLst>
                <a:tab pos="399415"/>
              </a:tabLst>
            </a:pPr>
            <a:r>
              <a:rPr sz="1250" b="1">
                <a:latin typeface="Verdana"/>
                <a:cs typeface="Verdana"/>
              </a:rPr>
              <a:t>public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URL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getDocumentBase():</a:t>
            </a:r>
            <a:r>
              <a:rPr sz="1250" b="1" spc="-1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is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used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to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return</a:t>
            </a:r>
            <a:r>
              <a:rPr sz="1250" spc="-2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the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URL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of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the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document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in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which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applet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 spc="-25">
                <a:latin typeface="Verdana"/>
                <a:cs typeface="Verdana"/>
              </a:rPr>
              <a:t>is</a:t>
            </a:r>
            <a:endParaRPr sz="1250">
              <a:latin typeface="Verdana"/>
              <a:cs typeface="Verdana"/>
            </a:endParaRPr>
          </a:p>
          <a:p>
            <a:pPr marL="399415">
              <a:lnSpc>
                <a:spcPct val="100000"/>
              </a:lnSpc>
              <a:spcBef>
                <a:spcPts val="1175"/>
              </a:spcBef>
            </a:pPr>
            <a:r>
              <a:rPr sz="1250" spc="-10">
                <a:latin typeface="Verdana"/>
                <a:cs typeface="Verdana"/>
              </a:rPr>
              <a:t>embedded.</a:t>
            </a:r>
            <a:endParaRPr sz="1250">
              <a:latin typeface="Verdana"/>
              <a:cs typeface="Verdana"/>
            </a:endParaRPr>
          </a:p>
          <a:p>
            <a:pPr marL="399415" indent="-386715">
              <a:lnSpc>
                <a:spcPct val="100000"/>
              </a:lnSpc>
              <a:spcBef>
                <a:spcPts val="1200"/>
              </a:spcBef>
              <a:buFont typeface="Verdana"/>
              <a:buAutoNum type="arabicPeriod" startAt="2"/>
              <a:tabLst>
                <a:tab pos="399415"/>
              </a:tabLst>
            </a:pPr>
            <a:r>
              <a:rPr sz="1250" b="1">
                <a:latin typeface="Verdana"/>
                <a:cs typeface="Verdana"/>
              </a:rPr>
              <a:t>public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URL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getCodeBase():</a:t>
            </a:r>
            <a:r>
              <a:rPr sz="1250" b="1" spc="-1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is</a:t>
            </a:r>
            <a:r>
              <a:rPr sz="1250" spc="-2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used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to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return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the</a:t>
            </a:r>
            <a:r>
              <a:rPr sz="1250" spc="-2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base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 spc="-20">
                <a:latin typeface="Verdana"/>
                <a:cs typeface="Verdana"/>
              </a:rPr>
              <a:t>URL.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92122"/>
            <a:ext cx="4473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>
                <a:latin typeface="Arial"/>
                <a:cs typeface="Arial"/>
              </a:rPr>
              <a:t>Example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of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displaying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image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>
                <a:latin typeface="Arial"/>
                <a:cs typeface="Arial"/>
              </a:rPr>
              <a:t>in</a:t>
            </a:r>
            <a:r>
              <a:rPr sz="1900" b="1" spc="-55">
                <a:latin typeface="Arial"/>
                <a:cs typeface="Arial"/>
              </a:rPr>
              <a:t> </a:t>
            </a:r>
            <a:r>
              <a:rPr sz="1900" b="1" spc="-10">
                <a:latin typeface="Arial"/>
                <a:cs typeface="Arial"/>
              </a:rPr>
              <a:t>applet: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7950" y="850332"/>
            <a:ext cx="4236720" cy="372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spc="-10">
                <a:latin typeface="Verdana"/>
                <a:cs typeface="Verdana"/>
              </a:rPr>
              <a:t>java.awt.*;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spc="-10">
                <a:latin typeface="Verdana"/>
                <a:cs typeface="Verdana"/>
              </a:rPr>
              <a:t>java.applet.*;</a:t>
            </a:r>
            <a:endParaRPr sz="1150">
              <a:latin typeface="Verdana"/>
              <a:cs typeface="Verdana"/>
            </a:endParaRPr>
          </a:p>
          <a:p>
            <a:pPr marL="217170" marR="743585" indent="-102870">
              <a:lnSpc>
                <a:spcPct val="201100"/>
              </a:lnSpc>
            </a:pP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DisplayImage</a:t>
            </a:r>
            <a:r>
              <a:rPr sz="1150" spc="-30">
                <a:latin typeface="Verdana"/>
                <a:cs typeface="Verdana"/>
              </a:rPr>
              <a:t> </a:t>
            </a: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1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Applet</a:t>
            </a:r>
            <a:r>
              <a:rPr sz="1150" spc="-40">
                <a:latin typeface="Verdana"/>
                <a:cs typeface="Verdana"/>
              </a:rPr>
              <a:t> </a:t>
            </a:r>
            <a:r>
              <a:rPr sz="1150" spc="-50">
                <a:latin typeface="Verdana"/>
                <a:cs typeface="Verdana"/>
              </a:rPr>
              <a:t>{ </a:t>
            </a:r>
            <a:r>
              <a:rPr sz="1150">
                <a:latin typeface="Verdana"/>
                <a:cs typeface="Verdana"/>
              </a:rPr>
              <a:t>Image</a:t>
            </a:r>
            <a:r>
              <a:rPr sz="1150" spc="-25">
                <a:latin typeface="Verdana"/>
                <a:cs typeface="Verdana"/>
              </a:rPr>
              <a:t> </a:t>
            </a:r>
            <a:r>
              <a:rPr sz="1150" spc="-10">
                <a:latin typeface="Verdana"/>
                <a:cs typeface="Verdana"/>
              </a:rPr>
              <a:t>picture;</a:t>
            </a:r>
            <a:endParaRPr sz="1150">
              <a:latin typeface="Verdana"/>
              <a:cs typeface="Verdana"/>
            </a:endParaRPr>
          </a:p>
          <a:p>
            <a:pPr marL="217804">
              <a:lnSpc>
                <a:spcPct val="100000"/>
              </a:lnSpc>
              <a:spcBef>
                <a:spcPts val="1395"/>
              </a:spcBef>
            </a:pP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5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init()</a:t>
            </a:r>
            <a:r>
              <a:rPr sz="1150" spc="-25">
                <a:latin typeface="Verdana"/>
                <a:cs typeface="Verdana"/>
              </a:rPr>
              <a:t> </a:t>
            </a:r>
            <a:r>
              <a:rPr sz="1150" spc="-50">
                <a:latin typeface="Verdana"/>
                <a:cs typeface="Verdana"/>
              </a:rPr>
              <a:t>{</a:t>
            </a:r>
            <a:endParaRPr sz="1150">
              <a:latin typeface="Verdana"/>
              <a:cs typeface="Verdana"/>
            </a:endParaRPr>
          </a:p>
          <a:p>
            <a:pPr marL="217170">
              <a:lnSpc>
                <a:spcPct val="100000"/>
              </a:lnSpc>
              <a:spcBef>
                <a:spcPts val="1395"/>
              </a:spcBef>
            </a:pPr>
            <a:r>
              <a:rPr sz="1150">
                <a:latin typeface="Verdana"/>
                <a:cs typeface="Verdana"/>
              </a:rPr>
              <a:t>picture</a:t>
            </a:r>
            <a:r>
              <a:rPr sz="1150" spc="-30"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=</a:t>
            </a:r>
            <a:r>
              <a:rPr sz="1150" spc="-20">
                <a:latin typeface="Verdana"/>
                <a:cs typeface="Verdana"/>
              </a:rPr>
              <a:t> </a:t>
            </a:r>
            <a:r>
              <a:rPr sz="1150" spc="-10">
                <a:latin typeface="Verdana"/>
                <a:cs typeface="Verdana"/>
              </a:rPr>
              <a:t>getImage(getDocumentBase(),</a:t>
            </a:r>
            <a:r>
              <a:rPr sz="1150" spc="-10">
                <a:solidFill>
                  <a:srgbClr val="0000FF"/>
                </a:solidFill>
                <a:latin typeface="Verdana"/>
                <a:cs typeface="Verdana"/>
              </a:rPr>
              <a:t>"sonoo.jpg"</a:t>
            </a:r>
            <a:r>
              <a:rPr sz="1150" spc="-10">
                <a:latin typeface="Verdana"/>
                <a:cs typeface="Verdana"/>
              </a:rPr>
              <a:t>);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  <a:p>
            <a:pPr marL="217170" marR="1391920" indent="51435">
              <a:lnSpc>
                <a:spcPct val="201100"/>
              </a:lnSpc>
            </a:pP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paint(Graphics</a:t>
            </a:r>
            <a:r>
              <a:rPr sz="1150" spc="-30">
                <a:latin typeface="Verdana"/>
                <a:cs typeface="Verdana"/>
              </a:rPr>
              <a:t> </a:t>
            </a:r>
            <a:r>
              <a:rPr sz="1150">
                <a:latin typeface="Verdana"/>
                <a:cs typeface="Verdana"/>
              </a:rPr>
              <a:t>g)</a:t>
            </a:r>
            <a:r>
              <a:rPr sz="1150" spc="-30">
                <a:latin typeface="Verdana"/>
                <a:cs typeface="Verdana"/>
              </a:rPr>
              <a:t> </a:t>
            </a:r>
            <a:r>
              <a:rPr sz="1150" spc="-50">
                <a:latin typeface="Verdana"/>
                <a:cs typeface="Verdana"/>
              </a:rPr>
              <a:t>{ </a:t>
            </a:r>
            <a:r>
              <a:rPr sz="1150">
                <a:latin typeface="Verdana"/>
                <a:cs typeface="Verdana"/>
              </a:rPr>
              <a:t>g.drawImage(picture,</a:t>
            </a:r>
            <a:r>
              <a:rPr sz="1150" spc="-45">
                <a:latin typeface="Verdana"/>
                <a:cs typeface="Verdana"/>
              </a:rPr>
              <a:t> </a:t>
            </a:r>
            <a:r>
              <a:rPr sz="115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150">
                <a:latin typeface="Verdana"/>
                <a:cs typeface="Verdana"/>
              </a:rPr>
              <a:t>,</a:t>
            </a:r>
            <a:r>
              <a:rPr sz="115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150">
                <a:latin typeface="Verdana"/>
                <a:cs typeface="Verdana"/>
              </a:rPr>
              <a:t>,</a:t>
            </a:r>
            <a:r>
              <a:rPr sz="1150" spc="-55">
                <a:latin typeface="Verdana"/>
                <a:cs typeface="Verdana"/>
              </a:rPr>
              <a:t> </a:t>
            </a:r>
            <a:r>
              <a:rPr sz="1150" b="1" spc="-1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150" spc="-10">
                <a:latin typeface="Verdana"/>
                <a:cs typeface="Verdana"/>
              </a:rPr>
              <a:t>);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4649"/>
            <a:ext cx="5895340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>
                <a:latin typeface="Verdana"/>
                <a:cs typeface="Verdana"/>
              </a:rPr>
              <a:t>&lt;html&gt;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>
                <a:latin typeface="Verdana"/>
                <a:cs typeface="Verdana"/>
              </a:rPr>
              <a:t>&lt;body&gt;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>
                <a:latin typeface="Verdana"/>
                <a:cs typeface="Verdana"/>
              </a:rPr>
              <a:t>&lt;applet</a:t>
            </a:r>
            <a:r>
              <a:rPr sz="1250" b="1" spc="-15">
                <a:latin typeface="Verdana"/>
                <a:cs typeface="Verdana"/>
              </a:rPr>
              <a:t> </a:t>
            </a:r>
            <a:r>
              <a:rPr sz="1250" b="1" spc="-10">
                <a:latin typeface="Verdana"/>
                <a:cs typeface="Verdana"/>
              </a:rPr>
              <a:t>code=</a:t>
            </a:r>
            <a:r>
              <a:rPr sz="1250" b="1" spc="-10">
                <a:solidFill>
                  <a:srgbClr val="0000FF"/>
                </a:solidFill>
                <a:latin typeface="Verdana"/>
                <a:cs typeface="Verdana"/>
              </a:rPr>
              <a:t>"DisplayImage.class"</a:t>
            </a:r>
            <a:r>
              <a:rPr sz="1250" b="1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b="1" spc="-10">
                <a:latin typeface="Verdana"/>
                <a:cs typeface="Verdana"/>
              </a:rPr>
              <a:t>width=</a:t>
            </a:r>
            <a:r>
              <a:rPr sz="1250" b="1" spc="-1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250" b="1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b="1" spc="-10">
                <a:latin typeface="Verdana"/>
                <a:cs typeface="Verdana"/>
              </a:rPr>
              <a:t>height=</a:t>
            </a:r>
            <a:r>
              <a:rPr sz="1250" b="1" spc="-1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250" b="1" spc="-10">
                <a:latin typeface="Verdana"/>
                <a:cs typeface="Verdana"/>
              </a:rPr>
              <a:t>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>
                <a:latin typeface="Verdana"/>
                <a:cs typeface="Verdana"/>
              </a:rPr>
              <a:t>&lt;/applet&gt;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>
                <a:latin typeface="Verdana"/>
                <a:cs typeface="Verdana"/>
              </a:rPr>
              <a:t>&lt;/body&gt;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>
                <a:latin typeface="Verdana"/>
                <a:cs typeface="Verdana"/>
              </a:rPr>
              <a:t>&lt;/html&gt;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Animation</a:t>
            </a:r>
            <a:r>
              <a:rPr spc="-140"/>
              <a:t> </a:t>
            </a:r>
            <a:r>
              <a:rPr/>
              <a:t>in</a:t>
            </a:r>
            <a:r>
              <a:rPr spc="-150"/>
              <a:t> </a:t>
            </a:r>
            <a:r>
              <a:rPr spc="-10"/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7566"/>
            <a:ext cx="6455410" cy="251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latin typeface="Verdana"/>
                <a:cs typeface="Verdana"/>
              </a:rPr>
              <a:t>Applet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is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mostly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used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in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games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and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animation.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For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this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purpose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image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is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required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to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be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moved.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java.awt.*;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 marL="153035" marR="3023870" indent="-140970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AnimationExample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Applet</a:t>
            </a:r>
            <a:r>
              <a:rPr sz="1050" spc="-60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 </a:t>
            </a:r>
            <a:r>
              <a:rPr sz="1050">
                <a:latin typeface="Verdana"/>
                <a:cs typeface="Verdana"/>
              </a:rPr>
              <a:t>Image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picture;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init()</a:t>
            </a:r>
            <a:r>
              <a:rPr sz="1050" spc="-5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9939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picture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=getImage(getDocumentBase(),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"bike_1.gif"</a:t>
            </a:r>
            <a:r>
              <a:rPr sz="1050" spc="-1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  <a:spcBef>
                <a:spcPts val="5"/>
              </a:spcBef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3314700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paint(Graphics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g)</a:t>
            </a:r>
            <a:r>
              <a:rPr sz="1050" spc="-5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 marL="293370" marR="753110" indent="-9334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i=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>
                <a:latin typeface="Verdana"/>
                <a:cs typeface="Verdana"/>
              </a:rPr>
              <a:t>;i&lt;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050" spc="-10">
                <a:latin typeface="Verdana"/>
                <a:cs typeface="Verdana"/>
              </a:rPr>
              <a:t>;i++){ g.drawImage(picture,</a:t>
            </a:r>
            <a:r>
              <a:rPr sz="1050" spc="4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i,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55">
                <a:latin typeface="Verdana"/>
                <a:cs typeface="Verdana"/>
              </a:rPr>
              <a:t>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spc="-1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050" spc="-10">
                <a:latin typeface="Verdana"/>
                <a:cs typeface="Verdana"/>
              </a:rPr>
              <a:t>{Thread.sleep(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050" spc="-10">
                <a:latin typeface="Verdana"/>
                <a:cs typeface="Verdana"/>
              </a:rPr>
              <a:t>);}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50" spc="-10">
                <a:latin typeface="Verdana"/>
                <a:cs typeface="Verdana"/>
              </a:rPr>
              <a:t>(Exception</a:t>
            </a:r>
            <a:r>
              <a:rPr sz="1050" spc="195">
                <a:latin typeface="Verdana"/>
                <a:cs typeface="Verdana"/>
              </a:rPr>
              <a:t> </a:t>
            </a:r>
            <a:r>
              <a:rPr sz="1050" spc="-20">
                <a:latin typeface="Verdana"/>
                <a:cs typeface="Verdana"/>
              </a:rPr>
              <a:t>e){}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99390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1290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384725" y="1903991"/>
            <a:ext cx="4391660" cy="2188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>
                <a:latin typeface="Verdana"/>
                <a:cs typeface="Verdana"/>
              </a:rPr>
              <a:t>&lt;html&gt;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&lt;applet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code=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"DisplayImage.class"</a:t>
            </a:r>
            <a:r>
              <a:rPr sz="1050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width=</a:t>
            </a:r>
            <a:r>
              <a:rPr sz="105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height=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0">
                <a:latin typeface="Verdana"/>
                <a:cs typeface="Verdana"/>
              </a:rPr>
              <a:t>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&lt;/applet&gt;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&lt;/body&gt;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>
                <a:latin typeface="Verdana"/>
                <a:cs typeface="Verdana"/>
              </a:rPr>
              <a:t>&lt;/html&gt;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/>
          <p:nvPr/>
        </p:nvSpPr>
        <p:spPr>
          <a:xfrm>
            <a:off x="5340775" y="4246182"/>
            <a:ext cx="2846070" cy="182880"/>
          </a:xfrm>
          <a:custGeom>
            <a:rect l="l" t="t" r="r" b="b"/>
            <a:pathLst>
              <a:path w="2846070" h="182879">
                <a:moveTo>
                  <a:pt x="2846040" y="182879"/>
                </a:moveTo>
                <a:lnTo>
                  <a:pt x="0" y="182879"/>
                </a:lnTo>
                <a:lnTo>
                  <a:pt x="0" y="0"/>
                </a:lnTo>
                <a:lnTo>
                  <a:pt x="2846040" y="0"/>
                </a:lnTo>
                <a:lnTo>
                  <a:pt x="2846040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133134"/>
            <a:ext cx="2226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>
                <a:solidFill>
                  <a:srgbClr val="2A3890"/>
                </a:solidFill>
                <a:latin typeface="Roboto"/>
                <a:cs typeface="Roboto"/>
              </a:rPr>
              <a:t>Smiling</a:t>
            </a:r>
            <a:r>
              <a:rPr sz="3000" b="1" spc="-14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b="1" spc="-20">
                <a:solidFill>
                  <a:srgbClr val="2A3890"/>
                </a:solidFill>
                <a:latin typeface="Roboto"/>
                <a:cs typeface="Roboto"/>
              </a:rPr>
              <a:t>Face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902479"/>
            <a:ext cx="1765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import</a:t>
            </a:r>
            <a:r>
              <a:rPr sz="1200" b="1" spc="-40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java.applet.Applet;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302529"/>
            <a:ext cx="1231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import</a:t>
            </a:r>
            <a:r>
              <a:rPr sz="1200" b="1" spc="-40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java.awt.*;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702579"/>
            <a:ext cx="420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/*</a:t>
            </a:r>
            <a:r>
              <a:rPr sz="1200" b="1" spc="-3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&lt;applet</a:t>
            </a:r>
            <a:r>
              <a:rPr sz="1200" b="1" spc="-25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code="SmileyExc.class"</a:t>
            </a:r>
            <a:r>
              <a:rPr sz="1200" b="1" spc="-3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width="200"</a:t>
            </a:r>
            <a:r>
              <a:rPr sz="1200" b="1" spc="-30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height="200"&gt;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925" y="2102629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Times New Roman"/>
                <a:cs typeface="Times New Roman"/>
              </a:rPr>
              <a:t>&lt;/applet&gt;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502679"/>
            <a:ext cx="144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825" y="2902729"/>
            <a:ext cx="2593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public</a:t>
            </a:r>
            <a:r>
              <a:rPr sz="1200" b="1" spc="-1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class</a:t>
            </a:r>
            <a:r>
              <a:rPr sz="1200" b="1" spc="-10">
                <a:latin typeface="Times New Roman"/>
                <a:cs typeface="Times New Roman"/>
              </a:rPr>
              <a:t> SmileyExc</a:t>
            </a:r>
            <a:r>
              <a:rPr sz="1200" b="1" spc="-5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extends</a:t>
            </a:r>
            <a:r>
              <a:rPr sz="1200" b="1" spc="-7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Applet </a:t>
            </a:r>
            <a:r>
              <a:rPr sz="1200" b="1" spc="-5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825" y="3302779"/>
            <a:ext cx="2040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public</a:t>
            </a:r>
            <a:r>
              <a:rPr sz="1200" b="1" spc="-3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void</a:t>
            </a:r>
            <a:r>
              <a:rPr sz="1200" b="1" spc="-3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paint(Graphics</a:t>
            </a:r>
            <a:r>
              <a:rPr sz="1200" b="1" spc="-3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g)</a:t>
            </a:r>
            <a:r>
              <a:rPr sz="1200" b="1" spc="-25">
                <a:latin typeface="Times New Roman"/>
                <a:cs typeface="Times New Roman"/>
              </a:rPr>
              <a:t> </a:t>
            </a:r>
            <a:r>
              <a:rPr sz="1200" b="1" spc="-5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825" y="3702829"/>
            <a:ext cx="165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Times New Roman"/>
                <a:cs typeface="Times New Roman"/>
              </a:rPr>
              <a:t>g.setColor(Color.yellow);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825" y="4102879"/>
            <a:ext cx="1659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Times New Roman"/>
                <a:cs typeface="Times New Roman"/>
              </a:rPr>
              <a:t>g.fillOval(20,20,150,150);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71003" y="4102879"/>
            <a:ext cx="681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//</a:t>
            </a:r>
            <a:r>
              <a:rPr sz="1200" b="1" spc="-3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For</a:t>
            </a:r>
            <a:r>
              <a:rPr sz="1200" b="1" spc="-50">
                <a:latin typeface="Times New Roman"/>
                <a:cs typeface="Times New Roman"/>
              </a:rPr>
              <a:t> </a:t>
            </a:r>
            <a:r>
              <a:rPr sz="1200" b="1" spc="-20">
                <a:latin typeface="Times New Roman"/>
                <a:cs typeface="Times New Roman"/>
              </a:rPr>
              <a:t>face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825" y="4502929"/>
            <a:ext cx="159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Times New Roman"/>
                <a:cs typeface="Times New Roman"/>
              </a:rPr>
              <a:t>g.setColor(Color.black);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28075" y="810579"/>
            <a:ext cx="2374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4020"/>
              </a:tabLst>
            </a:pPr>
            <a:r>
              <a:rPr sz="1200" b="1" spc="-10">
                <a:latin typeface="Times New Roman"/>
                <a:cs typeface="Times New Roman"/>
              </a:rPr>
              <a:t>g.fillOval(50,60,15,25);</a:t>
            </a:r>
            <a:r>
              <a:rPr sz="1200" b="1">
                <a:latin typeface="Times New Roman"/>
                <a:cs typeface="Times New Roman"/>
              </a:rPr>
              <a:t>	//</a:t>
            </a:r>
            <a:r>
              <a:rPr sz="1200" b="1" spc="-2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Left</a:t>
            </a:r>
            <a:r>
              <a:rPr sz="1200" b="1" spc="-20">
                <a:latin typeface="Times New Roman"/>
                <a:cs typeface="Times New Roman"/>
              </a:rPr>
              <a:t> </a:t>
            </a:r>
            <a:r>
              <a:rPr sz="1200" b="1" spc="-25">
                <a:latin typeface="Times New Roman"/>
                <a:cs typeface="Times New Roman"/>
              </a:rPr>
              <a:t>Eye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6175" y="1211391"/>
            <a:ext cx="2505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2120"/>
              </a:tabLst>
            </a:pPr>
            <a:r>
              <a:rPr sz="1200" b="1" spc="-10">
                <a:latin typeface="Times New Roman"/>
                <a:cs typeface="Times New Roman"/>
              </a:rPr>
              <a:t>g.fillOval(120,60,15,25);</a:t>
            </a:r>
            <a:r>
              <a:rPr sz="1200" b="1">
                <a:latin typeface="Times New Roman"/>
                <a:cs typeface="Times New Roman"/>
              </a:rPr>
              <a:t>	//</a:t>
            </a:r>
            <a:r>
              <a:rPr sz="1200" b="1" spc="-1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Right</a:t>
            </a:r>
            <a:r>
              <a:rPr sz="1200" b="1" spc="-10">
                <a:latin typeface="Times New Roman"/>
                <a:cs typeface="Times New Roman"/>
              </a:rPr>
              <a:t> </a:t>
            </a:r>
            <a:r>
              <a:rPr sz="1200" b="1" spc="-25">
                <a:latin typeface="Times New Roman"/>
                <a:cs typeface="Times New Roman"/>
              </a:rPr>
              <a:t>Eye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66175" y="1612203"/>
            <a:ext cx="1553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int</a:t>
            </a:r>
            <a:r>
              <a:rPr sz="1200" b="1" spc="-1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x[]</a:t>
            </a:r>
            <a:r>
              <a:rPr sz="1200" b="1" spc="-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=</a:t>
            </a:r>
            <a:r>
              <a:rPr sz="1200" b="1" spc="-15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{95,85,106,95};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6175" y="2013014"/>
            <a:ext cx="2590165" cy="1010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Times New Roman"/>
                <a:cs typeface="Times New Roman"/>
              </a:rPr>
              <a:t>int</a:t>
            </a:r>
            <a:r>
              <a:rPr sz="1200" b="1" spc="-1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y[]</a:t>
            </a:r>
            <a:r>
              <a:rPr sz="1200" b="1" spc="-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=</a:t>
            </a:r>
            <a:r>
              <a:rPr sz="1200" b="1" spc="-15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{85,104,104,85};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19200"/>
              </a:lnSpc>
              <a:tabLst>
                <a:tab pos="1743710"/>
              </a:tabLst>
            </a:pPr>
            <a:r>
              <a:rPr sz="1200" b="1">
                <a:latin typeface="Times New Roman"/>
                <a:cs typeface="Times New Roman"/>
              </a:rPr>
              <a:t>g.drawPolygon(x,</a:t>
            </a:r>
            <a:r>
              <a:rPr sz="1200" b="1" spc="-7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y,</a:t>
            </a:r>
            <a:r>
              <a:rPr sz="1200" b="1" spc="-70">
                <a:latin typeface="Times New Roman"/>
                <a:cs typeface="Times New Roman"/>
              </a:rPr>
              <a:t> </a:t>
            </a:r>
            <a:r>
              <a:rPr sz="1200" b="1" spc="-25">
                <a:latin typeface="Times New Roman"/>
                <a:cs typeface="Times New Roman"/>
              </a:rPr>
              <a:t>4);</a:t>
            </a:r>
            <a:r>
              <a:rPr sz="1200" b="1">
                <a:latin typeface="Times New Roman"/>
                <a:cs typeface="Times New Roman"/>
              </a:rPr>
              <a:t>	//</a:t>
            </a:r>
            <a:r>
              <a:rPr sz="1200" b="1" spc="-25">
                <a:latin typeface="Times New Roman"/>
                <a:cs typeface="Times New Roman"/>
              </a:rPr>
              <a:t> </a:t>
            </a:r>
            <a:r>
              <a:rPr sz="1200" b="1" spc="-20">
                <a:latin typeface="Times New Roman"/>
                <a:cs typeface="Times New Roman"/>
              </a:rPr>
              <a:t>Nose </a:t>
            </a:r>
            <a:r>
              <a:rPr sz="1200" b="1" spc="-10">
                <a:latin typeface="Times New Roman"/>
                <a:cs typeface="Times New Roman"/>
              </a:rPr>
              <a:t>g.drawArc(55,95,78,50,0,-</a:t>
            </a:r>
            <a:r>
              <a:rPr sz="1200" b="1">
                <a:latin typeface="Times New Roman"/>
                <a:cs typeface="Times New Roman"/>
              </a:rPr>
              <a:t>180);</a:t>
            </a:r>
            <a:r>
              <a:rPr sz="1200" b="1" spc="34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//</a:t>
            </a:r>
            <a:r>
              <a:rPr sz="1200" b="1" spc="15">
                <a:latin typeface="Times New Roman"/>
                <a:cs typeface="Times New Roman"/>
              </a:rPr>
              <a:t> </a:t>
            </a:r>
            <a:r>
              <a:rPr sz="1200" b="1" spc="-10">
                <a:latin typeface="Times New Roman"/>
                <a:cs typeface="Times New Roman"/>
              </a:rPr>
              <a:t>Smile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28075" y="3188018"/>
            <a:ext cx="3608704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200" b="1">
                <a:solidFill>
                  <a:srgbClr val="0000FF"/>
                </a:solidFill>
                <a:latin typeface="Times New Roman"/>
                <a:cs typeface="Times New Roman"/>
              </a:rPr>
              <a:t>//</a:t>
            </a:r>
            <a:r>
              <a:rPr sz="1200" b="1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0000FF"/>
                </a:solidFill>
                <a:latin typeface="Times New Roman"/>
                <a:cs typeface="Times New Roman"/>
              </a:rPr>
              <a:t>drawArc(RectF</a:t>
            </a:r>
            <a:r>
              <a:rPr sz="12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oval,</a:t>
            </a:r>
            <a:r>
              <a:rPr sz="12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float</a:t>
            </a:r>
            <a:r>
              <a:rPr sz="12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startAngle,</a:t>
            </a:r>
            <a:r>
              <a:rPr sz="12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float</a:t>
            </a:r>
            <a:r>
              <a:rPr sz="12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0000FF"/>
                </a:solidFill>
                <a:latin typeface="Times New Roman"/>
                <a:cs typeface="Times New Roman"/>
              </a:rPr>
              <a:t>sweepAngle,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boolean</a:t>
            </a:r>
            <a:r>
              <a:rPr sz="12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0000FF"/>
                </a:solidFill>
                <a:latin typeface="Times New Roman"/>
                <a:cs typeface="Times New Roman"/>
              </a:rPr>
              <a:t>useCenter,</a:t>
            </a:r>
            <a:r>
              <a:rPr sz="12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0000FF"/>
                </a:solidFill>
                <a:latin typeface="Times New Roman"/>
                <a:cs typeface="Times New Roman"/>
              </a:rPr>
              <a:t>Paint</a:t>
            </a:r>
            <a:r>
              <a:rPr sz="12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0000FF"/>
                </a:solidFill>
                <a:latin typeface="Times New Roman"/>
                <a:cs typeface="Times New Roman"/>
              </a:rPr>
              <a:t>paint)</a:t>
            </a:r>
            <a:endParaRPr sz="1200">
              <a:latin typeface="Times New Roman"/>
              <a:cs typeface="Times New Roman"/>
            </a:endParaRPr>
          </a:p>
          <a:p>
            <a:pPr marL="50800" marR="742950">
              <a:lnSpc>
                <a:spcPct val="219200"/>
              </a:lnSpc>
            </a:pPr>
            <a:r>
              <a:rPr sz="1200" b="1">
                <a:latin typeface="Times New Roman"/>
                <a:cs typeface="Times New Roman"/>
              </a:rPr>
              <a:t>g.drawLine(50,126,60,116);</a:t>
            </a:r>
            <a:r>
              <a:rPr sz="1200" b="1" spc="44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//</a:t>
            </a:r>
            <a:r>
              <a:rPr sz="1200" b="1" spc="-5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Smile</a:t>
            </a:r>
            <a:r>
              <a:rPr sz="1200" b="1" spc="-60">
                <a:latin typeface="Times New Roman"/>
                <a:cs typeface="Times New Roman"/>
              </a:rPr>
              <a:t> </a:t>
            </a:r>
            <a:r>
              <a:rPr sz="1200" b="1" spc="-20">
                <a:latin typeface="Times New Roman"/>
                <a:cs typeface="Times New Roman"/>
              </a:rPr>
              <a:t>arc1 </a:t>
            </a:r>
            <a:r>
              <a:rPr sz="1200" b="1">
                <a:latin typeface="Times New Roman"/>
                <a:cs typeface="Times New Roman"/>
              </a:rPr>
              <a:t>g.drawLine(128,115,139,126);</a:t>
            </a:r>
            <a:r>
              <a:rPr sz="1200" b="1" spc="195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//</a:t>
            </a:r>
            <a:r>
              <a:rPr sz="1200" b="1" spc="-5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Smile</a:t>
            </a:r>
            <a:r>
              <a:rPr sz="1200" b="1" spc="-55">
                <a:latin typeface="Times New Roman"/>
                <a:cs typeface="Times New Roman"/>
              </a:rPr>
              <a:t> </a:t>
            </a:r>
            <a:r>
              <a:rPr sz="1200" b="1" spc="-20">
                <a:latin typeface="Times New Roman"/>
                <a:cs typeface="Times New Roman"/>
              </a:rPr>
              <a:t>arc2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28075" y="4628198"/>
            <a:ext cx="85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40775" y="5047806"/>
            <a:ext cx="60325" cy="95885"/>
          </a:xfrm>
          <a:custGeom>
            <a:rect l="l" t="t" r="r" b="b"/>
            <a:pathLst>
              <a:path w="60325" h="95885">
                <a:moveTo>
                  <a:pt x="60052" y="95693"/>
                </a:moveTo>
                <a:lnTo>
                  <a:pt x="0" y="95693"/>
                </a:lnTo>
                <a:lnTo>
                  <a:pt x="0" y="0"/>
                </a:lnTo>
                <a:lnTo>
                  <a:pt x="60052" y="0"/>
                </a:lnTo>
                <a:lnTo>
                  <a:pt x="60052" y="956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28075" y="5029010"/>
            <a:ext cx="85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0754" y="667416"/>
            <a:ext cx="2998849" cy="38086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91370"/>
            <a:ext cx="5090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Draw</a:t>
            </a:r>
            <a:r>
              <a:rPr sz="1300" b="1" spc="-4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a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10">
                <a:solidFill>
                  <a:srgbClr val="40424E"/>
                </a:solidFill>
                <a:latin typeface="Arial"/>
                <a:cs typeface="Arial"/>
              </a:rPr>
              <a:t>rectangle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using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drawRect(int</a:t>
            </a:r>
            <a:r>
              <a:rPr sz="1300" b="1" spc="-4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x,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30">
                <a:solidFill>
                  <a:srgbClr val="40424E"/>
                </a:solidFill>
                <a:latin typeface="Arial"/>
                <a:cs typeface="Arial"/>
              </a:rPr>
              <a:t>y,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width,</a:t>
            </a:r>
            <a:r>
              <a:rPr sz="1300" b="1" spc="-4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10">
                <a:solidFill>
                  <a:srgbClr val="40424E"/>
                </a:solidFill>
                <a:latin typeface="Arial"/>
                <a:cs typeface="Arial"/>
              </a:rPr>
              <a:t>height)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57729"/>
            <a:ext cx="323215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8910">
              <a:lnSpc>
                <a:spcPct val="116700"/>
              </a:lnSpc>
              <a:spcBef>
                <a:spcPts val="100"/>
              </a:spcBef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import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java.awt.*;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import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javax.swing.*;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5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class</a:t>
            </a:r>
            <a:r>
              <a:rPr sz="1500" b="1" spc="-5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rectangle</a:t>
            </a: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extends</a:t>
            </a:r>
            <a:r>
              <a:rPr sz="1500" b="1" spc="-5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JApplet</a:t>
            </a:r>
            <a:r>
              <a:rPr sz="1500" b="1" spc="-4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225" y="1624529"/>
            <a:ext cx="1623060" cy="1625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void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init()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03200" marR="5080">
              <a:lnSpc>
                <a:spcPct val="116700"/>
              </a:lnSpc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1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set</a:t>
            </a:r>
            <a:r>
              <a:rPr sz="1500" b="1" spc="-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20">
                <a:solidFill>
                  <a:srgbClr val="40424E"/>
                </a:solidFill>
                <a:latin typeface="Times New Roman"/>
                <a:cs typeface="Times New Roman"/>
              </a:rPr>
              <a:t>size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setSize(400,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400); repaint();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3700" y="787140"/>
            <a:ext cx="2962275" cy="23914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paint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the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applet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4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void</a:t>
            </a:r>
            <a:r>
              <a:rPr sz="1500" b="1" spc="-4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paint(Graphics</a:t>
            </a:r>
            <a:r>
              <a:rPr sz="1500" b="1" spc="-4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25">
                <a:solidFill>
                  <a:srgbClr val="40424E"/>
                </a:solidFill>
                <a:latin typeface="Times New Roman"/>
                <a:cs typeface="Times New Roman"/>
              </a:rPr>
              <a:t>g)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270"/>
              </a:spcBef>
            </a:pP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393700" marR="594995">
              <a:lnSpc>
                <a:spcPct val="114999"/>
              </a:lnSpc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set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Color</a:t>
            </a:r>
            <a:r>
              <a:rPr sz="1500" b="1" spc="-4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for</a:t>
            </a:r>
            <a:r>
              <a:rPr sz="1500" b="1" spc="-4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rectangle g.setColor(Color.red);</a:t>
            </a:r>
            <a:endParaRPr sz="1500">
              <a:latin typeface="Times New Roman"/>
              <a:cs typeface="Times New Roman"/>
            </a:endParaRPr>
          </a:p>
          <a:p>
            <a:pPr marL="393700" marR="5080">
              <a:lnSpc>
                <a:spcPct val="114999"/>
              </a:lnSpc>
            </a:pP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draw</a:t>
            </a:r>
            <a:r>
              <a:rPr sz="1500" b="1" spc="-2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a</a:t>
            </a:r>
            <a:r>
              <a:rPr sz="1500" b="1" spc="-2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rectangle g.drawRect(100,</a:t>
            </a:r>
            <a:r>
              <a:rPr sz="1500" b="1" spc="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100,</a:t>
            </a:r>
            <a:r>
              <a:rPr sz="1500" b="1" spc="1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>
                <a:solidFill>
                  <a:srgbClr val="40424E"/>
                </a:solidFill>
                <a:latin typeface="Times New Roman"/>
                <a:cs typeface="Times New Roman"/>
              </a:rPr>
              <a:t>200,</a:t>
            </a:r>
            <a:r>
              <a:rPr sz="1500" b="1" spc="15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40424E"/>
                </a:solidFill>
                <a:latin typeface="Times New Roman"/>
                <a:cs typeface="Times New Roman"/>
              </a:rPr>
              <a:t>200);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270"/>
              </a:spcBef>
            </a:pP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500" b="1" spc="-5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528378" y="330128"/>
            <a:ext cx="3230657" cy="375134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import </a:t>
            </a:r>
            <a:r>
              <a:rPr sz="1400" b="1" spc="-10">
                <a:solidFill>
                  <a:srgbClr val="000000"/>
                </a:solidFill>
                <a:latin typeface="Times New Roman"/>
                <a:cs typeface="Times New Roman"/>
              </a:rPr>
              <a:t>java.applet.*;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import </a:t>
            </a:r>
            <a:r>
              <a:rPr sz="1400" b="1" spc="-10">
                <a:solidFill>
                  <a:srgbClr val="000000"/>
                </a:solidFill>
                <a:latin typeface="Times New Roman"/>
                <a:cs typeface="Times New Roman"/>
              </a:rPr>
              <a:t>java.awt.*;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89443" y="1138424"/>
            <a:ext cx="804545" cy="213360"/>
          </a:xfrm>
          <a:custGeom>
            <a:rect l="l" t="t" r="r" b="b"/>
            <a:pathLst>
              <a:path w="804544" h="213359">
                <a:moveTo>
                  <a:pt x="804425" y="213359"/>
                </a:moveTo>
                <a:lnTo>
                  <a:pt x="0" y="213359"/>
                </a:lnTo>
                <a:lnTo>
                  <a:pt x="0" y="0"/>
                </a:lnTo>
                <a:lnTo>
                  <a:pt x="804425" y="0"/>
                </a:lnTo>
                <a:lnTo>
                  <a:pt x="804425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175" y="1118613"/>
            <a:ext cx="410019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/*</a:t>
            </a:r>
            <a:r>
              <a:rPr sz="1400" b="1" spc="-1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&lt;applet</a:t>
            </a:r>
            <a:r>
              <a:rPr sz="1400" b="1" spc="-10">
                <a:latin typeface="Times New Roman"/>
                <a:cs typeface="Times New Roman"/>
              </a:rPr>
              <a:t> code="Geo.class"</a:t>
            </a:r>
            <a:r>
              <a:rPr sz="1400" b="1" spc="-2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width</a:t>
            </a:r>
            <a:r>
              <a:rPr sz="1400" b="1" spc="-1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=300</a:t>
            </a:r>
            <a:r>
              <a:rPr sz="1400" b="1" spc="325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height=300&gt;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170"/>
              </a:spcBef>
            </a:pPr>
            <a:r>
              <a:rPr sz="1400" b="1" spc="-10">
                <a:latin typeface="Times New Roman"/>
                <a:cs typeface="Times New Roman"/>
              </a:rPr>
              <a:t>&lt;/applet&gt;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842513"/>
            <a:ext cx="89916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>
                <a:latin typeface="Times New Roman"/>
                <a:cs typeface="Times New Roman"/>
              </a:rPr>
              <a:t>*/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5777" y="2224275"/>
            <a:ext cx="318770" cy="2133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25">
                <a:latin typeface="Times New Roman"/>
                <a:cs typeface="Times New Roman"/>
              </a:rPr>
              <a:t>Geo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3470" y="2204463"/>
            <a:ext cx="1146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>
                <a:latin typeface="Times New Roman"/>
                <a:cs typeface="Times New Roman"/>
              </a:rPr>
              <a:t>extends </a:t>
            </a:r>
            <a:r>
              <a:rPr sz="1400" b="1" spc="-10">
                <a:latin typeface="Times New Roman"/>
                <a:cs typeface="Times New Roman"/>
              </a:rPr>
              <a:t>Applet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566412"/>
            <a:ext cx="230632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170"/>
              </a:spcBef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void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paint(Graphics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17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700" y="3672075"/>
            <a:ext cx="2046605" cy="2133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10">
                <a:latin typeface="Times New Roman"/>
                <a:cs typeface="Times New Roman"/>
              </a:rPr>
              <a:t>g.setColor(Color.GREEN);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075" y="4014213"/>
            <a:ext cx="201104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>
                <a:latin typeface="Times New Roman"/>
                <a:cs typeface="Times New Roman"/>
              </a:rPr>
              <a:t>g.drawLine(20,20,100,20);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spc="-10">
                <a:latin typeface="Times New Roman"/>
                <a:cs typeface="Times New Roman"/>
              </a:rPr>
              <a:t>g.drawRect(20,50,90,90);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0474" y="1001797"/>
            <a:ext cx="326326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sz="1400" b="1" spc="-10">
                <a:latin typeface="Times New Roman"/>
                <a:cs typeface="Times New Roman"/>
              </a:rPr>
              <a:t>g.fillRoundRect(130,50,120,70,15,15);</a:t>
            </a:r>
            <a:endParaRPr sz="1400">
              <a:latin typeface="Times New Roman"/>
              <a:cs typeface="Times New Roman"/>
            </a:endParaRPr>
          </a:p>
          <a:p>
            <a:pPr marL="146050" marR="926465">
              <a:lnSpc>
                <a:spcPct val="171400"/>
              </a:lnSpc>
            </a:pPr>
            <a:r>
              <a:rPr sz="1400" b="1" spc="-10">
                <a:latin typeface="Times New Roman"/>
                <a:cs typeface="Times New Roman"/>
              </a:rPr>
              <a:t>g.setColor(Color.RED); g.drawOval(20,160,160,100);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200" b="1">
                <a:solidFill>
                  <a:srgbClr val="0000FF"/>
                </a:solidFill>
                <a:latin typeface="Times New Roman"/>
                <a:cs typeface="Times New Roman"/>
              </a:rPr>
              <a:t>//</a:t>
            </a:r>
            <a:r>
              <a:rPr sz="1200" b="1" spc="2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drawOval(</a:t>
            </a:r>
            <a:r>
              <a:rPr sz="1200"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X,</a:t>
            </a:r>
            <a:r>
              <a:rPr sz="1200" b="1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4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65">
                <a:solidFill>
                  <a:srgbClr val="0000FF"/>
                </a:solidFill>
                <a:latin typeface="Arial"/>
                <a:cs typeface="Arial"/>
              </a:rPr>
              <a:t>Y,</a:t>
            </a:r>
            <a:r>
              <a:rPr sz="1200" b="1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width,</a:t>
            </a:r>
            <a:r>
              <a:rPr sz="1200" b="1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0000FF"/>
                </a:solidFill>
                <a:latin typeface="Arial"/>
                <a:cs typeface="Arial"/>
              </a:rPr>
              <a:t>height</a:t>
            </a:r>
            <a:r>
              <a:rPr sz="1200"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1195"/>
              </a:spcBef>
            </a:pPr>
            <a:r>
              <a:rPr sz="1400" b="1" spc="-10">
                <a:latin typeface="Times New Roman"/>
                <a:cs typeface="Times New Roman"/>
              </a:rPr>
              <a:t>g.fillOval(180,160,160,100);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9374" y="2800117"/>
            <a:ext cx="95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0474" y="3165877"/>
            <a:ext cx="95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292875" y="135651"/>
            <a:ext cx="4146025" cy="443159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259397"/>
            <a:ext cx="8105775" cy="313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Write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an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applet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that</a:t>
            </a:r>
            <a:r>
              <a:rPr sz="1400" b="1" spc="-2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draws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four</a:t>
            </a:r>
            <a:r>
              <a:rPr sz="1400" b="1" spc="-75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Vertical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bars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of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equal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size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&amp;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of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different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colors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such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that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they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cover</a:t>
            </a:r>
            <a:r>
              <a:rPr sz="1400" b="1" spc="-5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up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the </a:t>
            </a:r>
            <a:r>
              <a:rPr sz="1400" b="1">
                <a:latin typeface="Times New Roman"/>
                <a:cs typeface="Times New Roman"/>
              </a:rPr>
              <a:t>whole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applet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 spc="-20">
                <a:latin typeface="Times New Roman"/>
                <a:cs typeface="Times New Roman"/>
              </a:rPr>
              <a:t>area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479540">
              <a:lnSpc>
                <a:spcPct val="169600"/>
              </a:lnSpc>
            </a:pPr>
            <a:r>
              <a:rPr sz="1400" b="1">
                <a:latin typeface="Times New Roman"/>
                <a:cs typeface="Times New Roman"/>
              </a:rPr>
              <a:t>import </a:t>
            </a:r>
            <a:r>
              <a:rPr sz="1400" b="1" spc="-10">
                <a:latin typeface="Times New Roman"/>
                <a:cs typeface="Times New Roman"/>
              </a:rPr>
              <a:t>java.applet.*; </a:t>
            </a:r>
            <a:r>
              <a:rPr sz="1400" b="1">
                <a:latin typeface="Times New Roman"/>
                <a:cs typeface="Times New Roman"/>
              </a:rPr>
              <a:t>import </a:t>
            </a:r>
            <a:r>
              <a:rPr sz="1400" b="1" spc="-10">
                <a:latin typeface="Times New Roman"/>
                <a:cs typeface="Times New Roman"/>
              </a:rPr>
              <a:t>java.awt.*;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ts val="1635"/>
              </a:lnSpc>
            </a:pPr>
            <a:r>
              <a:rPr sz="1400" b="1" spc="-25">
                <a:latin typeface="Times New Roman"/>
                <a:cs typeface="Times New Roman"/>
              </a:rPr>
              <a:t>/*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>
                <a:latin typeface="Times New Roman"/>
                <a:cs typeface="Times New Roman"/>
              </a:rPr>
              <a:t>&lt;applet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code="equalBars.class"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width="500"</a:t>
            </a:r>
            <a:r>
              <a:rPr sz="1400" b="1" spc="-30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height="500"&gt;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10">
                <a:latin typeface="Times New Roman"/>
                <a:cs typeface="Times New Roman"/>
              </a:rPr>
              <a:t>&lt;/applet&gt;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25">
                <a:latin typeface="Times New Roman"/>
                <a:cs typeface="Times New Roman"/>
              </a:rPr>
              <a:t>*/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ts val="1650"/>
              </a:lnSpc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1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class</a:t>
            </a:r>
            <a:r>
              <a:rPr sz="1400" b="1" spc="-10">
                <a:latin typeface="Times New Roman"/>
                <a:cs typeface="Times New Roman"/>
              </a:rPr>
              <a:t> equalBars </a:t>
            </a:r>
            <a:r>
              <a:rPr sz="1400" b="1" spc="-20">
                <a:latin typeface="Times New Roman"/>
                <a:cs typeface="Times New Roman"/>
              </a:rPr>
              <a:t>extends</a:t>
            </a:r>
            <a:r>
              <a:rPr sz="1400" b="1" spc="-80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Applet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 marR="3255645">
              <a:lnSpc>
                <a:spcPts val="1650"/>
              </a:lnSpc>
              <a:spcBef>
                <a:spcPts val="65"/>
              </a:spcBef>
            </a:pPr>
            <a:r>
              <a:rPr sz="1400" b="1">
                <a:latin typeface="Times New Roman"/>
                <a:cs typeface="Times New Roman"/>
              </a:rPr>
              <a:t>Color[]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clr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15">
                <a:latin typeface="Times New Roman"/>
                <a:cs typeface="Times New Roman"/>
              </a:rPr>
              <a:t> </a:t>
            </a:r>
            <a:r>
              <a:rPr sz="1400" b="1" spc="-20">
                <a:latin typeface="Times New Roman"/>
                <a:cs typeface="Times New Roman"/>
              </a:rPr>
              <a:t>{Color.red,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 spc="-20">
                <a:latin typeface="Times New Roman"/>
                <a:cs typeface="Times New Roman"/>
              </a:rPr>
              <a:t>Color.green,</a:t>
            </a:r>
            <a:r>
              <a:rPr sz="1400" b="1" spc="-10">
                <a:latin typeface="Times New Roman"/>
                <a:cs typeface="Times New Roman"/>
              </a:rPr>
              <a:t> Color.pink, Color.blue}; </a:t>
            </a:r>
            <a:r>
              <a:rPr sz="1400" b="1">
                <a:latin typeface="Times New Roman"/>
                <a:cs typeface="Times New Roman"/>
              </a:rPr>
              <a:t>int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cnt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0;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5137"/>
            <a:ext cx="1289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public</a:t>
            </a:r>
            <a:r>
              <a:rPr sz="1400" b="1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void</a:t>
            </a:r>
            <a:r>
              <a:rPr sz="1400" b="1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0000"/>
                </a:solidFill>
                <a:latin typeface="Times New Roman"/>
                <a:cs typeface="Times New Roman"/>
              </a:rPr>
              <a:t>init()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525" y="554687"/>
            <a:ext cx="239903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50"/>
              </a:lnSpc>
            </a:pPr>
            <a:r>
              <a:rPr sz="1400" b="1" spc="-10">
                <a:latin typeface="Times New Roman"/>
                <a:cs typeface="Times New Roman"/>
              </a:rPr>
              <a:t>setBackground(Color.black);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525" y="1335738"/>
            <a:ext cx="2261870" cy="2047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void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paint(Graphics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  <a:spcBef>
                <a:spcPts val="117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 marR="572135" algn="just">
              <a:lnSpc>
                <a:spcPts val="1650"/>
              </a:lnSpc>
              <a:spcBef>
                <a:spcPts val="65"/>
              </a:spcBef>
            </a:pPr>
            <a:r>
              <a:rPr sz="1400" b="1">
                <a:latin typeface="Times New Roman"/>
                <a:cs typeface="Times New Roman"/>
              </a:rPr>
              <a:t>int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w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10">
                <a:latin typeface="Times New Roman"/>
                <a:cs typeface="Times New Roman"/>
              </a:rPr>
              <a:t> getWidth(); </a:t>
            </a:r>
            <a:r>
              <a:rPr sz="1400" b="1">
                <a:latin typeface="Times New Roman"/>
                <a:cs typeface="Times New Roman"/>
              </a:rPr>
              <a:t>int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h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getHeight(); </a:t>
            </a:r>
            <a:r>
              <a:rPr sz="1400" b="1">
                <a:latin typeface="Times New Roman"/>
                <a:cs typeface="Times New Roman"/>
              </a:rPr>
              <a:t>for(int </a:t>
            </a:r>
            <a:r>
              <a:rPr sz="1400" b="1" spc="-10">
                <a:latin typeface="Times New Roman"/>
                <a:cs typeface="Times New Roman"/>
              </a:rPr>
              <a:t>i=0;i&lt;4;i++)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64"/>
              </a:lnSpc>
              <a:spcBef>
                <a:spcPts val="112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68300">
              <a:lnSpc>
                <a:spcPts val="1664"/>
              </a:lnSpc>
            </a:pPr>
            <a:r>
              <a:rPr sz="1400" b="1" spc="-10">
                <a:latin typeface="Times New Roman"/>
                <a:cs typeface="Times New Roman"/>
              </a:rPr>
              <a:t>g.setColor(clr[i]);</a:t>
            </a:r>
            <a:endParaRPr sz="14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  <a:spcBef>
                <a:spcPts val="254"/>
              </a:spcBef>
            </a:pPr>
            <a:r>
              <a:rPr sz="1400" b="1" spc="-10">
                <a:latin typeface="Times New Roman"/>
                <a:cs typeface="Times New Roman"/>
              </a:rPr>
              <a:t>g.fillRect(w/4*i,0,w/4,h);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6994" y="3105864"/>
            <a:ext cx="341820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729"/>
              </a:tabLst>
            </a:pPr>
            <a:r>
              <a:rPr sz="1400" b="1" spc="-25">
                <a:latin typeface="Times New Roman"/>
                <a:cs typeface="Times New Roman"/>
              </a:rPr>
              <a:t>//</a:t>
            </a:r>
            <a:r>
              <a:rPr sz="1400" b="1">
                <a:latin typeface="Times New Roman"/>
                <a:cs typeface="Times New Roman"/>
              </a:rPr>
              <a:t>	</a:t>
            </a:r>
            <a:r>
              <a:rPr sz="1700" b="1">
                <a:latin typeface="Times New Roman"/>
                <a:cs typeface="Times New Roman"/>
              </a:rPr>
              <a:t>f</a:t>
            </a:r>
            <a:r>
              <a:rPr sz="1350" b="1">
                <a:latin typeface="Arial"/>
                <a:cs typeface="Arial"/>
              </a:rPr>
              <a:t>illRect(int</a:t>
            </a:r>
            <a:r>
              <a:rPr sz="1350" b="1" spc="-35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x,</a:t>
            </a:r>
            <a:r>
              <a:rPr sz="1350" b="1" spc="-30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int</a:t>
            </a:r>
            <a:r>
              <a:rPr sz="1350" b="1" spc="-35">
                <a:latin typeface="Arial"/>
                <a:cs typeface="Arial"/>
              </a:rPr>
              <a:t> </a:t>
            </a:r>
            <a:r>
              <a:rPr sz="1350" b="1" spc="-20">
                <a:latin typeface="Arial"/>
                <a:cs typeface="Arial"/>
              </a:rPr>
              <a:t>y,</a:t>
            </a:r>
            <a:r>
              <a:rPr sz="1350" b="1" spc="-30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int</a:t>
            </a:r>
            <a:r>
              <a:rPr sz="1350" b="1" spc="-30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width,</a:t>
            </a:r>
            <a:r>
              <a:rPr sz="1350" b="1" spc="-35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int</a:t>
            </a:r>
            <a:r>
              <a:rPr sz="1350" b="1" spc="-30">
                <a:latin typeface="Arial"/>
                <a:cs typeface="Arial"/>
              </a:rPr>
              <a:t> </a:t>
            </a:r>
            <a:r>
              <a:rPr sz="1350" b="1" spc="-10">
                <a:latin typeface="Arial"/>
                <a:cs typeface="Arial"/>
              </a:rPr>
              <a:t>height)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516962"/>
            <a:ext cx="451484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495550" y="661987"/>
            <a:ext cx="4152899" cy="381952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620185"/>
            <a:ext cx="6003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>
                <a:solidFill>
                  <a:srgbClr val="2A3890"/>
                </a:solidFill>
                <a:latin typeface="Roboto"/>
                <a:cs typeface="Roboto"/>
              </a:rPr>
              <a:t>Cartoon</a:t>
            </a:r>
            <a:r>
              <a:rPr sz="3000" spc="-14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20">
                <a:solidFill>
                  <a:srgbClr val="2A3890"/>
                </a:solidFill>
                <a:latin typeface="Roboto"/>
                <a:cs typeface="Roboto"/>
              </a:rPr>
              <a:t>Character</a:t>
            </a:r>
            <a:r>
              <a:rPr sz="3000" spc="-14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3000" spc="-13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Moving</a:t>
            </a:r>
            <a:r>
              <a:rPr sz="3000" spc="-13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Hands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57179"/>
            <a:ext cx="487235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31820">
              <a:lnSpc>
                <a:spcPct val="116700"/>
              </a:lnSpc>
              <a:spcBef>
                <a:spcPts val="100"/>
              </a:spcBef>
            </a:pPr>
            <a:r>
              <a:rPr sz="1500" b="1">
                <a:latin typeface="Times New Roman"/>
                <a:cs typeface="Times New Roman"/>
              </a:rPr>
              <a:t>import </a:t>
            </a:r>
            <a:r>
              <a:rPr sz="1500" b="1" spc="-10">
                <a:latin typeface="Times New Roman"/>
                <a:cs typeface="Times New Roman"/>
              </a:rPr>
              <a:t>java.applet.*; </a:t>
            </a:r>
            <a:r>
              <a:rPr sz="1500" b="1">
                <a:latin typeface="Times New Roman"/>
                <a:cs typeface="Times New Roman"/>
              </a:rPr>
              <a:t>import </a:t>
            </a:r>
            <a:r>
              <a:rPr sz="1500" b="1" spc="-10">
                <a:latin typeface="Times New Roman"/>
                <a:cs typeface="Times New Roman"/>
              </a:rPr>
              <a:t>java.awt.*;</a:t>
            </a:r>
            <a:endParaRPr sz="15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300"/>
              </a:spcBef>
            </a:pPr>
            <a:r>
              <a:rPr sz="1500" b="1" spc="-25">
                <a:latin typeface="Times New Roman"/>
                <a:cs typeface="Times New Roman"/>
              </a:rPr>
              <a:t>/*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>
                <a:latin typeface="Times New Roman"/>
                <a:cs typeface="Times New Roman"/>
              </a:rPr>
              <a:t>&lt;applet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code="Cartoon.class"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width="500"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height="700"&gt;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10">
                <a:latin typeface="Times New Roman"/>
                <a:cs typeface="Times New Roman"/>
              </a:rPr>
              <a:t>&lt;/applet&gt;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25">
                <a:latin typeface="Times New Roman"/>
                <a:cs typeface="Times New Roman"/>
              </a:rPr>
              <a:t>*/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>
                <a:latin typeface="Times New Roman"/>
                <a:cs typeface="Times New Roman"/>
              </a:rPr>
              <a:t>public</a:t>
            </a:r>
            <a:r>
              <a:rPr sz="1500" b="1" spc="-3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class</a:t>
            </a:r>
            <a:r>
              <a:rPr sz="1500" b="1" spc="-20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Cartoon</a:t>
            </a:r>
            <a:r>
              <a:rPr sz="1500" b="1" spc="340">
                <a:latin typeface="Times New Roman"/>
                <a:cs typeface="Times New Roman"/>
              </a:rPr>
              <a:t> </a:t>
            </a:r>
            <a:r>
              <a:rPr sz="1500" b="1" spc="-20">
                <a:latin typeface="Times New Roman"/>
                <a:cs typeface="Times New Roman"/>
              </a:rPr>
              <a:t>extends</a:t>
            </a:r>
            <a:r>
              <a:rPr sz="1500" b="1" spc="-8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Applet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469900" marR="3040380">
              <a:lnSpc>
                <a:spcPct val="116700"/>
              </a:lnSpc>
            </a:pPr>
            <a:r>
              <a:rPr sz="1500" b="1">
                <a:latin typeface="Times New Roman"/>
                <a:cs typeface="Times New Roman"/>
              </a:rPr>
              <a:t>int y =</a:t>
            </a:r>
            <a:r>
              <a:rPr sz="1500" b="1" spc="-5">
                <a:latin typeface="Times New Roman"/>
                <a:cs typeface="Times New Roman"/>
              </a:rPr>
              <a:t> </a:t>
            </a:r>
            <a:r>
              <a:rPr sz="1500" b="1" spc="-20">
                <a:latin typeface="Times New Roman"/>
                <a:cs typeface="Times New Roman"/>
              </a:rPr>
              <a:t>200; </a:t>
            </a:r>
            <a:r>
              <a:rPr sz="1500" b="1">
                <a:latin typeface="Times New Roman"/>
                <a:cs typeface="Times New Roman"/>
              </a:rPr>
              <a:t>public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>
                <a:latin typeface="Times New Roman"/>
                <a:cs typeface="Times New Roman"/>
              </a:rPr>
              <a:t>void</a:t>
            </a:r>
            <a:r>
              <a:rPr sz="1500" b="1" spc="-25">
                <a:latin typeface="Times New Roman"/>
                <a:cs typeface="Times New Roman"/>
              </a:rPr>
              <a:t> </a:t>
            </a:r>
            <a:r>
              <a:rPr sz="1500" b="1" spc="-10">
                <a:latin typeface="Times New Roman"/>
                <a:cs typeface="Times New Roman"/>
              </a:rPr>
              <a:t>init()</a:t>
            </a: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1500" b="1" spc="-5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300"/>
              </a:spcBef>
            </a:pPr>
            <a:r>
              <a:rPr sz="1500" b="1" spc="-10">
                <a:latin typeface="Times New Roman"/>
                <a:cs typeface="Times New Roman"/>
              </a:rPr>
              <a:t>setBackground(Color.YELLOW);</a:t>
            </a: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500" b="1" spc="-5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559525" y="368898"/>
            <a:ext cx="2407920" cy="45974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370"/>
              </a:spcBef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void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stop()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27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615950" marR="1202055" indent="-247650">
              <a:lnSpc>
                <a:spcPct val="116100"/>
              </a:lnSpc>
            </a:pPr>
            <a:r>
              <a:rPr sz="1400" b="1">
                <a:latin typeface="Times New Roman"/>
                <a:cs typeface="Times New Roman"/>
              </a:rPr>
              <a:t>if </a:t>
            </a:r>
            <a:r>
              <a:rPr sz="1400" b="1" spc="-10">
                <a:latin typeface="Times New Roman"/>
                <a:cs typeface="Times New Roman"/>
              </a:rPr>
              <a:t>(y==200) </a:t>
            </a:r>
            <a:r>
              <a:rPr sz="1400" b="1">
                <a:latin typeface="Times New Roman"/>
                <a:cs typeface="Times New Roman"/>
              </a:rPr>
              <a:t>y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50;</a:t>
            </a:r>
            <a:endParaRPr sz="1400">
              <a:latin typeface="Times New Roman"/>
              <a:cs typeface="Times New Roman"/>
            </a:endParaRPr>
          </a:p>
          <a:p>
            <a:pPr marL="336550">
              <a:lnSpc>
                <a:spcPct val="100000"/>
              </a:lnSpc>
              <a:spcBef>
                <a:spcPts val="270"/>
              </a:spcBef>
            </a:pPr>
            <a:r>
              <a:rPr sz="1400" b="1" spc="-20">
                <a:latin typeface="Times New Roman"/>
                <a:cs typeface="Times New Roman"/>
              </a:rPr>
              <a:t>else</a:t>
            </a:r>
            <a:endParaRPr sz="14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270"/>
              </a:spcBef>
            </a:pPr>
            <a:r>
              <a:rPr sz="1400" b="1">
                <a:latin typeface="Times New Roman"/>
                <a:cs typeface="Times New Roman"/>
              </a:rPr>
              <a:t>y</a:t>
            </a:r>
            <a:r>
              <a:rPr sz="1400" b="1" spc="-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=</a:t>
            </a:r>
            <a:r>
              <a:rPr sz="1400" b="1" spc="-10">
                <a:latin typeface="Times New Roman"/>
                <a:cs typeface="Times New Roman"/>
              </a:rPr>
              <a:t> </a:t>
            </a:r>
            <a:r>
              <a:rPr sz="1400" b="1" spc="-20">
                <a:latin typeface="Times New Roman"/>
                <a:cs typeface="Times New Roman"/>
              </a:rPr>
              <a:t>200;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270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1400" b="1">
                <a:latin typeface="Times New Roman"/>
                <a:cs typeface="Times New Roman"/>
              </a:rPr>
              <a:t>public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void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paint(Graphics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 spc="-25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57150" marR="160020" indent="101600">
              <a:lnSpc>
                <a:spcPct val="116100"/>
              </a:lnSpc>
            </a:pPr>
            <a:r>
              <a:rPr sz="1400" b="1" spc="-50">
                <a:latin typeface="Times New Roman"/>
                <a:cs typeface="Times New Roman"/>
              </a:rPr>
              <a:t>{ </a:t>
            </a:r>
            <a:r>
              <a:rPr sz="1400" b="1" spc="-10">
                <a:latin typeface="Times New Roman"/>
                <a:cs typeface="Times New Roman"/>
              </a:rPr>
              <a:t>g.drawOval(200,50,100,100);</a:t>
            </a:r>
            <a:endParaRPr sz="1400">
              <a:latin typeface="Times New Roman"/>
              <a:cs typeface="Times New Roman"/>
            </a:endParaRPr>
          </a:p>
          <a:p>
            <a:pPr marL="12700" marR="90805" indent="44450">
              <a:lnSpc>
                <a:spcPct val="116100"/>
              </a:lnSpc>
            </a:pPr>
            <a:r>
              <a:rPr sz="1400" b="1" spc="-10">
                <a:latin typeface="Times New Roman"/>
                <a:cs typeface="Times New Roman"/>
              </a:rPr>
              <a:t>g.drawRect(50,150,400,50); g.drawRect(50,y,50,100); g.drawRect(400,y,50,100); g.drawRect(150,200,200,300); g.drawRect(150,500,50,100); g.drawRect(300,500,50,100);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165"/>
              </a:spcBef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767012" y="547687"/>
            <a:ext cx="3609974" cy="404812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Analog</a:t>
            </a:r>
            <a:r>
              <a:rPr spc="-25"/>
              <a:t> </a:t>
            </a:r>
            <a:r>
              <a:rPr/>
              <a:t>clock</a:t>
            </a:r>
            <a:r>
              <a:rPr spc="-20"/>
              <a:t> </a:t>
            </a:r>
            <a:r>
              <a:rPr/>
              <a:t>in</a:t>
            </a:r>
            <a:r>
              <a:rPr spc="-140"/>
              <a:t> </a:t>
            </a:r>
            <a:r>
              <a:rPr spc="-10"/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442785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 marL="12700" marR="3071495" algn="just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java.awt.*;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java.util.*;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java.text.*;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MyClock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Applet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Runnable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12700" marR="3030220" indent="18732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width,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height; </a:t>
            </a:r>
            <a:r>
              <a:rPr sz="1050">
                <a:latin typeface="Verdana"/>
                <a:cs typeface="Verdana"/>
              </a:rPr>
              <a:t>Thread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 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050" spc="-2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boolean</a:t>
            </a:r>
            <a:r>
              <a:rPr sz="1050" b="1" spc="-7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threadSuspended;</a:t>
            </a:r>
            <a:endParaRPr sz="1050">
              <a:latin typeface="Verdana"/>
              <a:cs typeface="Verdana"/>
            </a:endParaRPr>
          </a:p>
          <a:p>
            <a:pPr marL="153035" marR="1736089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hours=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minutes=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>
                <a:latin typeface="Verdana"/>
                <a:cs typeface="Verdana"/>
              </a:rPr>
              <a:t>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seconds=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>
                <a:latin typeface="Verdana"/>
                <a:cs typeface="Verdana"/>
              </a:rPr>
              <a:t>; </a:t>
            </a:r>
            <a:r>
              <a:rPr sz="1050">
                <a:latin typeface="Verdana"/>
                <a:cs typeface="Verdana"/>
              </a:rPr>
              <a:t>String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timeString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 </a:t>
            </a:r>
            <a:r>
              <a:rPr sz="1050" spc="-25">
                <a:solidFill>
                  <a:srgbClr val="0000FF"/>
                </a:solidFill>
                <a:latin typeface="Verdana"/>
                <a:cs typeface="Verdana"/>
              </a:rPr>
              <a:t>""</a:t>
            </a:r>
            <a:r>
              <a:rPr sz="1050" spc="-25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31605" y="1335666"/>
            <a:ext cx="2971800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init()</a:t>
            </a:r>
            <a:r>
              <a:rPr sz="1050" spc="-5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 marL="246379" marR="951230">
              <a:lnSpc>
                <a:spcPct val="202400"/>
              </a:lnSpc>
            </a:pPr>
            <a:r>
              <a:rPr sz="1050">
                <a:latin typeface="Verdana"/>
                <a:cs typeface="Verdana"/>
              </a:rPr>
              <a:t>width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getSize().width; </a:t>
            </a:r>
            <a:r>
              <a:rPr sz="1050">
                <a:latin typeface="Verdana"/>
                <a:cs typeface="Verdana"/>
              </a:rPr>
              <a:t>height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10">
                <a:latin typeface="Verdana"/>
                <a:cs typeface="Verdana"/>
              </a:rPr>
              <a:t> getSize().height;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6379">
              <a:lnSpc>
                <a:spcPct val="100000"/>
              </a:lnSpc>
              <a:tabLst>
                <a:tab pos="2399665"/>
              </a:tabLst>
            </a:pPr>
            <a:r>
              <a:rPr sz="1050">
                <a:latin typeface="Verdana"/>
                <a:cs typeface="Verdana"/>
              </a:rPr>
              <a:t>setBackground(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Color.black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start()</a:t>
            </a:r>
            <a:r>
              <a:rPr sz="1050" spc="-5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==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null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t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Thread(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386715" marR="5080">
              <a:lnSpc>
                <a:spcPct val="202400"/>
              </a:lnSpc>
            </a:pPr>
            <a:r>
              <a:rPr sz="1050" spc="-10">
                <a:latin typeface="Verdana"/>
                <a:cs typeface="Verdana"/>
              </a:rPr>
              <a:t>t.setPriority(</a:t>
            </a:r>
            <a:r>
              <a:rPr sz="1050" spc="4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Thread.MIN_PRIORITY</a:t>
            </a:r>
            <a:r>
              <a:rPr sz="1050" spc="5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false</a:t>
            </a:r>
            <a:r>
              <a:rPr sz="1050" spc="-1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  <a:spcBef>
                <a:spcPts val="5"/>
              </a:spcBef>
            </a:pPr>
            <a:r>
              <a:rPr sz="1050" spc="-10">
                <a:latin typeface="Verdana"/>
                <a:cs typeface="Verdana"/>
              </a:rPr>
              <a:t>t.start();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6379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238442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else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574040" marR="5080" indent="-14033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false</a:t>
            </a:r>
            <a:r>
              <a:rPr sz="1050" spc="-10">
                <a:latin typeface="Verdana"/>
                <a:cs typeface="Verdana"/>
              </a:rPr>
              <a:t>;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50" spc="-10">
                <a:latin typeface="Verdana"/>
                <a:cs typeface="Verdana"/>
              </a:rPr>
              <a:t>(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714375">
              <a:lnSpc>
                <a:spcPct val="100000"/>
              </a:lnSpc>
              <a:tabLst>
                <a:tab pos="1416685"/>
              </a:tabLst>
            </a:pPr>
            <a:r>
              <a:rPr sz="1050" spc="-10">
                <a:latin typeface="Verdana"/>
                <a:cs typeface="Verdana"/>
              </a:rPr>
              <a:t>notify();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433705">
              <a:lnSpc>
                <a:spcPct val="100000"/>
              </a:lnSpc>
              <a:tabLst>
                <a:tab pos="658495"/>
                <a:tab pos="883285"/>
              </a:tabLst>
            </a:pPr>
            <a:r>
              <a:rPr sz="1050" spc="-50">
                <a:latin typeface="Verdana"/>
                <a:cs typeface="Verdana"/>
              </a:rPr>
              <a:t>}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 marL="293370" marR="334010" indent="-28130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stop()</a:t>
            </a:r>
            <a:r>
              <a:rPr sz="1050" spc="-50">
                <a:latin typeface="Verdana"/>
                <a:cs typeface="Verdana"/>
              </a:rPr>
              <a:t> {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050" spc="-1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run()</a:t>
            </a:r>
            <a:r>
              <a:rPr sz="1050" spc="-4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31530" y="1335666"/>
            <a:ext cx="4916170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latin typeface="Verdana"/>
                <a:cs typeface="Verdana"/>
              </a:rPr>
              <a:t>Calendar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cal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Calendar.getInstance();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hours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 cal.get(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Calendar.HOUR_OF_DAY</a:t>
            </a:r>
            <a:r>
              <a:rPr sz="105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832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hours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&gt;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 spc="-1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hours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-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 spc="-25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 spc="-25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 marL="527050" marR="1700530">
              <a:lnSpc>
                <a:spcPct val="202400"/>
              </a:lnSpc>
            </a:pPr>
            <a:r>
              <a:rPr sz="1050">
                <a:latin typeface="Verdana"/>
                <a:cs typeface="Verdana"/>
              </a:rPr>
              <a:t>minutes</a:t>
            </a:r>
            <a:r>
              <a:rPr sz="1050" spc="-6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5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cal.get(</a:t>
            </a:r>
            <a:r>
              <a:rPr sz="1050" spc="-5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Calendar.MINUTE</a:t>
            </a:r>
            <a:r>
              <a:rPr sz="1050" spc="-5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seconds</a:t>
            </a:r>
            <a:r>
              <a:rPr sz="1050" spc="-5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5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cal.get(</a:t>
            </a:r>
            <a:r>
              <a:rPr sz="1050" spc="-5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Calendar.SECOND</a:t>
            </a:r>
            <a:r>
              <a:rPr sz="1050" spc="-5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SimpleDateFormat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formatter</a:t>
            </a:r>
            <a:endParaRPr sz="1050">
              <a:latin typeface="Verdana"/>
              <a:cs typeface="Verdana"/>
            </a:endParaRPr>
          </a:p>
          <a:p>
            <a:pPr marL="527050" marR="5080" indent="140335">
              <a:lnSpc>
                <a:spcPct val="202400"/>
              </a:lnSpc>
            </a:pPr>
            <a:r>
              <a:rPr sz="1050">
                <a:latin typeface="Verdana"/>
                <a:cs typeface="Verdana"/>
              </a:rPr>
              <a:t>=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SimpleDateFormat(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"hh:mm:ss"</a:t>
            </a:r>
            <a:r>
              <a:rPr sz="1050" spc="-10">
                <a:latin typeface="Verdana"/>
                <a:cs typeface="Verdana"/>
              </a:rPr>
              <a:t>, Locale.getDefault()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Date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date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cal.getTime();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timeString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10">
                <a:latin typeface="Verdana"/>
                <a:cs typeface="Verdana"/>
              </a:rPr>
              <a:t> formatter.format(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date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31605" y="1335666"/>
            <a:ext cx="4027804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Now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thread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checks</a:t>
            </a:r>
            <a:r>
              <a:rPr sz="105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see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if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it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should</a:t>
            </a:r>
            <a:r>
              <a:rPr sz="1050" spc="-1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suspend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spc="-10">
                <a:solidFill>
                  <a:srgbClr val="008200"/>
                </a:solidFill>
                <a:latin typeface="Verdana"/>
                <a:cs typeface="Verdana"/>
              </a:rPr>
              <a:t>itself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832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668655">
              <a:lnSpc>
                <a:spcPct val="100000"/>
              </a:lnSpc>
            </a:pP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50" spc="-10">
                <a:latin typeface="Verdana"/>
                <a:cs typeface="Verdana"/>
              </a:rPr>
              <a:t>(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948690" marR="1237615" indent="-13906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while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threadSuspended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 </a:t>
            </a:r>
            <a:r>
              <a:rPr sz="1050" spc="-10">
                <a:latin typeface="Verdana"/>
                <a:cs typeface="Verdana"/>
              </a:rPr>
              <a:t>wait();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807720">
              <a:lnSpc>
                <a:spcPct val="100000"/>
              </a:lnSpc>
              <a:tabLst>
                <a:tab pos="1173480"/>
                <a:tab pos="1398270"/>
              </a:tabLst>
            </a:pPr>
            <a:r>
              <a:rPr sz="1050" spc="-50">
                <a:latin typeface="Verdana"/>
                <a:cs typeface="Verdana"/>
              </a:rPr>
              <a:t>}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repaint();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  <a:spcBef>
                <a:spcPts val="5"/>
              </a:spcBef>
            </a:pPr>
            <a:r>
              <a:rPr sz="1050">
                <a:latin typeface="Verdana"/>
                <a:cs typeface="Verdana"/>
              </a:rPr>
              <a:t>t.sleep(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1000</a:t>
            </a:r>
            <a:r>
              <a:rPr sz="1050" spc="-2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);</a:t>
            </a:r>
            <a:r>
              <a:rPr sz="1050" spc="335"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5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interval</a:t>
            </a:r>
            <a:r>
              <a:rPr sz="1050" spc="-2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specified</a:t>
            </a:r>
            <a:r>
              <a:rPr sz="105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>
                <a:solidFill>
                  <a:srgbClr val="008200"/>
                </a:solidFill>
                <a:latin typeface="Verdana"/>
                <a:cs typeface="Verdana"/>
              </a:rPr>
              <a:t>in</a:t>
            </a:r>
            <a:r>
              <a:rPr sz="1050" spc="-25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spc="-10">
                <a:solidFill>
                  <a:srgbClr val="008200"/>
                </a:solidFill>
                <a:latin typeface="Verdana"/>
                <a:cs typeface="Verdana"/>
              </a:rPr>
              <a:t>milliseconds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  <a:tabLst>
                <a:tab pos="658495"/>
              </a:tabLst>
            </a:pPr>
            <a:r>
              <a:rPr sz="1050" spc="-50">
                <a:latin typeface="Verdana"/>
                <a:cs typeface="Verdana"/>
              </a:rPr>
              <a:t>}</a:t>
            </a:r>
            <a:r>
              <a:rPr sz="1050">
                <a:latin typeface="Verdana"/>
                <a:cs typeface="Verdana"/>
              </a:rPr>
              <a:t>	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(Exception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e)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{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432117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drawHand(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double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angle,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radius,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Graphics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angle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-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0.5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*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Math.PI;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 </a:t>
            </a:r>
            <a:r>
              <a:rPr sz="1050" spc="-10">
                <a:latin typeface="Verdana"/>
                <a:cs typeface="Verdana"/>
              </a:rPr>
              <a:t>radius*Math.cos(angle)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 </a:t>
            </a:r>
            <a:r>
              <a:rPr sz="1050" spc="-10">
                <a:latin typeface="Verdana"/>
                <a:cs typeface="Verdana"/>
              </a:rPr>
              <a:t>radius*Math.sin(angle)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g.drawLine(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</a:t>
            </a:r>
            <a:r>
              <a:rPr sz="1050" spc="-25">
                <a:latin typeface="Verdana"/>
                <a:cs typeface="Verdana"/>
              </a:rPr>
              <a:t> 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  <a:spcBef>
                <a:spcPts val="5"/>
              </a:spcBef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 marL="293370" marR="325120" indent="-28130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drawWedge(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double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angle,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radius,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Graphics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 </a:t>
            </a:r>
            <a:r>
              <a:rPr sz="1050">
                <a:latin typeface="Verdana"/>
                <a:cs typeface="Verdana"/>
              </a:rPr>
              <a:t>angle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-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0.5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*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Math.PI;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 </a:t>
            </a:r>
            <a:r>
              <a:rPr sz="1050" spc="-10">
                <a:latin typeface="Verdana"/>
                <a:cs typeface="Verdana"/>
              </a:rPr>
              <a:t>radius*Math.cos(angle)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 </a:t>
            </a:r>
            <a:r>
              <a:rPr sz="1050" spc="-10">
                <a:latin typeface="Verdana"/>
                <a:cs typeface="Verdana"/>
              </a:rPr>
              <a:t>radius*Math.sin(angle)</a:t>
            </a:r>
            <a:r>
              <a:rPr sz="1050" spc="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431530" y="1335666"/>
            <a:ext cx="498919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latin typeface="Verdana"/>
                <a:cs typeface="Verdana"/>
              </a:rPr>
              <a:t>angle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+=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10">
                <a:latin typeface="Verdana"/>
                <a:cs typeface="Verdana"/>
              </a:rPr>
              <a:t>*Math.PI/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 spc="-1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 marL="246379" marR="2269490" algn="just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x2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>
                <a:latin typeface="Verdana"/>
                <a:cs typeface="Verdana"/>
              </a:rPr>
              <a:t>*Math.cos(angle)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y2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>
                <a:latin typeface="Verdana"/>
                <a:cs typeface="Verdana"/>
              </a:rPr>
              <a:t>*Math.sin(angle)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angle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+=</a:t>
            </a:r>
            <a:r>
              <a:rPr sz="1050" spc="-15">
                <a:latin typeface="Verdana"/>
                <a:cs typeface="Verdana"/>
              </a:rPr>
              <a:t> 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10">
                <a:latin typeface="Verdana"/>
                <a:cs typeface="Verdana"/>
              </a:rPr>
              <a:t>*Math.PI/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 spc="-1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7015" algn="just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x3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>
                <a:latin typeface="Verdana"/>
                <a:cs typeface="Verdana"/>
              </a:rPr>
              <a:t>*Math.cos(angle)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 algn="just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y3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=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(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>
                <a:latin typeface="Verdana"/>
                <a:cs typeface="Verdana"/>
              </a:rPr>
              <a:t>)(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>
                <a:latin typeface="Verdana"/>
                <a:cs typeface="Verdana"/>
              </a:rPr>
              <a:t>*Math.sin(angle)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246379" marR="5080">
              <a:lnSpc>
                <a:spcPct val="202400"/>
              </a:lnSpc>
            </a:pPr>
            <a:r>
              <a:rPr sz="1050">
                <a:latin typeface="Verdana"/>
                <a:cs typeface="Verdana"/>
              </a:rPr>
              <a:t>g.drawLine(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+x2,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+y2,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g.drawLine(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+x3,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+y3,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g.drawLine(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+x2,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+y2,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4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x3,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height/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+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y3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3876040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5595" algn="ctr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1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paint(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Graphics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)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spc="-5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R="1629410" algn="ctr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g.setColor(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Color.gray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293370" marR="5080">
              <a:lnSpc>
                <a:spcPct val="202400"/>
              </a:lnSpc>
            </a:pPr>
            <a:r>
              <a:rPr sz="1050">
                <a:latin typeface="Verdana"/>
                <a:cs typeface="Verdana"/>
              </a:rPr>
              <a:t>drawWedge(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*Math.PI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*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hours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/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>
                <a:latin typeface="Verdana"/>
                <a:cs typeface="Verdana"/>
              </a:rPr>
              <a:t>drawWedge(</a:t>
            </a:r>
            <a:r>
              <a:rPr sz="1050" spc="-2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*Math.PI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*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minutes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/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25">
                <a:latin typeface="Verdana"/>
                <a:cs typeface="Verdana"/>
              </a:rPr>
              <a:t> ); </a:t>
            </a:r>
            <a:r>
              <a:rPr sz="1050">
                <a:latin typeface="Verdana"/>
                <a:cs typeface="Verdana"/>
              </a:rPr>
              <a:t>drawHand(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*Math.PI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*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seconds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/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width/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g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 </a:t>
            </a:r>
            <a:r>
              <a:rPr sz="1050" spc="-10">
                <a:latin typeface="Verdana"/>
                <a:cs typeface="Verdana"/>
              </a:rPr>
              <a:t>g.setColor(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Color.white</a:t>
            </a:r>
            <a:r>
              <a:rPr sz="1050" spc="-5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g.drawString(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timeString,</a:t>
            </a:r>
            <a:r>
              <a:rPr sz="1050" spc="-10">
                <a:latin typeface="Verdana"/>
                <a:cs typeface="Verdana"/>
              </a:rPr>
              <a:t> 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050">
                <a:latin typeface="Verdana"/>
                <a:cs typeface="Verdana"/>
              </a:rPr>
              <a:t>,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height-</a:t>
            </a:r>
            <a:r>
              <a:rPr sz="105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050" spc="-2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4025900" cy="180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>
                <a:latin typeface="Verdana"/>
                <a:cs typeface="Verdana"/>
              </a:rPr>
              <a:t>&lt;html&gt;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>
                <a:latin typeface="Verdana"/>
                <a:cs typeface="Verdana"/>
              </a:rPr>
              <a:t>&lt;applet</a:t>
            </a:r>
            <a:r>
              <a:rPr sz="1050" spc="-25"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code=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"MyClock.class"</a:t>
            </a:r>
            <a:r>
              <a:rPr sz="1050" spc="-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width=</a:t>
            </a:r>
            <a:r>
              <a:rPr sz="105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2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height=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0">
                <a:latin typeface="Verdana"/>
                <a:cs typeface="Verdana"/>
              </a:rPr>
              <a:t>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&lt;/applet&gt;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>
                <a:latin typeface="Verdana"/>
                <a:cs typeface="Verdana"/>
              </a:rPr>
              <a:t>&lt;/body&gt;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>
                <a:latin typeface="Verdana"/>
                <a:cs typeface="Verdana"/>
              </a:rPr>
              <a:t>&lt;/html&gt;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Applet</a:t>
            </a:r>
            <a:r>
              <a:rPr spc="-30"/>
              <a:t> </a:t>
            </a:r>
            <a:r>
              <a:rPr spc="-1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00181"/>
            <a:ext cx="8182609" cy="746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10"/>
              </a:spcBef>
            </a:pPr>
            <a:r>
              <a:rPr sz="1350" spc="-10">
                <a:latin typeface="Verdana"/>
                <a:cs typeface="Verdana"/>
              </a:rPr>
              <a:t>java.applet.AppletContext</a:t>
            </a:r>
            <a:r>
              <a:rPr sz="1350" spc="-4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class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provides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the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facility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of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 spc="-10">
                <a:latin typeface="Verdana"/>
                <a:cs typeface="Verdana"/>
              </a:rPr>
              <a:t>communication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between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applets.</a:t>
            </a:r>
            <a:r>
              <a:rPr sz="1350" spc="-40">
                <a:latin typeface="Verdana"/>
                <a:cs typeface="Verdana"/>
              </a:rPr>
              <a:t> </a:t>
            </a:r>
            <a:r>
              <a:rPr sz="1350" spc="-25">
                <a:latin typeface="Verdana"/>
                <a:cs typeface="Verdana"/>
              </a:rPr>
              <a:t>We </a:t>
            </a:r>
            <a:r>
              <a:rPr sz="1350">
                <a:latin typeface="Verdana"/>
                <a:cs typeface="Verdana"/>
              </a:rPr>
              <a:t>provide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the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name</a:t>
            </a:r>
            <a:r>
              <a:rPr sz="1350" spc="-3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of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applet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through</a:t>
            </a:r>
            <a:r>
              <a:rPr sz="1350" spc="-3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the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HTML</a:t>
            </a:r>
            <a:r>
              <a:rPr sz="1350" spc="-3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file.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It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provides</a:t>
            </a:r>
            <a:r>
              <a:rPr sz="1350" spc="-3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getApplet()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method</a:t>
            </a:r>
            <a:r>
              <a:rPr sz="1350" spc="-30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that</a:t>
            </a:r>
            <a:r>
              <a:rPr sz="1350" spc="-35">
                <a:latin typeface="Verdana"/>
                <a:cs typeface="Verdana"/>
              </a:rPr>
              <a:t> </a:t>
            </a:r>
            <a:r>
              <a:rPr sz="1350" spc="-10">
                <a:latin typeface="Verdana"/>
                <a:cs typeface="Verdana"/>
              </a:rPr>
              <a:t>returns </a:t>
            </a:r>
            <a:r>
              <a:rPr sz="1350">
                <a:latin typeface="Verdana"/>
                <a:cs typeface="Verdana"/>
              </a:rPr>
              <a:t>the</a:t>
            </a:r>
            <a:r>
              <a:rPr sz="1350" spc="-2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object</a:t>
            </a:r>
            <a:r>
              <a:rPr sz="1350" spc="-25"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of</a:t>
            </a:r>
            <a:r>
              <a:rPr sz="1350" spc="-20">
                <a:latin typeface="Verdana"/>
                <a:cs typeface="Verdana"/>
              </a:rPr>
              <a:t> </a:t>
            </a:r>
            <a:r>
              <a:rPr sz="1350" spc="-10">
                <a:latin typeface="Verdana"/>
                <a:cs typeface="Verdana"/>
              </a:rPr>
              <a:t>Applet.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677167"/>
            <a:ext cx="398780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>
                <a:latin typeface="Verdana"/>
                <a:cs typeface="Verdana"/>
              </a:rPr>
              <a:t>Syntax:</a:t>
            </a:r>
            <a:endParaRPr sz="1350">
              <a:latin typeface="Verdana"/>
              <a:cs typeface="Verdana"/>
            </a:endParaRPr>
          </a:p>
          <a:p>
            <a:pPr marL="69850">
              <a:lnSpc>
                <a:spcPct val="100000"/>
              </a:lnSpc>
              <a:spcBef>
                <a:spcPts val="1380"/>
              </a:spcBef>
              <a:tabLst>
                <a:tab pos="469265"/>
              </a:tabLst>
            </a:pPr>
            <a:r>
              <a:rPr sz="1350" spc="-25">
                <a:latin typeface="Verdana"/>
                <a:cs typeface="Verdana"/>
              </a:rPr>
              <a:t>1.</a:t>
            </a:r>
            <a:r>
              <a:rPr sz="1350">
                <a:latin typeface="Verdana"/>
                <a:cs typeface="Verdana"/>
              </a:rPr>
              <a:t>	</a:t>
            </a:r>
            <a:r>
              <a:rPr sz="13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5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50">
                <a:latin typeface="Verdana"/>
                <a:cs typeface="Verdana"/>
              </a:rPr>
              <a:t>Applet</a:t>
            </a:r>
            <a:r>
              <a:rPr sz="1350" spc="-60">
                <a:latin typeface="Verdana"/>
                <a:cs typeface="Verdana"/>
              </a:rPr>
              <a:t> </a:t>
            </a:r>
            <a:r>
              <a:rPr sz="1350" spc="-10">
                <a:latin typeface="Verdana"/>
                <a:cs typeface="Verdana"/>
              </a:rPr>
              <a:t>getApplet(String</a:t>
            </a:r>
            <a:r>
              <a:rPr sz="1350" spc="-60">
                <a:latin typeface="Verdana"/>
                <a:cs typeface="Verdana"/>
              </a:rPr>
              <a:t> </a:t>
            </a:r>
            <a:r>
              <a:rPr sz="1350" spc="-10">
                <a:latin typeface="Verdana"/>
                <a:cs typeface="Verdana"/>
              </a:rPr>
              <a:t>name){}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Write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a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20">
                <a:solidFill>
                  <a:srgbClr val="2A3890"/>
                </a:solidFill>
                <a:latin typeface="Roboto"/>
                <a:cs typeface="Roboto"/>
              </a:rPr>
              <a:t>program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to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10">
                <a:solidFill>
                  <a:srgbClr val="2A3890"/>
                </a:solidFill>
                <a:latin typeface="Roboto"/>
                <a:cs typeface="Roboto"/>
              </a:rPr>
              <a:t>generate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a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20">
                <a:solidFill>
                  <a:srgbClr val="2A3890"/>
                </a:solidFill>
                <a:latin typeface="Roboto"/>
                <a:cs typeface="Roboto"/>
              </a:rPr>
              <a:t>Bouncing</a:t>
            </a:r>
            <a:r>
              <a:rPr sz="2800" spc="-8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Ball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>
                <a:solidFill>
                  <a:srgbClr val="2A3890"/>
                </a:solidFill>
                <a:latin typeface="Roboto"/>
                <a:cs typeface="Roboto"/>
              </a:rPr>
              <a:t>on</a:t>
            </a:r>
            <a:r>
              <a:rPr sz="2800" spc="-8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10">
                <a:solidFill>
                  <a:srgbClr val="2A3890"/>
                </a:solidFill>
                <a:latin typeface="Roboto"/>
                <a:cs typeface="Roboto"/>
              </a:rPr>
              <a:t>Click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5006975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java.awt.*;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java.awt.event.*;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ContextApplet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2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>
                <a:latin typeface="Verdana"/>
                <a:cs typeface="Verdana"/>
              </a:rPr>
              <a:t>Applet</a:t>
            </a:r>
            <a:r>
              <a:rPr sz="1050" spc="-35">
                <a:latin typeface="Verdana"/>
                <a:cs typeface="Verdana"/>
              </a:rPr>
              <a:t> 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0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ActionListener{ </a:t>
            </a:r>
            <a:r>
              <a:rPr sz="1050">
                <a:latin typeface="Verdana"/>
                <a:cs typeface="Verdana"/>
              </a:rPr>
              <a:t>Button</a:t>
            </a:r>
            <a:r>
              <a:rPr sz="1050" spc="-30">
                <a:latin typeface="Verdana"/>
                <a:cs typeface="Verdana"/>
              </a:rPr>
              <a:t> </a:t>
            </a:r>
            <a:r>
              <a:rPr sz="1050" spc="-25">
                <a:latin typeface="Verdana"/>
                <a:cs typeface="Verdana"/>
              </a:rPr>
              <a:t>b;</a:t>
            </a:r>
            <a:endParaRPr sz="1050">
              <a:latin typeface="Verdana"/>
              <a:cs typeface="Verdana"/>
            </a:endParaRPr>
          </a:p>
          <a:p>
            <a:pPr marL="12700" marR="3154045" indent="93345">
              <a:lnSpc>
                <a:spcPct val="202400"/>
              </a:lnSpc>
            </a:pP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init(){ </a:t>
            </a:r>
            <a:r>
              <a:rPr sz="1050">
                <a:latin typeface="Verdana"/>
                <a:cs typeface="Verdana"/>
              </a:rPr>
              <a:t>b=</a:t>
            </a:r>
            <a:r>
              <a:rPr sz="10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>
                <a:latin typeface="Verdana"/>
                <a:cs typeface="Verdana"/>
              </a:rPr>
              <a:t>Button(</a:t>
            </a:r>
            <a:r>
              <a:rPr sz="1050" spc="-10">
                <a:solidFill>
                  <a:srgbClr val="0000FF"/>
                </a:solidFill>
                <a:latin typeface="Verdana"/>
                <a:cs typeface="Verdana"/>
              </a:rPr>
              <a:t>"Click"</a:t>
            </a:r>
            <a:r>
              <a:rPr sz="1050" spc="-10">
                <a:latin typeface="Verdana"/>
                <a:cs typeface="Verdana"/>
              </a:rPr>
              <a:t>); b.setBounds(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>
                <a:latin typeface="Verdana"/>
                <a:cs typeface="Verdana"/>
              </a:rPr>
              <a:t>,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>
                <a:latin typeface="Verdana"/>
                <a:cs typeface="Verdana"/>
              </a:rPr>
              <a:t>,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 spc="-10">
                <a:latin typeface="Verdana"/>
                <a:cs typeface="Verdana"/>
              </a:rPr>
              <a:t>,</a:t>
            </a:r>
            <a:r>
              <a:rPr sz="1050" spc="-1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12700" marR="3198495" indent="93345">
              <a:lnSpc>
                <a:spcPct val="202400"/>
              </a:lnSpc>
            </a:pPr>
            <a:r>
              <a:rPr sz="1050" spc="-10">
                <a:latin typeface="Verdana"/>
                <a:cs typeface="Verdana"/>
              </a:rPr>
              <a:t>add(b); b.addActionListener(</a:t>
            </a:r>
            <a:r>
              <a:rPr sz="1050" b="1" spc="-1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spc="-1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1334649"/>
            <a:ext cx="3698875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actionPerformed(ActionEvent</a:t>
            </a:r>
            <a:r>
              <a:rPr sz="1250" spc="20">
                <a:latin typeface="Verdana"/>
                <a:cs typeface="Verdana"/>
              </a:rPr>
              <a:t> </a:t>
            </a:r>
            <a:r>
              <a:rPr sz="1250" spc="-25">
                <a:latin typeface="Verdana"/>
                <a:cs typeface="Verdana"/>
              </a:rPr>
              <a:t>e){</a:t>
            </a:r>
            <a:endParaRPr sz="1250">
              <a:latin typeface="Verdana"/>
              <a:cs typeface="Verdana"/>
            </a:endParaRPr>
          </a:p>
          <a:p>
            <a:pPr marL="12700" marR="412750" indent="111125">
              <a:lnSpc>
                <a:spcPct val="200000"/>
              </a:lnSpc>
            </a:pPr>
            <a:r>
              <a:rPr sz="1250">
                <a:latin typeface="Verdana"/>
                <a:cs typeface="Verdana"/>
              </a:rPr>
              <a:t>AppletContext</a:t>
            </a:r>
            <a:r>
              <a:rPr sz="1250" spc="-65"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ctx=getAppletContext(); </a:t>
            </a:r>
            <a:r>
              <a:rPr sz="1250">
                <a:latin typeface="Verdana"/>
                <a:cs typeface="Verdana"/>
              </a:rPr>
              <a:t>Applet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a=ctx.getApplet(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"app2"</a:t>
            </a:r>
            <a:r>
              <a:rPr sz="1250" spc="-10">
                <a:latin typeface="Verdana"/>
                <a:cs typeface="Verdana"/>
              </a:rPr>
              <a:t>); a.setBackground(Color.yellow);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4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&lt;html&gt;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/>
              <a:t>&lt;body&gt;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/>
              <a:t>&lt;applet</a:t>
            </a:r>
            <a:r>
              <a:rPr spc="-35"/>
              <a:t> </a:t>
            </a:r>
            <a:r>
              <a:rPr spc="-10"/>
              <a:t>code=</a:t>
            </a:r>
            <a:r>
              <a:rPr spc="-10">
                <a:solidFill>
                  <a:srgbClr val="0000FF"/>
                </a:solidFill>
              </a:rPr>
              <a:t>"ContextApplet.class" </a:t>
            </a:r>
            <a:r>
              <a:rPr/>
              <a:t>width=</a:t>
            </a:r>
            <a:r>
              <a:rPr>
                <a:solidFill>
                  <a:srgbClr val="0000FF"/>
                </a:solidFill>
              </a:rPr>
              <a:t>"150"</a:t>
            </a:r>
            <a:r>
              <a:rPr spc="-25">
                <a:solidFill>
                  <a:srgbClr val="0000FF"/>
                </a:solidFill>
              </a:rPr>
              <a:t> </a:t>
            </a:r>
            <a:r>
              <a:rPr/>
              <a:t>height=</a:t>
            </a:r>
            <a:r>
              <a:rPr>
                <a:solidFill>
                  <a:srgbClr val="0000FF"/>
                </a:solidFill>
              </a:rPr>
              <a:t>"150"</a:t>
            </a:r>
            <a:r>
              <a:rPr spc="-30">
                <a:solidFill>
                  <a:srgbClr val="0000FF"/>
                </a:solidFill>
              </a:rPr>
              <a:t> </a:t>
            </a:r>
            <a:r>
              <a:rPr spc="-10"/>
              <a:t>name=</a:t>
            </a:r>
            <a:r>
              <a:rPr spc="-10">
                <a:solidFill>
                  <a:srgbClr val="0000FF"/>
                </a:solidFill>
              </a:rPr>
              <a:t>"app1"</a:t>
            </a:r>
            <a:r>
              <a:rPr spc="-10"/>
              <a:t>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/>
              <a:t>&lt;/applet&gt;</a:t>
            </a:r>
          </a:p>
          <a:p>
            <a:pPr marL="123825">
              <a:lnSpc>
                <a:spcPct val="100000"/>
              </a:lnSpc>
              <a:spcBef>
                <a:spcPts val="1500"/>
              </a:spcBef>
            </a:pPr>
            <a:r>
              <a:rPr/>
              <a:t>&lt;applet</a:t>
            </a:r>
            <a:r>
              <a:rPr spc="-45"/>
              <a:t> </a:t>
            </a:r>
            <a:r>
              <a:rPr spc="-10"/>
              <a:t>code=</a:t>
            </a:r>
            <a:r>
              <a:rPr spc="-10">
                <a:solidFill>
                  <a:srgbClr val="0000FF"/>
                </a:solidFill>
              </a:rPr>
              <a:t>"First.class"</a:t>
            </a:r>
            <a:r>
              <a:rPr spc="-30">
                <a:solidFill>
                  <a:srgbClr val="0000FF"/>
                </a:solidFill>
              </a:rPr>
              <a:t> </a:t>
            </a:r>
            <a:r>
              <a:rPr/>
              <a:t>width=</a:t>
            </a:r>
            <a:r>
              <a:rPr>
                <a:solidFill>
                  <a:srgbClr val="0000FF"/>
                </a:solidFill>
              </a:rPr>
              <a:t>"150"</a:t>
            </a:r>
            <a:r>
              <a:rPr spc="-35">
                <a:solidFill>
                  <a:srgbClr val="0000FF"/>
                </a:solidFill>
              </a:rPr>
              <a:t> </a:t>
            </a:r>
            <a:r>
              <a:rPr/>
              <a:t>height=</a:t>
            </a:r>
            <a:r>
              <a:rPr>
                <a:solidFill>
                  <a:srgbClr val="0000FF"/>
                </a:solidFill>
              </a:rPr>
              <a:t>"150"</a:t>
            </a:r>
            <a:r>
              <a:rPr spc="-40">
                <a:solidFill>
                  <a:srgbClr val="0000FF"/>
                </a:solidFill>
              </a:rPr>
              <a:t> </a:t>
            </a:r>
            <a:r>
              <a:rPr spc="-10"/>
              <a:t>name=</a:t>
            </a:r>
            <a:r>
              <a:rPr spc="-10">
                <a:solidFill>
                  <a:srgbClr val="0000FF"/>
                </a:solidFill>
              </a:rPr>
              <a:t>"app2"</a:t>
            </a:r>
            <a:r>
              <a:rPr spc="-10"/>
              <a:t>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/>
              <a:t>&lt;/applet&gt;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/>
              <a:t>&lt;/body&gt;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/>
              <a:t>&lt;/html&gt;</a:t>
            </a: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>
                <a:latin typeface="Arial"/>
                <a:cs typeface="Arial"/>
              </a:rPr>
              <a:t>Java</a:t>
            </a:r>
            <a:r>
              <a:rPr sz="2300" b="1" spc="-20">
                <a:latin typeface="Arial"/>
                <a:cs typeface="Arial"/>
              </a:rPr>
              <a:t> </a:t>
            </a:r>
            <a:r>
              <a:rPr sz="2300" b="1" spc="-10">
                <a:latin typeface="Arial"/>
                <a:cs typeface="Arial"/>
              </a:rPr>
              <a:t>Swing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5787"/>
            <a:ext cx="8070850" cy="297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Java</a:t>
            </a:r>
            <a:r>
              <a:rPr sz="1400" b="1" spc="-2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Swing</a:t>
            </a:r>
            <a:r>
              <a:rPr sz="1400" b="1" spc="-2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tutorial</a:t>
            </a:r>
            <a:r>
              <a:rPr sz="1400" b="1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is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part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of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Java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Foundation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Classes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(JFC)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that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is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used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to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create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window-</a:t>
            </a:r>
            <a:r>
              <a:rPr sz="1400">
                <a:latin typeface="Times New Roman"/>
                <a:cs typeface="Times New Roman"/>
              </a:rPr>
              <a:t>based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 marL="12700" marR="1524000">
              <a:lnSpc>
                <a:spcPct val="209800"/>
              </a:lnSpc>
            </a:pPr>
            <a:r>
              <a:rPr sz="1400">
                <a:latin typeface="Times New Roman"/>
                <a:cs typeface="Times New Roman"/>
              </a:rPr>
              <a:t>It</a:t>
            </a:r>
            <a:r>
              <a:rPr sz="1400" spc="-1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is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built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on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the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top of</a:t>
            </a:r>
            <a:r>
              <a:rPr sz="1400" spc="-85">
                <a:latin typeface="Times New Roman"/>
                <a:cs typeface="Times New Roman"/>
              </a:rPr>
              <a:t> </a:t>
            </a:r>
            <a:r>
              <a:rPr sz="1400" spc="-45">
                <a:latin typeface="Times New Roman"/>
                <a:cs typeface="Times New Roman"/>
              </a:rPr>
              <a:t>AWT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(Abstract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Windowing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 spc="-20">
                <a:latin typeface="Times New Roman"/>
                <a:cs typeface="Times New Roman"/>
              </a:rPr>
              <a:t>Toolkit)</a:t>
            </a:r>
            <a:r>
              <a:rPr sz="1400" spc="-8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API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and entirely written in</a:t>
            </a:r>
            <a:r>
              <a:rPr sz="1400" spc="-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java. </a:t>
            </a:r>
            <a:r>
              <a:rPr sz="1400">
                <a:latin typeface="Times New Roman"/>
                <a:cs typeface="Times New Roman"/>
              </a:rPr>
              <a:t>Java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Swing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provides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platform-</a:t>
            </a:r>
            <a:r>
              <a:rPr sz="1400">
                <a:latin typeface="Times New Roman"/>
                <a:cs typeface="Times New Roman"/>
              </a:rPr>
              <a:t>independent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and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lightweight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components.</a:t>
            </a:r>
            <a:endParaRPr sz="1400">
              <a:latin typeface="Times New Roman"/>
              <a:cs typeface="Times New Roman"/>
            </a:endParaRPr>
          </a:p>
          <a:p>
            <a:pPr marL="279400" marR="5647690" indent="-266700">
              <a:lnSpc>
                <a:spcPct val="209800"/>
              </a:lnSpc>
            </a:pPr>
            <a:r>
              <a:rPr sz="1400">
                <a:latin typeface="Times New Roman"/>
                <a:cs typeface="Times New Roman"/>
              </a:rPr>
              <a:t>Swing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is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more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flexible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and</a:t>
            </a:r>
            <a:r>
              <a:rPr sz="1400" spc="-1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robust </a:t>
            </a:r>
            <a:r>
              <a:rPr sz="1400">
                <a:latin typeface="Times New Roman"/>
                <a:cs typeface="Times New Roman"/>
              </a:rPr>
              <a:t>Some</a:t>
            </a:r>
            <a:r>
              <a:rPr sz="1400" spc="-4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of</a:t>
            </a:r>
            <a:r>
              <a:rPr sz="1400" spc="-3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the</a:t>
            </a:r>
            <a:r>
              <a:rPr sz="1400" spc="-4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basic</a:t>
            </a:r>
            <a:r>
              <a:rPr sz="1400" spc="-3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classes</a:t>
            </a:r>
            <a:r>
              <a:rPr sz="1400" spc="-40">
                <a:latin typeface="Times New Roman"/>
                <a:cs typeface="Times New Roman"/>
              </a:rPr>
              <a:t> </a:t>
            </a:r>
            <a:r>
              <a:rPr sz="1400" spc="-25">
                <a:latin typeface="Times New Roman"/>
                <a:cs typeface="Times New Roman"/>
              </a:rPr>
              <a:t>are</a:t>
            </a:r>
            <a:endParaRPr sz="1400">
              <a:latin typeface="Times New Roman"/>
              <a:cs typeface="Times New Roman"/>
            </a:endParaRPr>
          </a:p>
          <a:p>
            <a:pPr marL="927100" marR="6582409">
              <a:lnSpc>
                <a:spcPct val="116100"/>
              </a:lnSpc>
              <a:spcBef>
                <a:spcPts val="1575"/>
              </a:spcBef>
            </a:pPr>
            <a:r>
              <a:rPr sz="1400" spc="-10">
                <a:latin typeface="Times New Roman"/>
                <a:cs typeface="Times New Roman"/>
              </a:rPr>
              <a:t>JApplet JFame JButton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281124" y="768425"/>
            <a:ext cx="6341175" cy="4289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4725" y="329455"/>
            <a:ext cx="3143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610B37"/>
                </a:solidFill>
                <a:latin typeface="Times New Roman"/>
                <a:cs typeface="Times New Roman"/>
              </a:rPr>
              <a:t>Hierarchy</a:t>
            </a:r>
            <a:r>
              <a:rPr sz="1800" b="1" spc="-35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610B37"/>
                </a:solidFill>
                <a:latin typeface="Times New Roman"/>
                <a:cs typeface="Times New Roman"/>
              </a:rPr>
              <a:t>of</a:t>
            </a:r>
            <a:r>
              <a:rPr sz="1800" b="1" spc="-3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610B37"/>
                </a:solidFill>
                <a:latin typeface="Times New Roman"/>
                <a:cs typeface="Times New Roman"/>
              </a:rPr>
              <a:t>Java</a:t>
            </a:r>
            <a:r>
              <a:rPr sz="1800" b="1" spc="-35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610B37"/>
                </a:solidFill>
                <a:latin typeface="Times New Roman"/>
                <a:cs typeface="Times New Roman"/>
              </a:rPr>
              <a:t>Swing</a:t>
            </a:r>
            <a:r>
              <a:rPr sz="1800" b="1" spc="-3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 spc="-10">
                <a:solidFill>
                  <a:srgbClr val="610B37"/>
                </a:solidFill>
                <a:latin typeface="Times New Roman"/>
                <a:cs typeface="Times New Roman"/>
              </a:rPr>
              <a:t>classes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0645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>
                <a:solidFill>
                  <a:srgbClr val="2A3890"/>
                </a:solidFill>
                <a:latin typeface="Roboto"/>
                <a:cs typeface="Roboto"/>
              </a:rPr>
              <a:t>Features</a:t>
            </a:r>
            <a:r>
              <a:rPr sz="3000" spc="-4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>
                <a:solidFill>
                  <a:srgbClr val="2A3890"/>
                </a:solidFill>
                <a:latin typeface="Roboto"/>
                <a:cs typeface="Roboto"/>
              </a:rPr>
              <a:t>of</a:t>
            </a:r>
            <a:r>
              <a:rPr sz="3000" spc="-35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>
                <a:solidFill>
                  <a:srgbClr val="2A3890"/>
                </a:solidFill>
                <a:latin typeface="Roboto"/>
                <a:cs typeface="Roboto"/>
              </a:rPr>
              <a:t>Swing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53750"/>
            <a:ext cx="473646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/>
              </a:tabLst>
            </a:pPr>
            <a:r>
              <a:rPr sz="1800" spc="-20">
                <a:solidFill>
                  <a:srgbClr val="434343"/>
                </a:solidFill>
                <a:latin typeface="Roboto"/>
                <a:cs typeface="Roboto"/>
              </a:rPr>
              <a:t>Swing</a:t>
            </a:r>
            <a:r>
              <a:rPr sz="1800" spc="-6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components</a:t>
            </a:r>
            <a:r>
              <a:rPr sz="1800" spc="-6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6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Lightweight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/>
              </a:tabLst>
            </a:pP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Having</a:t>
            </a:r>
            <a:r>
              <a:rPr sz="1800" spc="-5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5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number</a:t>
            </a:r>
            <a:r>
              <a:rPr sz="1800" spc="-5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5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built</a:t>
            </a:r>
            <a:r>
              <a:rPr sz="1800" spc="-5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5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controls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/>
              </a:tabLst>
            </a:pP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We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1800" spc="-4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look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800" spc="-4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feel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4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>
                <a:solidFill>
                  <a:srgbClr val="434343"/>
                </a:solidFill>
                <a:latin typeface="Roboto"/>
                <a:cs typeface="Roboto"/>
              </a:rPr>
              <a:t>GUI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/>
              </a:tabLst>
            </a:pPr>
            <a:r>
              <a:rPr sz="1800" spc="-20">
                <a:solidFill>
                  <a:srgbClr val="434343"/>
                </a:solidFill>
                <a:latin typeface="Roboto"/>
                <a:cs typeface="Roboto"/>
              </a:rPr>
              <a:t>Swing</a:t>
            </a:r>
            <a:r>
              <a:rPr sz="1800" spc="-6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6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>
                <a:solidFill>
                  <a:srgbClr val="434343"/>
                </a:solidFill>
                <a:latin typeface="Roboto"/>
                <a:cs typeface="Roboto"/>
              </a:rPr>
              <a:t>not</a:t>
            </a:r>
            <a:r>
              <a:rPr sz="1800" spc="-6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>
                <a:solidFill>
                  <a:srgbClr val="434343"/>
                </a:solidFill>
                <a:latin typeface="Roboto"/>
                <a:cs typeface="Roboto"/>
              </a:rPr>
              <a:t>thread</a:t>
            </a:r>
            <a:r>
              <a:rPr sz="1800" spc="-65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>
                <a:solidFill>
                  <a:srgbClr val="434343"/>
                </a:solidFill>
                <a:latin typeface="Roboto"/>
                <a:cs typeface="Roboto"/>
              </a:rPr>
              <a:t>safe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476675"/>
            <a:ext cx="78187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b="1">
                <a:latin typeface="Verdana"/>
                <a:cs typeface="Verdana"/>
              </a:rPr>
              <a:t>A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simple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swing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example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where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we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are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creating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one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button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and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adding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it</a:t>
            </a:r>
            <a:r>
              <a:rPr sz="1250" b="1" spc="-3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on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the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 spc="-10">
                <a:latin typeface="Verdana"/>
                <a:cs typeface="Verdana"/>
              </a:rPr>
              <a:t>JFrame </a:t>
            </a:r>
            <a:r>
              <a:rPr sz="1250" b="1">
                <a:latin typeface="Verdana"/>
                <a:cs typeface="Verdana"/>
              </a:rPr>
              <a:t>object</a:t>
            </a:r>
            <a:r>
              <a:rPr sz="1250" b="1" spc="-4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inside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the</a:t>
            </a:r>
            <a:r>
              <a:rPr sz="1250" b="1" spc="-40">
                <a:latin typeface="Verdana"/>
                <a:cs typeface="Verdana"/>
              </a:rPr>
              <a:t> </a:t>
            </a:r>
            <a:r>
              <a:rPr sz="1250" b="1">
                <a:latin typeface="Verdana"/>
                <a:cs typeface="Verdana"/>
              </a:rPr>
              <a:t>main()</a:t>
            </a:r>
            <a:r>
              <a:rPr sz="1250" b="1" spc="-35">
                <a:latin typeface="Verdana"/>
                <a:cs typeface="Verdana"/>
              </a:rPr>
              <a:t> </a:t>
            </a:r>
            <a:r>
              <a:rPr sz="1250" b="1" spc="-10">
                <a:latin typeface="Verdana"/>
                <a:cs typeface="Verdana"/>
              </a:rPr>
              <a:t>method.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124" y="980912"/>
            <a:ext cx="838962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import</a:t>
            </a:r>
            <a:r>
              <a:rPr sz="1400" b="1" spc="-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0000"/>
                </a:solidFill>
                <a:latin typeface="Times New Roman"/>
                <a:cs typeface="Times New Roman"/>
              </a:rPr>
              <a:t>javax.swing.*;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f.setSize(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400</a:t>
            </a: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500</a:t>
            </a:r>
            <a:r>
              <a:rPr sz="1400" b="1">
                <a:solidFill>
                  <a:srgbClr val="000000"/>
                </a:solidFill>
                <a:latin typeface="Times New Roman"/>
                <a:cs typeface="Times New Roman"/>
              </a:rPr>
              <a:t>);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//400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width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and</a:t>
            </a:r>
            <a:r>
              <a:rPr sz="1400" b="1" spc="-2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500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height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124" y="1400012"/>
            <a:ext cx="8380095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4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400" b="1" spc="-4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FirstSwingExample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>
                <a:latin typeface="Times New Roman"/>
                <a:cs typeface="Times New Roman"/>
              </a:rPr>
              <a:t>f.setLayout(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null</a:t>
            </a:r>
            <a:r>
              <a:rPr sz="1400" b="1">
                <a:latin typeface="Times New Roman"/>
                <a:cs typeface="Times New Roman"/>
              </a:rPr>
              <a:t>);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//using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no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layout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 managers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35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10">
                <a:latin typeface="Times New Roman"/>
                <a:cs typeface="Times New Roman"/>
              </a:rPr>
              <a:t>f.setVisible(</a:t>
            </a:r>
            <a:r>
              <a:rPr sz="1400" b="1" spc="-10">
                <a:solidFill>
                  <a:srgbClr val="006699"/>
                </a:solidFill>
                <a:latin typeface="Times New Roman"/>
                <a:cs typeface="Times New Roman"/>
              </a:rPr>
              <a:t>true</a:t>
            </a:r>
            <a:r>
              <a:rPr sz="1400" b="1" spc="-10">
                <a:latin typeface="Times New Roman"/>
                <a:cs typeface="Times New Roman"/>
              </a:rPr>
              <a:t>);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//making</a:t>
            </a:r>
            <a:r>
              <a:rPr sz="1400" b="1" spc="3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the</a:t>
            </a:r>
            <a:r>
              <a:rPr sz="1400" b="1" spc="3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frame</a:t>
            </a:r>
            <a:r>
              <a:rPr sz="1400" b="1" spc="3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visible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35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400" b="1" spc="-1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400" b="1" spc="-2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main(String[]</a:t>
            </a:r>
            <a:r>
              <a:rPr sz="1400" b="1" spc="-15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args)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40"/>
              </a:spcBef>
            </a:pPr>
            <a:r>
              <a:rPr sz="1400" b="1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400" b="1">
                <a:latin typeface="Times New Roman"/>
                <a:cs typeface="Times New Roman"/>
              </a:rPr>
              <a:t>JFrame</a:t>
            </a:r>
            <a:r>
              <a:rPr sz="1400" b="1" spc="-40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f=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4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JFrame();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//creating</a:t>
            </a:r>
            <a:r>
              <a:rPr sz="1400" b="1" spc="-3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instance</a:t>
            </a:r>
            <a:r>
              <a:rPr sz="1400" b="1" spc="-4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of</a:t>
            </a:r>
            <a:r>
              <a:rPr sz="1400" b="1" spc="-3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JFrame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124" y="3495512"/>
            <a:ext cx="4807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JButton</a:t>
            </a:r>
            <a:r>
              <a:rPr sz="1400" b="1" spc="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b=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JButton(</a:t>
            </a:r>
            <a:r>
              <a:rPr sz="1400" b="1" spc="-10">
                <a:solidFill>
                  <a:srgbClr val="0000FF"/>
                </a:solidFill>
                <a:latin typeface="Times New Roman"/>
                <a:cs typeface="Times New Roman"/>
              </a:rPr>
              <a:t>"click"</a:t>
            </a:r>
            <a:r>
              <a:rPr sz="1400" b="1" spc="-10">
                <a:latin typeface="Times New Roman"/>
                <a:cs typeface="Times New Roman"/>
              </a:rPr>
              <a:t>);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//creating</a:t>
            </a:r>
            <a:r>
              <a:rPr sz="1400" b="1" spc="1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instance</a:t>
            </a:r>
            <a:r>
              <a:rPr sz="1400" b="1" spc="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of</a:t>
            </a:r>
            <a:r>
              <a:rPr sz="1400" b="1" spc="1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JButton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124" y="3914612"/>
            <a:ext cx="4415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b.setBounds(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130</a:t>
            </a:r>
            <a:r>
              <a:rPr sz="1400" b="1">
                <a:latin typeface="Times New Roman"/>
                <a:cs typeface="Times New Roman"/>
              </a:rPr>
              <a:t>,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100</a:t>
            </a:r>
            <a:r>
              <a:rPr sz="1400" b="1">
                <a:latin typeface="Times New Roman"/>
                <a:cs typeface="Times New Roman"/>
              </a:rPr>
              <a:t>,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100</a:t>
            </a:r>
            <a:r>
              <a:rPr sz="1400" b="1">
                <a:latin typeface="Times New Roman"/>
                <a:cs typeface="Times New Roman"/>
              </a:rPr>
              <a:t>,</a:t>
            </a:r>
            <a:r>
              <a:rPr sz="1400" b="1" spc="-25"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C00000"/>
                </a:solidFill>
                <a:latin typeface="Times New Roman"/>
                <a:cs typeface="Times New Roman"/>
              </a:rPr>
              <a:t>40</a:t>
            </a:r>
            <a:r>
              <a:rPr sz="1400" b="1">
                <a:latin typeface="Times New Roman"/>
                <a:cs typeface="Times New Roman"/>
              </a:rPr>
              <a:t>);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//x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axis,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y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axis,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width,</a:t>
            </a:r>
            <a:r>
              <a:rPr sz="1400" b="1" spc="-2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height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124" y="4333712"/>
            <a:ext cx="26917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f.add(b);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//adding</a:t>
            </a:r>
            <a:r>
              <a:rPr sz="1400" b="1" spc="-2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button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8200"/>
                </a:solidFill>
                <a:latin typeface="Times New Roman"/>
                <a:cs typeface="Times New Roman"/>
              </a:rPr>
              <a:t>in</a:t>
            </a:r>
            <a:r>
              <a:rPr sz="1400" b="1" spc="-15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008200"/>
                </a:solidFill>
                <a:latin typeface="Times New Roman"/>
                <a:cs typeface="Times New Roman"/>
              </a:rPr>
              <a:t>JFrame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4125" y="3671187"/>
            <a:ext cx="2432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javac</a:t>
            </a:r>
            <a:r>
              <a:rPr sz="1400" b="1" spc="275">
                <a:latin typeface="Times New Roman"/>
                <a:cs typeface="Times New Roman"/>
              </a:rPr>
              <a:t> </a:t>
            </a:r>
            <a:r>
              <a:rPr sz="1400" b="1">
                <a:latin typeface="Times New Roman"/>
                <a:cs typeface="Times New Roman"/>
              </a:rPr>
              <a:t>FirstSwingExample</a:t>
            </a:r>
            <a:r>
              <a:rPr sz="1400" b="1" spc="-35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.java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4125" y="4090287"/>
            <a:ext cx="19392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Times New Roman"/>
                <a:cs typeface="Times New Roman"/>
              </a:rPr>
              <a:t>java</a:t>
            </a:r>
            <a:r>
              <a:rPr sz="1400" b="1" spc="350">
                <a:latin typeface="Times New Roman"/>
                <a:cs typeface="Times New Roman"/>
              </a:rPr>
              <a:t> </a:t>
            </a:r>
            <a:r>
              <a:rPr sz="1400" b="1" spc="-10">
                <a:latin typeface="Times New Roman"/>
                <a:cs typeface="Times New Roman"/>
              </a:rPr>
              <a:t>FirstSwingExample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971800" y="657225"/>
            <a:ext cx="3200399" cy="381952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 spc="-10"/>
              <a:t>JRadioButton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115" y="1392435"/>
            <a:ext cx="6273165" cy="12509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425"/>
              </a:spcBef>
              <a:buFont typeface="Arial MT"/>
              <a:buChar char="●"/>
              <a:tabLst>
                <a:tab pos="375285"/>
              </a:tabLst>
            </a:pPr>
            <a:r>
              <a:rPr sz="1750">
                <a:latin typeface="Times New Roman"/>
                <a:cs typeface="Times New Roman"/>
              </a:rPr>
              <a:t>The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JRadioButton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class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is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used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to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create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a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radio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 spc="-10">
                <a:latin typeface="Times New Roman"/>
                <a:cs typeface="Times New Roman"/>
              </a:rPr>
              <a:t>button.</a:t>
            </a:r>
            <a:endParaRPr sz="1750">
              <a:latin typeface="Times New Roman"/>
              <a:cs typeface="Times New Roman"/>
            </a:endParaRPr>
          </a:p>
          <a:p>
            <a:pPr marL="430530" indent="-4178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30530"/>
              </a:tabLst>
            </a:pPr>
            <a:r>
              <a:rPr sz="1750">
                <a:latin typeface="Times New Roman"/>
                <a:cs typeface="Times New Roman"/>
              </a:rPr>
              <a:t>It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is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used</a:t>
            </a:r>
            <a:r>
              <a:rPr sz="1750" spc="-3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to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choose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one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option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from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multiple</a:t>
            </a:r>
            <a:r>
              <a:rPr sz="1750" spc="-35">
                <a:latin typeface="Times New Roman"/>
                <a:cs typeface="Times New Roman"/>
              </a:rPr>
              <a:t> </a:t>
            </a:r>
            <a:r>
              <a:rPr sz="1750" spc="-10">
                <a:latin typeface="Times New Roman"/>
                <a:cs typeface="Times New Roman"/>
              </a:rPr>
              <a:t>options.</a:t>
            </a:r>
            <a:endParaRPr sz="17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75285"/>
              </a:tabLst>
            </a:pPr>
            <a:r>
              <a:rPr sz="1750">
                <a:latin typeface="Times New Roman"/>
                <a:cs typeface="Times New Roman"/>
              </a:rPr>
              <a:t>It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is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widely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used</a:t>
            </a:r>
            <a:r>
              <a:rPr sz="1750" spc="-1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in</a:t>
            </a:r>
            <a:r>
              <a:rPr sz="1750" spc="-1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exam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systems</a:t>
            </a:r>
            <a:r>
              <a:rPr sz="1750" spc="-1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or</a:t>
            </a:r>
            <a:r>
              <a:rPr sz="1750" spc="-10">
                <a:latin typeface="Times New Roman"/>
                <a:cs typeface="Times New Roman"/>
              </a:rPr>
              <a:t> quiz.</a:t>
            </a:r>
            <a:endParaRPr sz="17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75285"/>
              </a:tabLst>
            </a:pPr>
            <a:r>
              <a:rPr sz="1750">
                <a:latin typeface="Times New Roman"/>
                <a:cs typeface="Times New Roman"/>
              </a:rPr>
              <a:t>It</a:t>
            </a:r>
            <a:r>
              <a:rPr sz="1750" spc="-3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should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be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added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in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ButtonGroup</a:t>
            </a:r>
            <a:r>
              <a:rPr sz="1750" spc="-2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to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select</a:t>
            </a:r>
            <a:r>
              <a:rPr sz="1750" spc="-30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one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radio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>
                <a:latin typeface="Times New Roman"/>
                <a:cs typeface="Times New Roman"/>
              </a:rPr>
              <a:t>button</a:t>
            </a:r>
            <a:r>
              <a:rPr sz="1750" spc="-25">
                <a:latin typeface="Times New Roman"/>
                <a:cs typeface="Times New Roman"/>
              </a:rPr>
              <a:t> </a:t>
            </a:r>
            <a:r>
              <a:rPr sz="1750" spc="-10">
                <a:latin typeface="Times New Roman"/>
                <a:cs typeface="Times New Roman"/>
              </a:rPr>
              <a:t>only.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84725" y="439425"/>
            <a:ext cx="18516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50" b="1" spc="-6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javax.swing.*;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820425"/>
            <a:ext cx="29273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50" b="1" spc="-3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RadioButtonExample</a:t>
            </a:r>
            <a:r>
              <a:rPr sz="1250" spc="-45">
                <a:latin typeface="Verdana"/>
                <a:cs typeface="Verdana"/>
              </a:rPr>
              <a:t> </a:t>
            </a:r>
            <a:r>
              <a:rPr sz="1250" spc="-5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201425"/>
            <a:ext cx="7842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JFrame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 spc="-25">
                <a:latin typeface="Verdana"/>
                <a:cs typeface="Verdana"/>
              </a:rPr>
              <a:t>f;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82425"/>
            <a:ext cx="192468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RadioButtonExample(){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963425"/>
            <a:ext cx="14325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f=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JFrame();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2344425"/>
            <a:ext cx="386905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JRadioButton</a:t>
            </a:r>
            <a:r>
              <a:rPr sz="1250" spc="-6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r1=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4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JRadioButton(</a:t>
            </a:r>
            <a:r>
              <a:rPr sz="1250">
                <a:solidFill>
                  <a:srgbClr val="0000FF"/>
                </a:solidFill>
                <a:latin typeface="Verdana"/>
                <a:cs typeface="Verdana"/>
              </a:rPr>
              <a:t>"A)</a:t>
            </a:r>
            <a:r>
              <a:rPr sz="1250" spc="-6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Male"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725425"/>
            <a:ext cx="4075429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JRadioButton</a:t>
            </a:r>
            <a:r>
              <a:rPr sz="1250" spc="-70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r2=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5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JRadioButton(</a:t>
            </a:r>
            <a:r>
              <a:rPr sz="1250">
                <a:solidFill>
                  <a:srgbClr val="0000FF"/>
                </a:solidFill>
                <a:latin typeface="Verdana"/>
                <a:cs typeface="Verdana"/>
              </a:rPr>
              <a:t>"B)</a:t>
            </a:r>
            <a:r>
              <a:rPr sz="1250" spc="-6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Female"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3106425"/>
            <a:ext cx="237617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r1.setBounds(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75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3487425"/>
            <a:ext cx="24771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r2.setBounds(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75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25" y="3868425"/>
            <a:ext cx="308927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ButtonGroup</a:t>
            </a:r>
            <a:r>
              <a:rPr sz="1250" spc="-4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bg=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2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ButtonGroup();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8475" y="779603"/>
            <a:ext cx="18929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bg.add(r1);bg.add(r2);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8475" y="1157882"/>
            <a:ext cx="160845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f.add(r1);f.add(r2);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8475" y="1536160"/>
            <a:ext cx="158750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f.setSize(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300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300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8475" y="1914438"/>
            <a:ext cx="1466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f.setLayout(</a:t>
            </a:r>
            <a:r>
              <a:rPr sz="1250" b="1" spc="-1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8475" y="2292717"/>
            <a:ext cx="14795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f.setVisible(</a:t>
            </a:r>
            <a:r>
              <a:rPr sz="1250" b="1" spc="-1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8475" y="2670995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8475" y="3049274"/>
            <a:ext cx="31629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main(String[]</a:t>
            </a:r>
            <a:r>
              <a:rPr sz="1250" spc="-50"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args)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78475" y="3427552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1578" y="3805830"/>
            <a:ext cx="232791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>
                <a:latin typeface="Verdana"/>
                <a:cs typeface="Verdana"/>
              </a:rPr>
              <a:t>RadioButtonExample();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8475" y="4184109"/>
            <a:ext cx="126364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00" spc="-5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2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823042" y="833649"/>
            <a:ext cx="3828857" cy="3476199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 spc="-10"/>
              <a:t>JComboBox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411" y="1230876"/>
            <a:ext cx="697230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60045"/>
              </a:tabLst>
            </a:pPr>
            <a:r>
              <a:rPr sz="1550">
                <a:latin typeface="Verdana"/>
                <a:cs typeface="Verdana"/>
              </a:rPr>
              <a:t>The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object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of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Choice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class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is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used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to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show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popup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menu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of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 spc="-10">
                <a:latin typeface="Verdana"/>
                <a:cs typeface="Verdana"/>
              </a:rPr>
              <a:t>choices.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●"/>
            </a:pPr>
            <a:endParaRPr sz="1550">
              <a:latin typeface="Verdana"/>
              <a:cs typeface="Verdana"/>
            </a:endParaRPr>
          </a:p>
          <a:p>
            <a:pPr marL="360045" indent="-347345">
              <a:lnSpc>
                <a:spcPct val="100000"/>
              </a:lnSpc>
              <a:buClr>
                <a:srgbClr val="434343"/>
              </a:buClr>
              <a:buFont typeface="Arial MT"/>
              <a:buChar char="●"/>
              <a:tabLst>
                <a:tab pos="360045"/>
              </a:tabLst>
            </a:pPr>
            <a:r>
              <a:rPr sz="1550">
                <a:latin typeface="Verdana"/>
                <a:cs typeface="Verdana"/>
              </a:rPr>
              <a:t>Choice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selected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by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user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is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shown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on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the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top</a:t>
            </a:r>
            <a:r>
              <a:rPr sz="1550" spc="-30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of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a</a:t>
            </a:r>
            <a:r>
              <a:rPr sz="1550" spc="-10">
                <a:latin typeface="Verdana"/>
                <a:cs typeface="Verdana"/>
              </a:rPr>
              <a:t> </a:t>
            </a:r>
            <a:r>
              <a:rPr sz="1550" spc="-1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menu</a:t>
            </a:r>
            <a:r>
              <a:rPr sz="1550" spc="-10">
                <a:latin typeface="Verdana"/>
                <a:cs typeface="Verdana"/>
              </a:rPr>
              <a:t>.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●"/>
            </a:pPr>
            <a:endParaRPr sz="1550">
              <a:latin typeface="Verdana"/>
              <a:cs typeface="Verdana"/>
            </a:endParaRPr>
          </a:p>
          <a:p>
            <a:pPr marL="360045" indent="-347345">
              <a:lnSpc>
                <a:spcPct val="100000"/>
              </a:lnSpc>
              <a:buClr>
                <a:srgbClr val="434343"/>
              </a:buClr>
              <a:buFont typeface="Arial MT"/>
              <a:buChar char="●"/>
              <a:tabLst>
                <a:tab pos="360045"/>
              </a:tabLst>
            </a:pPr>
            <a:r>
              <a:rPr sz="1550">
                <a:latin typeface="Verdana"/>
                <a:cs typeface="Verdana"/>
              </a:rPr>
              <a:t>It</a:t>
            </a:r>
            <a:r>
              <a:rPr sz="1550" spc="-35">
                <a:latin typeface="Verdana"/>
                <a:cs typeface="Verdana"/>
              </a:rPr>
              <a:t> </a:t>
            </a:r>
            <a:r>
              <a:rPr sz="1550">
                <a:latin typeface="Verdana"/>
                <a:cs typeface="Verdana"/>
              </a:rPr>
              <a:t>inherits</a:t>
            </a:r>
            <a:r>
              <a:rPr sz="1550" spc="-25">
                <a:latin typeface="Verdana"/>
                <a:cs typeface="Verdana"/>
              </a:rPr>
              <a:t> </a:t>
            </a:r>
            <a:r>
              <a:rPr sz="155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JComponent</a:t>
            </a:r>
            <a:r>
              <a:rPr sz="1550" spc="-35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50" spc="-10">
                <a:latin typeface="Verdana"/>
                <a:cs typeface="Verdana"/>
              </a:rPr>
              <a:t>class.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5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22750" y="194424"/>
            <a:ext cx="18516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50" b="1" spc="-65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javax.swing.*;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50" y="575424"/>
            <a:ext cx="28073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50" b="1" spc="-3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ComboBoxExample</a:t>
            </a:r>
            <a:r>
              <a:rPr sz="1250" spc="-40">
                <a:latin typeface="Verdana"/>
                <a:cs typeface="Verdana"/>
              </a:rPr>
              <a:t> </a:t>
            </a:r>
            <a:r>
              <a:rPr sz="1250" spc="-5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750" y="956424"/>
            <a:ext cx="7842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JFrame</a:t>
            </a:r>
            <a:r>
              <a:rPr sz="1250" spc="-30">
                <a:latin typeface="Verdana"/>
                <a:cs typeface="Verdana"/>
              </a:rPr>
              <a:t> </a:t>
            </a:r>
            <a:r>
              <a:rPr sz="1250" spc="-25">
                <a:latin typeface="Verdana"/>
                <a:cs typeface="Verdana"/>
              </a:rPr>
              <a:t>f;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750" y="1337424"/>
            <a:ext cx="180530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ComboBoxExample(){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635" y="1718424"/>
            <a:ext cx="316992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f=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>
                <a:latin typeface="Verdana"/>
                <a:cs typeface="Verdana"/>
              </a:rPr>
              <a:t>JFrame(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"ComboBox</a:t>
            </a:r>
            <a:r>
              <a:rPr sz="1250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Example"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750" y="2099425"/>
            <a:ext cx="48729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String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50" spc="-10">
                <a:latin typeface="Verdana"/>
                <a:cs typeface="Verdana"/>
              </a:rPr>
              <a:t>country[]={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"India"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"Aus"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"U.S.A"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"England"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0000FF"/>
                </a:solidFill>
                <a:latin typeface="Verdana"/>
                <a:cs typeface="Verdana"/>
              </a:rPr>
              <a:t>"Newzealand"</a:t>
            </a:r>
            <a:r>
              <a:rPr sz="1250" spc="-10">
                <a:latin typeface="Verdana"/>
                <a:cs typeface="Verdana"/>
              </a:rPr>
              <a:t>};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635" y="2823325"/>
            <a:ext cx="3498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JComboBox</a:t>
            </a:r>
            <a:r>
              <a:rPr sz="1250" spc="-25"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cb=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1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JComboBox(country);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35" y="3204325"/>
            <a:ext cx="234442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>
                <a:latin typeface="Verdana"/>
                <a:cs typeface="Verdana"/>
              </a:rPr>
              <a:t>cb.setBounds(</a:t>
            </a:r>
            <a:r>
              <a:rPr sz="125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>
                <a:latin typeface="Verdana"/>
                <a:cs typeface="Verdana"/>
              </a:rPr>
              <a:t>,</a:t>
            </a:r>
            <a:r>
              <a:rPr sz="1250" spc="-95"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90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20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635" y="3585325"/>
            <a:ext cx="8299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f.add(cb);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4335" y="593678"/>
            <a:ext cx="1466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f.setLayout(</a:t>
            </a:r>
            <a:r>
              <a:rPr sz="1250" b="1" spc="-1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4335" y="971956"/>
            <a:ext cx="15881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f.setSize(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400</a:t>
            </a:r>
            <a:r>
              <a:rPr sz="1250" spc="-10">
                <a:latin typeface="Verdana"/>
                <a:cs typeface="Verdana"/>
              </a:rPr>
              <a:t>,</a:t>
            </a:r>
            <a:r>
              <a:rPr sz="1250" spc="-1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34335" y="1350235"/>
            <a:ext cx="148018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>
                <a:latin typeface="Verdana"/>
                <a:cs typeface="Verdana"/>
              </a:rPr>
              <a:t>f.setVisible(</a:t>
            </a:r>
            <a:r>
              <a:rPr sz="1250" b="1" spc="-1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250" spc="-1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1449" y="1728513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1449" y="2106792"/>
            <a:ext cx="3162935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-4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>
                <a:latin typeface="Verdana"/>
                <a:cs typeface="Verdana"/>
              </a:rPr>
              <a:t>main(String[]</a:t>
            </a:r>
            <a:r>
              <a:rPr sz="1250" spc="-50">
                <a:latin typeface="Verdana"/>
                <a:cs typeface="Verdana"/>
              </a:rPr>
              <a:t> </a:t>
            </a:r>
            <a:r>
              <a:rPr sz="1250" spc="-10">
                <a:latin typeface="Verdana"/>
                <a:cs typeface="Verdana"/>
              </a:rPr>
              <a:t>args)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50" spc="-5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4552" y="2825249"/>
            <a:ext cx="220853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>
                <a:latin typeface="Verdana"/>
                <a:cs typeface="Verdana"/>
              </a:rPr>
              <a:t>ComboBoxExample();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1449" y="3203527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1449" y="3581806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6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406500" y="402302"/>
            <a:ext cx="4050774" cy="3666625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6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22649"/>
            <a:ext cx="15005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Java</a:t>
            </a:r>
            <a:r>
              <a:rPr spc="-70"/>
              <a:t> </a:t>
            </a:r>
            <a:r>
              <a:rPr spc="-30"/>
              <a:t>JTable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127" y="1295534"/>
            <a:ext cx="55219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52425"/>
              </a:tabLst>
            </a:pPr>
            <a:r>
              <a:rPr sz="1450">
                <a:latin typeface="Verdana"/>
                <a:cs typeface="Verdana"/>
              </a:rPr>
              <a:t>The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JTable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class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is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used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to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display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data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in</a:t>
            </a:r>
            <a:r>
              <a:rPr sz="1450" spc="-25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tabular</a:t>
            </a:r>
            <a:r>
              <a:rPr sz="1450" spc="-3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form.</a:t>
            </a:r>
            <a:endParaRPr sz="1450">
              <a:latin typeface="Verdana"/>
              <a:cs typeface="Verdana"/>
            </a:endParaRPr>
          </a:p>
          <a:p>
            <a:pPr marL="352425" indent="-339725">
              <a:lnSpc>
                <a:spcPct val="100000"/>
              </a:lnSpc>
              <a:spcBef>
                <a:spcPts val="1710"/>
              </a:spcBef>
              <a:buFont typeface="Arial MT"/>
              <a:buChar char="●"/>
              <a:tabLst>
                <a:tab pos="352425"/>
              </a:tabLst>
            </a:pPr>
            <a:r>
              <a:rPr sz="1450">
                <a:latin typeface="Verdana"/>
                <a:cs typeface="Verdana"/>
              </a:rPr>
              <a:t>It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is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composed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of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rows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and</a:t>
            </a:r>
            <a:r>
              <a:rPr sz="1450" spc="-2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columns.</a:t>
            </a:r>
            <a:endParaRPr sz="1450">
              <a:latin typeface="Verdana"/>
              <a:cs typeface="Verdana"/>
            </a:endParaRPr>
          </a:p>
          <a:p>
            <a:pPr marL="352425" indent="-339725">
              <a:lnSpc>
                <a:spcPct val="100000"/>
              </a:lnSpc>
              <a:spcBef>
                <a:spcPts val="1710"/>
              </a:spcBef>
              <a:buFont typeface="Arial MT"/>
              <a:buChar char="●"/>
              <a:tabLst>
                <a:tab pos="352425"/>
              </a:tabLst>
            </a:pPr>
            <a:r>
              <a:rPr sz="1450">
                <a:latin typeface="Verdana"/>
                <a:cs typeface="Verdana"/>
              </a:rPr>
              <a:t>Let's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see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the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declaration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for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>
                <a:latin typeface="Verdana"/>
                <a:cs typeface="Verdana"/>
              </a:rPr>
              <a:t>javax.swing.JTable</a:t>
            </a:r>
            <a:r>
              <a:rPr sz="1450" spc="-40">
                <a:latin typeface="Verdana"/>
                <a:cs typeface="Verdana"/>
              </a:rPr>
              <a:t> </a:t>
            </a:r>
            <a:r>
              <a:rPr sz="1450" spc="-10">
                <a:latin typeface="Verdana"/>
                <a:cs typeface="Verdana"/>
              </a:rPr>
              <a:t>class.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4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6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347550" y="268013"/>
            <a:ext cx="16281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import</a:t>
            </a:r>
            <a:r>
              <a:rPr sz="1400" b="1" spc="-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javax.swing.*;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550" y="687113"/>
            <a:ext cx="2093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400" b="1" spc="-5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latin typeface="Times New Roman"/>
                <a:cs typeface="Times New Roman"/>
              </a:rPr>
              <a:t>TableExample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350" y="1106213"/>
            <a:ext cx="701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Times New Roman"/>
                <a:cs typeface="Times New Roman"/>
              </a:rPr>
              <a:t>JFrame</a:t>
            </a:r>
            <a:r>
              <a:rPr sz="1400" spc="-75">
                <a:latin typeface="Times New Roman"/>
                <a:cs typeface="Times New Roman"/>
              </a:rPr>
              <a:t> </a:t>
            </a:r>
            <a:r>
              <a:rPr sz="1400" spc="-25">
                <a:latin typeface="Times New Roman"/>
                <a:cs typeface="Times New Roman"/>
              </a:rPr>
              <a:t>f;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149" y="1525313"/>
            <a:ext cx="1251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TableExample(){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350" y="1944413"/>
            <a:ext cx="1225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Times New Roman"/>
                <a:cs typeface="Times New Roman"/>
              </a:rPr>
              <a:t>f=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5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JFrame();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350" y="2363513"/>
            <a:ext cx="31711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Times New Roman"/>
                <a:cs typeface="Times New Roman"/>
              </a:rPr>
              <a:t>String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data[][]={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{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"101"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"Amit"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"670000"</a:t>
            </a:r>
            <a:r>
              <a:rPr sz="1400" spc="-10">
                <a:latin typeface="Times New Roman"/>
                <a:cs typeface="Times New Roman"/>
              </a:rPr>
              <a:t>},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3250" y="2782612"/>
            <a:ext cx="17614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{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"102"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"Jai"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"780000"</a:t>
            </a:r>
            <a:r>
              <a:rPr sz="1400" spc="-10">
                <a:latin typeface="Times New Roman"/>
                <a:cs typeface="Times New Roman"/>
              </a:rPr>
              <a:t>},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3250" y="3201712"/>
            <a:ext cx="2137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{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"101"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"Sachin"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"700000"</a:t>
            </a:r>
            <a:r>
              <a:rPr sz="1400" spc="-10">
                <a:latin typeface="Times New Roman"/>
                <a:cs typeface="Times New Roman"/>
              </a:rPr>
              <a:t>}};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550" y="3620813"/>
            <a:ext cx="341185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Times New Roman"/>
                <a:cs typeface="Times New Roman"/>
              </a:rPr>
              <a:t>String</a:t>
            </a:r>
            <a:r>
              <a:rPr sz="1400" spc="-10">
                <a:latin typeface="Times New Roman"/>
                <a:cs typeface="Times New Roman"/>
              </a:rPr>
              <a:t> column[]={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"ID"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"NAME"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0000FF"/>
                </a:solidFill>
                <a:latin typeface="Times New Roman"/>
                <a:cs typeface="Times New Roman"/>
              </a:rPr>
              <a:t>"SALARY"</a:t>
            </a:r>
            <a:r>
              <a:rPr sz="1400" spc="-10">
                <a:latin typeface="Times New Roman"/>
                <a:cs typeface="Times New Roman"/>
              </a:rPr>
              <a:t>};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2425" y="140263"/>
            <a:ext cx="2581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>
                <a:latin typeface="Times New Roman"/>
                <a:cs typeface="Times New Roman"/>
              </a:rPr>
              <a:t>JTable</a:t>
            </a:r>
            <a:r>
              <a:rPr sz="1400" spc="-4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jt=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4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JTable(data,column);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6875" y="559362"/>
            <a:ext cx="2098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jt.setBounds(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30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40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200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300</a:t>
            </a:r>
            <a:r>
              <a:rPr sz="1400" spc="-1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16875" y="978462"/>
            <a:ext cx="2621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JScrollPane</a:t>
            </a:r>
            <a:r>
              <a:rPr sz="1400" spc="-4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sp=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3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JScrollPane(jt);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6875" y="1397562"/>
            <a:ext cx="7105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f.add(sp);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6875" y="1816662"/>
            <a:ext cx="1377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f.setSize(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300</a:t>
            </a:r>
            <a:r>
              <a:rPr sz="1400" spc="-10">
                <a:latin typeface="Times New Roman"/>
                <a:cs typeface="Times New Roman"/>
              </a:rPr>
              <a:t>,</a:t>
            </a:r>
            <a:r>
              <a:rPr sz="1400" spc="-10">
                <a:solidFill>
                  <a:srgbClr val="C00000"/>
                </a:solidFill>
                <a:latin typeface="Times New Roman"/>
                <a:cs typeface="Times New Roman"/>
              </a:rPr>
              <a:t>400</a:t>
            </a:r>
            <a:r>
              <a:rPr sz="1400" spc="-1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6875" y="2235762"/>
            <a:ext cx="1312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latin typeface="Times New Roman"/>
                <a:cs typeface="Times New Roman"/>
              </a:rPr>
              <a:t>f.setVisible(</a:t>
            </a:r>
            <a:r>
              <a:rPr sz="1400" b="1" spc="-10">
                <a:solidFill>
                  <a:srgbClr val="006699"/>
                </a:solidFill>
                <a:latin typeface="Times New Roman"/>
                <a:cs typeface="Times New Roman"/>
              </a:rPr>
              <a:t>true</a:t>
            </a:r>
            <a:r>
              <a:rPr sz="1400" spc="-1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9075" y="2654862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9075" y="3073962"/>
            <a:ext cx="2858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400" b="1" spc="-2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400" b="1" spc="-3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main(String[]</a:t>
            </a:r>
            <a:r>
              <a:rPr sz="1400" spc="-20">
                <a:latin typeface="Times New Roman"/>
                <a:cs typeface="Times New Roman"/>
              </a:rPr>
              <a:t> </a:t>
            </a:r>
            <a:r>
              <a:rPr sz="1400">
                <a:latin typeface="Times New Roman"/>
                <a:cs typeface="Times New Roman"/>
              </a:rPr>
              <a:t>args)</a:t>
            </a:r>
            <a:r>
              <a:rPr sz="1400" spc="-25">
                <a:latin typeface="Times New Roman"/>
                <a:cs typeface="Times New Roman"/>
              </a:rPr>
              <a:t> </a:t>
            </a:r>
            <a:r>
              <a:rPr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776" y="3493062"/>
            <a:ext cx="1562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65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TableExample();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9075" y="3912162"/>
            <a:ext cx="11112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6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020225" y="347355"/>
            <a:ext cx="3999575" cy="3486474"/>
          </a:xfrm>
          <a:prstGeom prst="rect">
            <a:avLst/>
          </a:prstGeom>
        </p:spPr>
      </p:pic>
      <p:sp>
        <p:nvSpPr>
          <p:cNvPr id="3" name="New shape" title=""/>
          <p:cNvSpPr/>
          <p:nvPr/>
        </p:nvSpPr>
        <p:spPr>
          <a:xfrm rot="18900000">
            <a:off x="3020434" y="2304814"/>
            <a:ext cx="3103132" cy="533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500" i="1">
                <a:solidFill>
                  <a:srgbClr val="E3DEDE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29"/>
  <p:tag name="AS_OS" val="Unix 5.4.0.204"/>
  <p:tag name="AS_RELEASE_DATE" val="2022.05.14"/>
  <p:tag name="AS_TITLE" val="Aspose.Slides for .NET Standard 2.0"/>
  <p:tag name="AS_VERSION" val="22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2258</Paragraphs>
  <Slides>263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263</vt:i4>
      </vt:variant>
    </vt:vector>
  </HeadingPairs>
  <TitlesOfParts>
    <vt:vector baseType="lpstr" size="270">
      <vt:lpstr>Arial</vt:lpstr>
      <vt:lpstr>Calibri</vt:lpstr>
      <vt:lpstr>Arial MT</vt:lpstr>
      <vt:lpstr>Verdana</vt:lpstr>
      <vt:lpstr>Roboto</vt:lpstr>
      <vt:lpstr>Times New Roman</vt:lpstr>
      <vt:lpstr>Office Theme</vt:lpstr>
      <vt:lpstr>Java Programming</vt:lpstr>
      <vt:lpstr>JVM (Java Virtual Machine) Architecture</vt:lpstr>
      <vt:lpstr>What it does</vt:lpstr>
      <vt:lpstr>PowerPoint Presentation</vt:lpstr>
      <vt:lpstr>1) Classloader</vt:lpstr>
      <vt:lpstr>PowerPoint Presentation</vt:lpstr>
      <vt:lpstr>PowerPoint Presentation</vt:lpstr>
      <vt:lpstr>Constructors in Java</vt:lpstr>
      <vt:lpstr>Rules for creating Java constructor</vt:lpstr>
      <vt:lpstr>PowerPoint Presentation</vt:lpstr>
      <vt:lpstr>Java Default Constructor</vt:lpstr>
      <vt:lpstr>public class Bike1</vt:lpstr>
      <vt:lpstr>Java Parameterized Constructor</vt:lpstr>
      <vt:lpstr>PowerPoint Presentation</vt:lpstr>
      <vt:lpstr>PowerPoint Presentation</vt:lpstr>
      <vt:lpstr>Constructor Overloading in Java</vt:lpstr>
      <vt:lpstr>PowerPoint Presentation</vt:lpstr>
      <vt:lpstr>Inheritance in Java</vt:lpstr>
      <vt:lpstr>Terms used in Inheritance</vt:lpstr>
      <vt:lpstr>Syntax :</vt:lpstr>
      <vt:lpstr>Types of inheritance in java</vt:lpstr>
      <vt:lpstr>PowerPoint Presentation</vt:lpstr>
      <vt:lpstr>Single Inheritance</vt:lpstr>
      <vt:lpstr>Multilevel Inheritance</vt:lpstr>
      <vt:lpstr>PowerPoint Presentation</vt:lpstr>
      <vt:lpstr>Method Overloading in Java</vt:lpstr>
      <vt:lpstr>class TestOverloading1</vt:lpstr>
      <vt:lpstr>PowerPoint Presentation</vt:lpstr>
      <vt:lpstr>Super Keyword</vt:lpstr>
      <vt:lpstr>1) super is used to refer immediate parent class instance variable.</vt:lpstr>
      <vt:lpstr>PowerPoint Presentation</vt:lpstr>
      <vt:lpstr>2) super can be used to invoke parent class method</vt:lpstr>
      <vt:lpstr>PowerPoint Presentation</vt:lpstr>
      <vt:lpstr>PowerPoint Presentation</vt:lpstr>
      <vt:lpstr>3) super is used to invoke parent class constructor.</vt:lpstr>
      <vt:lpstr>PowerPoint Presentation</vt:lpstr>
      <vt:lpstr>PowerPoint Presentation</vt:lpstr>
      <vt:lpstr>final Keyword In Java</vt:lpstr>
      <vt:lpstr>1) Java final variable</vt:lpstr>
      <vt:lpstr>2) Java final method</vt:lpstr>
      <vt:lpstr>3) Java final class</vt:lpstr>
      <vt:lpstr>this keyword in Java</vt:lpstr>
      <vt:lpstr>PowerPoint Presentation</vt:lpstr>
      <vt:lpstr>1) this: to refer current class instance variable</vt:lpstr>
      <vt:lpstr>PowerPoint Presentation</vt:lpstr>
      <vt:lpstr>PowerPoint Presentation</vt:lpstr>
      <vt:lpstr>2) this: to invoke current class method</vt:lpstr>
      <vt:lpstr>PowerPoint Presentation</vt:lpstr>
      <vt:lpstr>3) this() : to invoke current class constructor</vt:lpstr>
      <vt:lpstr>4) this: to pass as an argument in the method</vt:lpstr>
      <vt:lpstr>5) this: to pass as argument in the constructor call</vt:lpstr>
      <vt:lpstr>PowerPoint Presentation</vt:lpstr>
      <vt:lpstr>6) this keyword can be used to return current class instance</vt:lpstr>
      <vt:lpstr>class A</vt:lpstr>
      <vt:lpstr>Interface in Java</vt:lpstr>
      <vt:lpstr>Why use Java interface?</vt:lpstr>
      <vt:lpstr>PowerPoint Presentation</vt:lpstr>
      <vt:lpstr>How to declare an interface?</vt:lpstr>
      <vt:lpstr>Syntax:</vt:lpstr>
      <vt:lpstr>Example</vt:lpstr>
      <vt:lpstr>Example</vt:lpstr>
      <vt:lpstr>PowerPoint Presentation</vt:lpstr>
      <vt:lpstr>PowerPoint Presentation</vt:lpstr>
      <vt:lpstr>Example</vt:lpstr>
      <vt:lpstr>public void applyBrakes(int decrement)</vt:lpstr>
      <vt:lpstr>PowerPoint Presentation</vt:lpstr>
      <vt:lpstr>Multiple inheritance using Interface</vt:lpstr>
      <vt:lpstr>PowerPoint Presentation</vt:lpstr>
      <vt:lpstr>Abstract class in Java</vt:lpstr>
      <vt:lpstr>PowerPoint Presentation</vt:lpstr>
      <vt:lpstr>PowerPoint Presentation</vt:lpstr>
      <vt:lpstr>PowerPoint Presentation</vt:lpstr>
      <vt:lpstr>PowerPoint Presentation</vt:lpstr>
      <vt:lpstr>Difference between abstract class and interface</vt:lpstr>
      <vt:lpstr>PowerPoint Presentation</vt:lpstr>
      <vt:lpstr>Wrapper classes in Java</vt:lpstr>
      <vt:lpstr>Use of Wrapper classes in Java</vt:lpstr>
      <vt:lpstr>PowerPoint Presentation</vt:lpstr>
      <vt:lpstr>Autoboxing</vt:lpstr>
      <vt:lpstr>PowerPoint Presentation</vt:lpstr>
      <vt:lpstr>Unboxing</vt:lpstr>
      <vt:lpstr>PowerPoint Presentation</vt:lpstr>
      <vt:lpstr>Package in Java</vt:lpstr>
      <vt:lpstr>Advantage of Java Package</vt:lpstr>
      <vt:lpstr>PowerPoint Presentation</vt:lpstr>
      <vt:lpstr>Example of java package</vt:lpstr>
      <vt:lpstr>How to compile java package</vt:lpstr>
      <vt:lpstr>How to run java package program</vt:lpstr>
      <vt:lpstr>How to access package from another package?</vt:lpstr>
      <vt:lpstr>1) Using packagename.*</vt:lpstr>
      <vt:lpstr>PowerPoint Presentation</vt:lpstr>
      <vt:lpstr>2) Using packagename.classname</vt:lpstr>
      <vt:lpstr>PowerPoint Presentation</vt:lpstr>
      <vt:lpstr>3) Using fully qualified name</vt:lpstr>
      <vt:lpstr>Example of package by import fully qualified name</vt:lpstr>
      <vt:lpstr>PowerPoint Presentation</vt:lpstr>
      <vt:lpstr>Multithreading in Java</vt:lpstr>
      <vt:lpstr>Advantages of Java Multithreading</vt:lpstr>
      <vt:lpstr>Multitasking</vt:lpstr>
      <vt:lpstr>1) Process-based Multitasking (Multiprocessing)</vt:lpstr>
      <vt:lpstr>2) Thread-based Multitasking (Multithreading)</vt:lpstr>
      <vt:lpstr>What is Thread in java</vt:lpstr>
      <vt:lpstr>PowerPoint Presentation</vt:lpstr>
      <vt:lpstr>Java Thread class</vt:lpstr>
      <vt:lpstr>Life cycle of a Thread (Thread States)</vt:lpstr>
      <vt:lpstr>PowerPoint Presentation</vt:lpstr>
      <vt:lpstr>PowerPoint Presentation</vt:lpstr>
      <vt:lpstr>1) New</vt:lpstr>
      <vt:lpstr>4) Non-Runnable (Blocked)</vt:lpstr>
      <vt:lpstr>How to create thread</vt:lpstr>
      <vt:lpstr>Thread class</vt:lpstr>
      <vt:lpstr>Commonly used methods of Thread class</vt:lpstr>
      <vt:lpstr>Runnable interface:</vt:lpstr>
      <vt:lpstr>Starting a thread:</vt:lpstr>
      <vt:lpstr>Thread Example by extending Thread class</vt:lpstr>
      <vt:lpstr>Thread Example by implementing Runnable interface</vt:lpstr>
      <vt:lpstr>Sleep method in java</vt:lpstr>
      <vt:lpstr>PowerPoint Presentation</vt:lpstr>
      <vt:lpstr>PowerPoint Presentation</vt:lpstr>
      <vt:lpstr>Output :</vt:lpstr>
      <vt:lpstr>Naming Thread and Current Thread</vt:lpstr>
      <vt:lpstr>PowerPoint Presentation</vt:lpstr>
      <vt:lpstr>Output:</vt:lpstr>
      <vt:lpstr>Priority of a Thread (Thread Priority):</vt:lpstr>
      <vt:lpstr>PowerPoint Presentation</vt:lpstr>
      <vt:lpstr>Output:</vt:lpstr>
      <vt:lpstr>Daemon Thread in Java</vt:lpstr>
      <vt:lpstr>PowerPoint Presentation</vt:lpstr>
      <vt:lpstr>PowerPoint Presentation</vt:lpstr>
      <vt:lpstr>PowerPoint Presentation</vt:lpstr>
      <vt:lpstr>Output :</vt:lpstr>
      <vt:lpstr>Synchronization in Java</vt:lpstr>
      <vt:lpstr>Thread Synchronization</vt:lpstr>
      <vt:lpstr>Mutual Exclusive</vt:lpstr>
      <vt:lpstr>Deadlock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Inter-thread communication in Java</vt:lpstr>
      <vt:lpstr>1) wait() method</vt:lpstr>
      <vt:lpstr>2) notify() method</vt:lpstr>
      <vt:lpstr>3) notifyAll() method</vt:lpstr>
      <vt:lpstr>PowerPoint Presentation</vt:lpstr>
      <vt:lpstr>Java String</vt:lpstr>
      <vt:lpstr>What is String in java</vt:lpstr>
      <vt:lpstr>1) String Literal</vt:lpstr>
      <vt:lpstr>2) By new keyword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 compare by equals() method</vt:lpstr>
      <vt:lpstr>PowerPoint Presentation</vt:lpstr>
      <vt:lpstr>String compare by compareTo() method</vt:lpstr>
      <vt:lpstr>PowerPoint Presentation</vt:lpstr>
      <vt:lpstr>String Concatenation by concat() method</vt:lpstr>
      <vt:lpstr>Java String toLowerCase()</vt:lpstr>
      <vt:lpstr>PowerPoint Presentation</vt:lpstr>
      <vt:lpstr>trim() method</vt:lpstr>
      <vt:lpstr>startsWith()</vt:lpstr>
      <vt:lpstr>charAt() method</vt:lpstr>
      <vt:lpstr>length() method</vt:lpstr>
      <vt:lpstr>Java StringBuffer class</vt:lpstr>
      <vt:lpstr>Java StringBuilder class</vt:lpstr>
      <vt:lpstr>Difference between String and StringBuffer</vt:lpstr>
      <vt:lpstr>Difference between StringBuffer and StringBuilder</vt:lpstr>
      <vt:lpstr>Exception Handling in Java</vt:lpstr>
      <vt:lpstr>Difference between Checked and Unchecked Exceptions</vt:lpstr>
      <vt:lpstr>PowerPoint Presentation</vt:lpstr>
      <vt:lpstr>Java Exception Keywords</vt:lpstr>
      <vt:lpstr>throw</vt:lpstr>
      <vt:lpstr>Error vs Exception</vt:lpstr>
      <vt:lpstr>Exception Handling Example</vt:lpstr>
      <vt:lpstr>Common Scenarios of Java Exceptions</vt:lpstr>
      <vt:lpstr>2) A scenario where NullPointerException occurs</vt:lpstr>
      <vt:lpstr>PowerPoint Presentation</vt:lpstr>
      <vt:lpstr>PowerPoint Presentation</vt:lpstr>
      <vt:lpstr>Java try block</vt:lpstr>
      <vt:lpstr>PowerPoint Presentation</vt:lpstr>
      <vt:lpstr>Java catch block</vt:lpstr>
      <vt:lpstr>PowerPoint Presentation</vt:lpstr>
      <vt:lpstr>PowerPoint Presentation</vt:lpstr>
      <vt:lpstr>PowerPoint Presentation</vt:lpstr>
      <vt:lpstr>Java Nested try block</vt:lpstr>
      <vt:lpstr>PowerPoint Presentation</vt:lpstr>
      <vt:lpstr>PowerPoint Presentation</vt:lpstr>
      <vt:lpstr>Java finally block</vt:lpstr>
      <vt:lpstr>PowerPoint Presentation</vt:lpstr>
      <vt:lpstr>EXAMPLE</vt:lpstr>
      <vt:lpstr>Java throw keyword</vt:lpstr>
      <vt:lpstr>PowerPoint Presentation</vt:lpstr>
      <vt:lpstr>PowerPoint Presentation</vt:lpstr>
      <vt:lpstr>PowerPoint Presentation</vt:lpstr>
      <vt:lpstr>Java throws keyword</vt:lpstr>
      <vt:lpstr>EXAMPLE</vt:lpstr>
      <vt:lpstr>PowerPoint Presentation</vt:lpstr>
      <vt:lpstr>Difference between throw and throws</vt:lpstr>
      <vt:lpstr>Difference between final, finally and finalize</vt:lpstr>
      <vt:lpstr>Java final example</vt:lpstr>
      <vt:lpstr>Java finally example</vt:lpstr>
      <vt:lpstr>Java finalize example</vt:lpstr>
      <vt:lpstr>Java Applet</vt:lpstr>
      <vt:lpstr>Lifecycle of Java Applet</vt:lpstr>
      <vt:lpstr>PowerPoint Presentation</vt:lpstr>
      <vt:lpstr>Lifecycle methods for Applet:</vt:lpstr>
      <vt:lpstr>java.awt.Component class</vt:lpstr>
      <vt:lpstr>Simple example of Applet by html file:</vt:lpstr>
      <vt:lpstr>myapplet.html</vt:lpstr>
      <vt:lpstr>Simple example of Applet by appletviewer tool:</vt:lpstr>
      <vt:lpstr>PowerPoint Presentation</vt:lpstr>
      <vt:lpstr>PowerPoint Presentation</vt:lpstr>
      <vt:lpstr>PowerPoint Presentation</vt:lpstr>
      <vt:lpstr>PowerPoint Presentation</vt:lpstr>
      <vt:lpstr>Displaying Image in Applet</vt:lpstr>
      <vt:lpstr>PowerPoint Presentation</vt:lpstr>
      <vt:lpstr>Example of displaying image in applet:</vt:lpstr>
      <vt:lpstr>PowerPoint Presentation</vt:lpstr>
      <vt:lpstr>Animation in Applet</vt:lpstr>
      <vt:lpstr>PowerPoint Presentation</vt:lpstr>
      <vt:lpstr>myapplet.html</vt:lpstr>
      <vt:lpstr>Smiling Face</vt:lpstr>
      <vt:lpstr>PowerPoint Presentation</vt:lpstr>
      <vt:lpstr>import java.awt.*; import javax.swing.*;
public class rectangle extends JApplet {</vt:lpstr>
      <vt:lpstr>PowerPoint Presentation</vt:lpstr>
      <vt:lpstr>import java.applet.*;
import java.awt.*;</vt:lpstr>
      <vt:lpstr>PowerPoint Presentation</vt:lpstr>
      <vt:lpstr>PowerPoint Presentation</vt:lpstr>
      <vt:lpstr>public void init()</vt:lpstr>
      <vt:lpstr>PowerPoint Presentation</vt:lpstr>
      <vt:lpstr>Cartoon Character – Moving Hands</vt:lpstr>
      <vt:lpstr>PowerPoint Presentation</vt:lpstr>
      <vt:lpstr>PowerPoint Presentation</vt:lpstr>
      <vt:lpstr>Analog clock in Applet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myapplet.html</vt:lpstr>
      <vt:lpstr>Applet Communication</vt:lpstr>
      <vt:lpstr>Write a program to generate a Bouncing Ball on Click</vt:lpstr>
      <vt:lpstr>PowerPoint Presentation</vt:lpstr>
      <vt:lpstr>myapplet.html</vt:lpstr>
      <vt:lpstr>Java Swing</vt:lpstr>
      <vt:lpstr>PowerPoint Presentation</vt:lpstr>
      <vt:lpstr>Features of Swing</vt:lpstr>
      <vt:lpstr>import javax.swing.*;
f.setSize(400,500);//400 width and 500 height</vt:lpstr>
      <vt:lpstr>PowerPoint Presentation</vt:lpstr>
      <vt:lpstr>Java JRadioButton</vt:lpstr>
      <vt:lpstr>PowerPoint Presentation</vt:lpstr>
      <vt:lpstr>PowerPoint Presentation</vt:lpstr>
      <vt:lpstr>Java JComboBox</vt:lpstr>
      <vt:lpstr>PowerPoint Presentation</vt:lpstr>
      <vt:lpstr>PowerPoint Presentation</vt:lpstr>
      <vt:lpstr>Java JTable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22.0500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Super Keyword in Java</dc:title>
  <cp:lastModifiedBy>suvethamuki Thangaraj</cp:lastModifiedBy>
  <cp:revision>1</cp:revision>
  <dcterms:created xsi:type="dcterms:W3CDTF">2025-02-10T05:48:31Z</dcterms:created>
  <dcterms:modified xsi:type="dcterms:W3CDTF">2025-02-10T05:56:41Z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2025-02-10T00:00:00Z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2025-02-10T00:00:00Z</vt:filetime>
  </property>
</Properties>
</file>